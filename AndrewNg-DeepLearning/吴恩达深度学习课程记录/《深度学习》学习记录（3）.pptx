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4" r:id="rId22"/>
    <p:sldId id="275" r:id="rId23"/>
    <p:sldId id="276" r:id="rId24"/>
    <p:sldId id="273"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这一页是关于吴恩达老师《深度学习》专项课程中，第四门课“卷积神经网络”和第五门课“序列模型”的学习记录封面。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卷积神经网络（CNN）是深度学习在计算机视觉领域的核心基础，而序列模型（Sequence Models）则是处理自然语言处理、语音识别等时序数据的关键技术。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接下来的内容将围绕这两个核心模块的知识点、实战案例和个人理解展开。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各位同学，接下来我们进入课程的核心进阶部分。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 Course 4，我们将深入探讨卷积神经网络（CNN）。这是计算机视觉领域的灵魂，从最基础的卷积层、池化层原理，到经典的网络结构，再到实际的应用场景，大家将学会如何让机器“看懂”图像。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紧接着是 Course 5，我们将把目光转向序列数据。无论是语音、文本还是股票走势，都属于序列数据。我们将学习 RNN 及其改进版 LSTM 和 GRU，以及目前非常火热的注意力机制，这些都是处理自然语言处理和语音识别任务的关键技术。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这两门课程将为大家打下坚实的深度学习应用基础。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本章节我们将深入探讨卷积神经网络（Convolutional Neural Networks, CNN），这是一种专门用于处理具有网格状拓扑结构数据的深度学习模型，在计算机视觉领域取得了革命性的突破。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这一页我们来探讨为什么我们需要卷积神经网络（CNN）。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传统的全连接网络在处理图像数据时面临着巨大的挑战。以一张普通的64x64彩色图片为例，它的输入维度就已经超过了一万，这导致全连接层的参数数量会非常庞大，不仅计算成本高昂，而且很容易出现过拟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为了解决这些问题，CNN引入了三个核心机制，也就是我们在下方看到的：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首先是局部连接，它模拟了人类视觉的局部感知，减少了连接数量；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其次是参数共享，同一个卷积核在图像上滑动，大大降低了参数量；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最后是层次化特征提取，从简单的边缘纹理到复杂的物体结构，CNN能自动学习到这种层级的语义信息。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这一页我们深入了解卷积操作的核心计算过程。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的代码模拟了一个简单的3x3输入矩阵与一个2x2的边缘检测卷积核的运算过程。大家可以看到，卷积核就像一个滑动的窗口，每到一个位置，就会和对应区域的像素进行逐元素相乘，然后将所有结果相加，得到输出的一个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右侧列出了标准的四个计算步骤：从滑动窗口开始，到元素相乘，再到求和，最后遍历整个图像生成特征图。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底部的公式是卷积运算的数学表达，它清晰地定义了输出值与输入、权重以及偏置之间的关系。这是深度学习中提取图像特征的基础。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这一页我们来深入了解卷积层的核心参数。卷积层是卷积神经网络（CNN）的基石，它的参数直接决定了特征提取的效果。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首先是Filter（卷积核），它是一个小的权重矩阵，比如常见的3x3或5x5，它在输入图像上滑动，计算点积来提取特征。卷积核的大小决定了感受野，也就是它能看到的图像范围。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然后是Padding（填充），我们在图像边缘填充0，这样做的主要目的是保持输出特征图的尺寸与输入一致，避免边缘信息被过度压缩。</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Stride（步长）指的是卷积核每次滑动的像素数。步长为1时是逐像素移动，步长越大，输出特征图越小，计算也越快。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最后是卷积核的数量，它决定了输出的通道数，数量越多，意味着我们提取的特征越丰富，但同时也会增加模型的复杂度。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底部的公式展示了如何计算输出特征图的尺寸，这是设计网络结构时必须掌握的关键公式。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这一页我们来深入了解卷积神经网络中的一个重要概念：Padding（填充）。</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首先，我们来看一下为什么需要 Padding。如果不进行填充，每经过一次卷积操作，特征图的尺寸就会缩小。这不仅会导致特征图在网络深层迅速变小甚至消失，还会带来一个更严重的问题——边缘信息的丢失。因为在卷积过程中，图像边缘的像素被利用的次数远少于中心像素，这使得模型难以捕捉到图像边缘的关键细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Padding 的核心作用主要体现在三个方面：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第一，它能保持特征图的尺寸稳定，这是构建深层网络的基础，否则网络层数加深后特征图就没了；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第二，它能充分利用图像边缘的像素信息，让模型看到更完整的画面；</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第三，它维持了卷积前后的尺寸一致性，简化了整个网络的结构设计。</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最后，大家可以看底部的公式，这是实现“Same Convolution”（即输出尺寸与输入尺寸相同）的核心计算方式：填充量等于（卷积核大小减1）除以2。这个公式非常实用，比如当你使用3x3的卷积核时，只需要在四周填充1圈即可保持尺寸不变。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这一页我们来深入对比卷积神经网络中两种最常见的卷积模式：Valid Convolution 和 Same Convolution。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左边是 Valid Convolution，它不进行任何边界填充。这意味着卷积核只在输入特征图的有效区域内滑动，不会超出边界。它的特点是计算简单、速度快，但代价是输出的尺寸会比输入小，而且图像边缘的信息会被直接裁剪掉，这在某些场景下可能会丢失重要的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右边是 Same Convolution，这是我们在构建深层网络时更常用的方式。它通过在输入特征图的四周填充特定数量的0值像素，来确保输出的尺寸与输入完全相同。这种方式最大的优势在于能够完整地保留图像的边缘信息，并且避免特征图尺寸过快缩小，使得我们可以堆叠更多的卷积层来提取深层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这一页我们深入探讨多通道卷积的核心机制。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知道，我们日常看到的彩色图片，在计算机中是以RGB三个通道来存储的，也就是高度、宽度，再加上3个色彩通道。当我们对这样的图片进行卷积操作时，卷积核的通道数必须与输入的通道数保持一致，也就是3个通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运算过程是：卷积核的每一个通道，分别与输入图片的对应通道进行卷积，然后将这三个通道的计算结果，在相同的位置上进行相加，最终得到一个单通道的特征图。</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这里有一个非常关键的规律：输出特征图的通道数，完全取决于我们使用了多少个卷积核（Filter）。如果我们使用了8个卷积核，就会得到8个通道的输出。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右侧的代码展示了在实际编程中如何定义这样的卷积层，大家可以看到，filters参数设置为8，最终输出的通道数也就是8。同时，我们也给出了参数量的计算方式，这对于理解模型的复杂度非常重要。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这一页我们来深入了解池化层，也就是Pooling Layer。</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边，池化层的核心作用非常明确：它用来减小特征图的尺寸。这不仅能降低后续网络的计算量，还能防止过拟合。更重要的是，它赋予了模型一定的“平移不变性”，简单来说，就是物体在图片里稍微动一下，模型依然能认出它。池化层是没有可学习参数的，这一点和卷积层不同。</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右边展示了两种最常见的池化方式：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第一种是Max Pooling，也就是最大池化。它的规则是取区域内的最大值。大家看这个例子，在一个2x2的矩阵里，它取了最大的数字4。这种方式的好处是能很好地保留纹理和边缘这些显著特征。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第二种是Average Pooling，平均池化。它取的是区域内的平均值，例子中结果是2.5。这种方式更侧重于保留图像的整体背景信息，让特征更平滑。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这一页我们来深入了解卷积神经网络（CNN）的典型结构。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可以看到屏幕中间的流程图，它展示了CNN处理数据的基本顺序：从输入图像开始，经过卷积层（Conv）提取特征，激活函数（ReLU）引入非线性，池化层（Pool）进行降维和特征压缩。这个过程通常会重复多次，以逐步提取更复杂的特征。最后，通过全连接层（FC）将特征整合，并利用Softmax函数输出分类概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屏幕下方，我们将特征提取分为了三个层次：浅层负责捕捉边缘、颜色等基础信息；中层开始识别形状和纹理；而到了深层，网络就能理解更抽象的语义和整体结构了。这种分层的特征提取能力，正是CNN在图像识别任务中表现优异的关键原因。</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大家好，欢迎来到第一周的课程，我们今天主要探讨CNN的基础知识。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我们来看看左侧的学习重点。CNN的核心在于卷积运算，它模拟了人类视觉的局部感受野机制。我们会详细讲解Padding和Stride这两个关键参数，它们决定了输出特征图的尺寸。此外，池化层也是必不可少的，它主要用于降维和防止过拟合。最后，我们还会深入到前向传播和反向传播的数学细节中。</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大家看右侧的代码示例，这是一个典型的CNN结构定义。从输入层开始，经过卷积层和池化层的交替堆叠，最后通过全连接层输出结果。这种结构是处理图像分类、目标检测等任务的基础。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总的来说，理解CNN的核心在于理解它如何高效地提取图像的空间特征。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这一页展示了我们第一个卷积模型作业的核心任务。我们将不依赖高级框架，而是用基础的 NumPy 库来手动构建卷积神经网络的每一步。</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左侧列出了本次实验的目标和关键实现点，包括零填充、单步卷积、前向卷积传播以及池化层的实现。这些是理解深度学习底层计算的基础。</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右侧展示了一个典型的代码初始化片段，我们需要处理随机种子以确保结果的可复现性，并正确地初始化四维张量来代表输入数据和卷积核权重。这为后续的手动计算奠定了基础。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这一页我们来深入了解一下卷积神经网络中常用的“零填充”（Zero Padding）技术。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大家看左边的代码，这是一个标准的使用 NumPy 实现的零填充函数。我们定义了一个名为 zero_pad 的函数，它接收输入数据 X 和填充数量 pad。关键在于 np.pad 函数的第二个参数，我们指定了在高度和宽度维度上进行对称填充，而批次和通道维度保持原样。</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那么为什么要做零填充呢？主要有两个核心原因：</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第一，防止特征图尺寸缩小。如果不进行填充，每次卷积操作都会让图片变小，这样经过几层之后，特征图就会变得非常小，丢失空间信息。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第二，也是非常重要的一点，保护边缘信息。在没有填充的情况下，图片边缘的像素只被卷积核计算了一次，而中间的像素被计算了很多次，这导致边缘信息被弱化。零填充让边缘像素也能获得足够的卷积次数，从而保留更多的图像细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底部的例子展示了填充前后的尺寸变化：当 pad=1 时，一个 5x5 的输入经过填充后变成了 7x7，这样在经过 3x3 的卷积后，输出尺寸依然能保持 5x5，实现了尺寸的无损传递。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这一页我们深入到卷积操作的最微观层面，来看一下单步卷积的实现逻辑。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大家看左边的这段Python代码，它定义了一个名为conv_single_step的函数。这个函数接收三个参数：a_slice_prev是输入特征图的一个局部切片，也就是我们常说的感受野；W是卷积核的权重参数；b是偏置项。</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函数内部的计算非常直观：首先，我们将输入切片和卷积核进行逐元素的乘法运算；然后将所有相乘后的结果加总求和；接着加上偏置项b；最后返回这个计算结果Z。</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简单的过程，实际上就是卷积神经网络提取特征的基石。每一个输出特征图上的像素点，都是通过这样一个单步卷积计算出来的。理解了这一点，我们就能理解卷积是如何通过滑动窗口的方式，一步步构建出深层特征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这一页展示了卷积神经网络中前向传播的核心代码实现。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代码首先定义了函数conv_forward，接收上一层的激活值A_prev、卷积核W、偏置b以及超参数hparameters。</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接着，获取输入数据和卷积核的维度信息，计算出输出特征图的尺寸n_H和n_W。</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然后，初始化输出矩阵Z，并对输入进行零填充操作。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核心部分是四个嵌套的循环，分别遍历样本、高度、宽度和通道，提取感受野切片并进行卷积运算。</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最后，保存缓存以便反向传播使用，并返回计算结果Z和缓存。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这一页我们来深入了解池化层的前向传播过程。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大家看屏幕中间的两段代码，分别展示了最大池化（Max Pooling）和平均池化（Average Pooling）的核心逻辑。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左边的代码是最大池化，它的核心操作是 np.max，也就是从特征图的局部窗口中取出最大值。右边的代码是平均池化，它用 np.mean 来计算局部窗口的平均值。</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大家注意到了吗？这两个过程中，我们没有看到任何需要梯度下降来更新的权重参数。池化层的参数完全是人为设定的超参数，比如窗口大小 f 和步幅 stride。这使得池化层的计算非常轻量。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在实际应用中，我们最常用的就是 f=2，步幅也是 2 的配置。这样做有一个非常直观的效果：特征图的尺寸会直接减半，这不仅能减少后续网络的计算量，还能增加感受野，让网络看到更广阔的图像区域。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这一页我们进入实战环节，使用 TensorFlow 和 Keras 来构建一个简单的卷积神经网络。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大家可以看到，相比于我们之前用 NumPy 手动实现卷积和池化，使用 Keras 的 Sequential 接口可以极大地简化代码量。我们只需要像搭积木一样，依次堆叠网络层即可。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代码中展示了一个最基础的 CNN 结构：首先是 Conv2D 卷积层提取特征，接着使用 ReLU 激活函数引入非线性，然后通过 MaxPooling2D 层降低特征图的维度，防止过拟合并减少计算量。最后，通过 Flatten 层将多维特征展平为一维向量，送入全连接层 Dense 进行分类，这里使用 Sigmoid 作为输出层的激活函数，适合处理二分类问题。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本周我们来回顾卷积神经网络发展史上的几个里程碑式的经典模型。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首先是1998年的LeNet-5，它是CNN的开山鼻祖，由深度学习之父Yann LeCun提出，主要用于手写数字识别，证明了卷积神经网络在处理图像问题上的有效性。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到了2012年，AlexNet横空出世，它在ImageNet大赛上取得了惊人的成绩，它引入了ReLU激活函数来解决梯度消失问题，使用Dropout来防止过拟合，并且利用GPU进行加速训练，这标志着深度学习进入了爆发期。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2014年的VGGNet进一步加深了网络，它的特点是使用了大量的3x3小卷积核堆叠，结构非常规整，虽然参数量较大，但特征提取能力非常强。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最后是2015年的ResNet，也就是残差网络。它通过引入残差连接（Skip Connection），成功解决了深层网络训练中的退化问题，使得网络可以做到非常深，比如152层甚至更深，至今依然是很多视觉任务的基础架构。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这一页我们来深入了解LeNet-5，这是卷积神经网络的开山之作。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左侧我们看到，LeNet-5是由Yann LeCun在1998年提出的，它是专门为解决手写数字识别问题而设计的，这是深度学习领域的一个里程碑式的模型。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核心特点非常鲜明：首先，它使用了5x5的卷积核来提取特征，这在当时是非常经典的设计；其次，它采用了平均池化层来降低特征图的维度，减少计算量；最后，通过全连接层进行分类。虽然它的层数较浅，但却构建了现代CNN的基本框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右侧的流程图清晰地展示了LeNet-5的结构：从32x32的灰度图像输入开始，经过两次卷积和池化的交替操作，提取特征，最后通过全连接层和Softmax函数输出最终的分类结果。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这一页总结了我们在Assignment 1中的核心实验内容。左侧列出了我们具体完成的几个关键模块，从最基础的边界填充，到核心的单步卷积计算，再到完整的卷积层前向传播，以及两种主要的池化操作。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右侧则是我们通过这次实验获得的实质性收获。不仅仅是跑通了代码，更是从底层数学逻辑上理解了CNN的工作原理，这让我们跳出了单纯调用API的层面，真正掌握了卷积神经网络的核心机制。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大家好，今天我们来深入了解一下深度学习历史上的一个里程碑式模型——AlexNet。</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在2012年的ImageNet大规模视觉识别挑战赛中，AlexNet横空出世，它将图像分类的Top-5错误率从之前的26%大幅降低到了15.3%，这一显著的性能提升震惊了整个计算机视觉界，也标志着深度学习时代的正式开启。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AlexNet之所以能取得如此巨大的成功，主要归功于它的几个关键创新：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首先，它拥有更深的网络结构，达到了8层，这比当时主流的浅层网络要深得多，能够提取更复杂的图像特征。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其次，它使用了ReLU作为激活函数，这有效地解决了深层网络中常见的梯度消失问题，让网络更容易训练。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此外，它还引入了Dropout正则化技术，这对于防止大规模神经网络的过拟合起到了至关重要的作用。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最后，它利用双GPU进行并行训练，这在当时极大地提高了训练效率，使得训练如此庞大的网络成为可能。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右侧展示的是AlexNet核心架构的代码实现，可以看到其简洁而高效的卷积层堆叠结构。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总的来说，AlexNet不仅是一次技术的突破，更是深度学习在图像识别领域从理论走向大规模应用的转折点。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VGGNet是深度学习发展史上的一个里程碑式模型，由牛津大学的VGG小组在2014年提出。它的核心设计理念非常直观但有效：通过堆叠大量的3x3小卷积核来加深网络的深度。</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大家看左侧的介绍，这种设计的精妙之处在于，两个3x3的卷积层串联，其感受野相当于一个5x5的卷积层，但参数量却更少，同时还能引入更多的非线性变换，这使得模型的表达能力更强。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右侧的代码块展示了经典的VGG-16架构，它由5个卷积块和3个全连接层组成。虽然它的结构非常规整、优美，但也存在明显的缺点，就是参数量巨大，达到了1.38亿左右，这对当时的硬件资源提出了很大的挑战。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尽管如此，VGGNet证明了网络深度是提升模型性能的关键因素，为后来ResNet等更深层网络的出现奠定了坚实的基础。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这一页我们来深入了解ResNet的核心机制——残差网络。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公式，这是ResNet的数学表达。它的核心在于“捷径连接”，也就是图中绿色的那条线。在传统的卷积网络中，信号是逐层传递的，这在网络很深的时候容易导致梯度消失。而ResNet通过引入一个恒等映射的捷径，让输入信号x直接加到了卷积层的输出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这样做的好处是，网络不再需要学习完整的映射H(x)，而是只需要学习输入和输出之间的差值，也就是残差F(x) = H(x) - x。这大大简化了学习的难度，使得我们可以训练出非常深的网络，比如152层甚至更深的版本。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右侧的示意图展示了一个基本的残差块结构：输入经过两层卷积处理，同时通过捷径直接到达最后的ReLU激活层。这种设计是ResNet在图像分类任务中取得突破的关键。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这一页我们来探讨为什么需要 ResNet。</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 ResNet 出现之前，深度学习领域面临着一个巨大的挑战：随着网络层数的增加，模型的训练误差反而会上升，这就是所谓的“退化问题”。这并不是因为过拟合，而是因为梯度在反向传播的过程中消失或爆炸了，导致深层的参数无法得到有效的更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ResNet 提出了一个革命性的解决方案：残差学习。通过引入 Shortcut 捷径连接，我们为梯度回传提供了一条直接的通道，确保了深层网络的稳定性。这不仅解决了梯度消失的问题，还保证了网络性能至少不会因为层数的增加而变差。</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这个创新让我们能够训练出前所未有的超深网络，比如 152 层的 ResNet，并在 ILSVRC 2015 比赛中取得了历史性的突破，Top-5 错误率降到了 3.57%，甚至超过了人类的识别水平。</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这一页展示了 ResNet 中核心的恒等映射块（Identity Block）的实现代码。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Identity Block 是 ResNet 的基础组件，其特点是输入和输出的维度完全一致，因此可以直接将输入（Shortcut）与主路径的输出相加。这种设计有效地解决了深层网络中的梯度消失问题。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代码中分为三个主要的卷积层：</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1. 1x1 卷积层：用于降维，减少计算量。</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2. 3x3 卷积层：这是核心的特征提取层，保持特征图大小不变。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3. 1x1 卷积层：用于恢复通道数，实现升维。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最后，通过 Add 层将原始输入（Shortcut）与处理后的特征相加，再经过 ReLU 激活，形成了残差学习的机制。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本页展示了卷积块（Convolutional Block）的实现代码。这是ResNet架构中的核心组件，用于增加网络深度的同时解决梯度消失问题。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代码中定义了一个名为 convolutional_block 的函数，它接收输入张量 X、滤波器大小 f、滤波器数量 filters 以及步幅 s。</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该函数分为主路径（Main Path）和快捷路径（Shortcut Path）。主路径包含三个卷积层和批量归一化层，而快捷路径则通过1x1卷积来匹配主路径的维度，最后将两者相加并通过ReLU激活函数输出。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这一页我们来深入了解两个关键的卷积神经网络设计技巧。</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首先看左边的1×1卷积，它虽然核的尺寸很小，但作用巨大。它就像一个“瓶颈层”，能够在不改变特征图大小的情况下，灵活地增加或减少通道数量，从而大幅降低计算量，这对于构建深层网络至关重要。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是著名的Inception模块，它是GoogLeNet的核心。它的设计理念非常巧妙，通过并行使用不同大小的卷积核（从1×1到5×5）以及池化层，让网络能够同时捕捉不同尺度的特征。然后，将这些不同分支的结果拼接在一起，这样网络就能自主选择最有效的特征，大大提升了模型的表达能力和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本周我们深入探讨目标检测的核心基础。首先，目标检测不仅是分类，更是定位，需要网络同时输出类别概率和边界框坐标。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传统的滑动窗口检测虽然直观，但计算量巨大。我们介绍了一种更高效的方式——卷积滑动窗口，通过将全连接层转为卷积层，实现一次前向传播完成所有预测。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在右侧，大家可以看到三个至关重要的评价和优化机制：IoU是衡量检测准确度的金标准；NMS解决了重复检测的问题；而Anchor Boxes则是处理多尺度、多形状目标的关键技术，为后续更复杂的检测算法奠定了基础。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这一页我们深入了解 YOLO 算法的核心机制。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首先，YOLO 的核心思想在于“你只看一次”。它将图像划分为 SxS 的网格，每个网格负责预测中心点落在该网格内的目标。这种机制将目标检测转化为一个单一的回归问题，不需要像 Faster R-CNN 那样先生成候选框，因此速度极快。</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在输出层面，每个网格单元会输出一个固定维度的张量，包含了边界框的坐标、置信度以及类别概率。这种紧凑的输出结构使得整个网络可以进行端到端的训练。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右侧展示的是 YOLO 损失函数的核心组成，它巧妙地平衡了定位损失、置信度损失和分类损失，特别是通过 lambda 参数来平衡正负样本的不均衡问题，这是 YOLO 能够保持高精度的关键。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这一页我们深入探讨了深度学习中两个非常有趣且实用的应用：人脸识别与神经风格迁移。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左侧是人脸识别的核心机制。传统的分类模型需要大量标注数据，而人脸识别往往面临One-shot Learning的挑战。因此，我们采用了Siamese网络或Triplet Loss（三元组损失）的方法。它的核心思想不是直接分类，而是学习一个特征空间，让同一个人的脸在空间中靠得更近，不同人的脸离得更远。公式中的d(A,P)代表锚点与正例的距离，d(A,N)代表锚点与负例的距离，我们希望这个差值至少大于一个阈值α。</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神经风格迁移。这是一种将艺术风格应用于普通照片的技术。它的巧妙之处在于定义了两个损失函数：内容损失确保生成的图片保留了原图的主体结构，而风格损失则通过Gram矩阵来匹配艺术画作的纹理和色彩分布。通过梯度下降，我们不是在训练网络权重，而是直接在优化生成图像的像素值，从而创造出兼具内容与艺术风格的新图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本章节我们将深入探讨序列模型（Sequence Models），这是处理时间序列数据、自然语言处理等领域的核心技术。我们将从循环神经网络（RNN）的基础开始，逐步了解其变体如LSTM和GRU，并探讨它们在实际应用中的场景。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大家好，今天我们来探讨一个关键问题：为什么我们需要序列模型？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从数据本身的特点来看，现实世界中的很多数据，比如语音、文本、视频，都是以序列的形式存在的。它们的一个显著特征是输入和输出的长度不固定，而且数据之间存在强烈的依赖关系，也就是上下文关联。传统的深度神经网络，比如全连接网络或者卷积神经网络，在处理这种动态长度和时序依赖时显得力不从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这就引出了序列模型的核心应用场景，包括我们熟悉的语音识别、机器翻译、文本生成，甚至在音乐创作、生物基因分析等领域都有广泛应用。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从数学角度来看，序列模型的核心在于引入了循环机制。大家看右边的公式，它不再是一次性处理所有数据，而是通过时间步的迭代，利用隐藏状态来传递历史信息。这种机制让模型具备了“记忆”能力，能够捕捉到数据中的时序特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这就是为什么序列模型成为处理这类数据不可或缺的工具。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这一页我们来深入了解循环神经网络，也就是RNN的基本原理。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边的图示，RNN的核心在于它的“循环”结构。不同于传统的前馈神经网络，RNN在处理序列数据时，会将当前时刻的隐藏状态a^t作为输入，传递到下一个时间步。这就像网络拥有了“记忆”，能够记住之前的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边展示了它的前向传播公式。首先，隐藏状态的更新是基于上一时刻的状态和当前的输入，这一步通常使用tanh作为激活函数。然后，利用更新后的隐藏状态来计算当前时刻的输出。这种机制让RNN非常适合处理文本、语音等具有时间先后顺序的数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 RNN 在训练过程中面临的核心挑战：梯度消失与梯度爆炸问题。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首先看左侧的梯度消失，这是 RNN 最常见的问题。由于在反向传播时，梯度需要连乘多个时间步的权重，当权重矩阵的特征值小于 1 时，梯度会像滚雪球一样越变越小，导致深层的参数几乎无法更新。这就使得 RNN 很难记住序列中较早出现的信息，也就是我们常说的“长距离依赖问题”。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右侧是梯度爆炸，虽然不如消失常见，但破坏力更强。当权重过大时，梯度会指数级增长，导致参数更新幅度过大，模型参数变得极不稳定，甚至出现 NaN 错误导致训练崩溃。</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针对这些问题，我们有相应的解决手段，比如梯度裁剪可以直接限制梯度的大小，而 LSTM 和 GRU 则通过门控机制从根本上缓解了梯度消失的问题。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 LSTM 的核心机制。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左侧展示了 LSTM 解决长期依赖问题的关键——三个门控结构：遗忘门负责清理不需要的历史信息，更新门负责写入新的信息，而输出门则控制最终的信息输出。</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右侧的伪代码展示了 LSTM 前向传播的计算逻辑，其中最核心的是细胞状态（Cell State）的更新公式，它像一条传送带一样，让信息在序列中几乎无损耗地传递。</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GRU（Gated Recurrent Unit）是循环神经网络中的一种重要变体。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它的核心设计理念是简化 LSTM 的结构。LSTM 有三个门，而 GRU 只有两个门：更新门（Update Gate）和重置门（Reset Gate）。</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更新门决定了要保留多少过去的信息（遗忘门的功能）以及要添加多少新的信息（输入门的功能）。</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重置门则控制着如何将过去的信息与现在的输入相结合。</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这种简化使得 GRU 的参数更少，训练速度更快，同时在很多任务上能达到与 LSTM 相近的效果。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这一页我们来对比两种重要的 RNN 变体：双向 RNN 和深层 RNN。</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左侧是双向 RNN，它的核心思想是利用过去和未来的信息。想象一下，如果你要预测一句话中某个词的词性，不仅要看它前面的词，还要看后面的词，这样判断会更准确。公式中展示了如何将前向和后向的隐状态结合起来进行预测。但它的缺点是必须看到整个序列才能处理，所以不适合实时应用。</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右侧是深层 RNN，它通过堆叠多层网络来提取更抽象的特征。就像在图像处理中，越深的层越能识别复杂的物体一样，深层 RNN 能学习到更高级的时序特征。不过要注意，RNN 不能像 CNN 那样堆很多层，通常 2-3 层就足够了，否则会面临梯度消失的挑战。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这一页我们来深入了解Word Embeddings，也就是词嵌入技术。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知道，在计算机处理自然语言时，首先要解决的问题就是如何将文字转化为机器能理解的数字。我们经历了从One-hot编码到词嵌入的演进。One-hot虽然简单，但维度极高且是稀疏的，最重要的是它无法表达词与词之间的语义关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而词嵌入技术，将每个词映射成一个低维的、稠密的实数向量。最神奇的是，这些向量在空间中是有几何意义的。比如著名的“男人减女人约等于国王减王后”，这说明向量空间中编码了性别这样的抽象语义。</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右侧展示了一个典型的词嵌入层在代码中的实现，我们只需要定义词汇表的大小和想要的向量维度，就能构建一个嵌入层，它会自动学习最优的向量表示。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这一页我们来深入了解Word2Vec中的Skip-gram模型。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首先，Word2Vec是一种将词语转化为向量的技术，它的核心思想是“上下文相似的词，其向量也相似”。它主要包含两种模型：Skip-gram和CBOW。</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Skip-gram的特点是“已知中心词，预测上下文”。比如我们看到“deep”这个词，它能帮助我们预测出周围可能出现的词，比如“learning”或者“love”。这种模型特别适合处理低频词汇。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在训练过程中，为了提高效率，我们通常使用“负采样”技术。它不再计算整个词汇表的概率，而是只针对少量的正样本和负样本进行更新，这大大降低了计算成本。</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右侧的代码片段展示了它的基本逻辑：我们定义一个序列，选定中心词和窗口大小，然后构造出正样本对和负样本对，最终的目标是最大化正样本出现的概率。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 Sequence to Sequence（序列到序列）模型，通常简称为 Seq2Seq。</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大家看左侧，Seq2Seq 的核心在于它打破了传统模型输入输出长度必须一致的限制。它由两个关键部分组成：编码器（Encoder）和解码器（Decoder）。</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工作原理非常直观：首先，编码器像一个“理解者”，它逐字逐句地读取输入序列，比如一句中文，然后将这些信息压缩成一个包含全局语义的上下文向量（Context Vector）。接着，解码器像一个“表达者”，它基于这个上下文向量，逐个生成输出序列的元素，比如对应的英文翻译。</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这种架构的应用非常广泛，不仅用于机器翻译，还包括文本摘要生成、语音识别转文字等任务。右侧的图示直观地展示了这一过程：从输入端的词汇流，到中间的信息压缩，再到输出端的生成流，形成了一个完整的序列转换闭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这一页我们深入探讨大模型生成中常用的解码算法——集束搜索（Beam Search）。</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为什么我们不直接用简单的贪心搜索？因为贪心搜索每一步只看当下最好的词，这就像走迷宫只看眼前的路，很容易陷入局部最优，导致生成的句子上下文不通顺。而集束搜索，就像是派出了一支小分队（宽度为B）同时探索不同的路径，每一步都保留最有希望的B个候选，这样能极大提高找到全局最优解的概率。</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大家看右边的代码示例，这是算法的核心逻辑。其中有一个关键点是“长度归一化”，这是为了防止模型为了追求高概率而只生成很短的句子。通过除以长度的幂次，我们可以公平地比较不同长度的句子。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在实际应用中，我们通常将集束宽度B设置在3到10之间。B太小效果不好，太大则计算成本过高。这也是为什么我们说它是平衡了质量与效率的最佳选择。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这一页我们深入了解 Attention 注意力机制。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首先，为什么需要它？在传统的 Seq2Seq 模型中，编码器将整个输入序列压缩成一个固定长度的向量，这对于长文本来说，会导致信息丢失，也就是“信息瓶颈”问题。Attention 的出现解决了这个问题，它允许解码器在生成每个词的时候，去关注输入序列中最相关的部分。</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它的核心思想其实很简单：就是计算权重并进行加权求和。大家看右侧的代码，我们首先计算 Query 和 Key 的相似度得分，然后通过 Softmax 归一化得到权重 Alpha，最后用这个权重对 Value 进行加权求和，得到上下文向量。这个过程确保了模型能聚焦到最重要的信息上。</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现在，Attention 已经成为了所有现代大语言模型的基础。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这一页我们来深入了解 Transformer 的核心——自注意力机制。</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左侧我们看到，Transformer 是在 2017 年的一篇划时代论文中提出的。它最大的创新在于完全摒弃了传统的循环神经网络结构，转而使用自注意力机制。这不仅解决了长序列依赖问题，更重要的是，它允许模型进行高度并行的计算，这在处理大规模数据时至关重要。</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自注意力机制的核心在于，它能让序列中的每个元素都与其他所有元素直接建立联系，计算它们之间的相关性，从而捕捉全局的上下文信息。</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右侧的代码片段展示了它的数学核心：通过计算 Query、Key 和 Value 的点积来得到注意力分数，再经过 Softmax 归一化，最终加权求和得到输出。这种简洁而高效的计算方式，正是 Transformer 强大能力的来源。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这一页我们对Course 5的内容进行了系统的总结。</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RNN的基础部分，我们回顾了循环神经网络的前向传播机制，以及它在处理长序列时面临的梯度消失和爆炸问题。为了解决这些问题，我们引入了GRU和LSTM这两种更强大的门控循环单元，特别是LSTM的三门设计有效地解决了长期依赖问题。同时，我们也学习了双向RNN和深层RNN的结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在NLP与词嵌入方面，我们深入理解了Word Embeddings的概念，以及Word2Vec和GloVe等经典的词向量生成模型。这些技术为后续的自然语言处理任务打下了坚实的基础，如命名实体识别和情感分析。</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最后，我们进入了序列模型的进阶部分，包括Seq2Seq架构、Beam Search算法，以及至关重要的Attention机制和Transformer架构。这些技术不仅是现代NLP的基石，也广泛应用于语音识别、机器翻译等领域。</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通过本章的学习，我们不仅掌握了具体的模型和算法，更理解了序列模型从简单到复杂的演进逻辑。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C1C1E">
                <a:alpha val="100000"/>
              </a:srgbClr>
            </a:gs>
            <a:gs pos="100000">
              <a:srgbClr val="2C3E50">
                <a:alpha val="100000"/>
              </a:srgbClr>
            </a:gs>
          </a:gsLst>
          <a:lin ang="2700000"/>
        </a:gradFill>
        <a:effectLst/>
      </p:bgPr>
    </p:bg>
    <p:spTree>
      <p:nvGrpSpPr>
        <p:cNvPr id="1" name=""/>
        <p:cNvGrpSpPr/>
        <p:nvPr/>
      </p:nvGrpSpPr>
      <p:grpSpPr>
        <a:xfrm>
          <a:off x="0" y="0"/>
          <a:ext cx="0" cy="0"/>
          <a:chOff x="0" y="0"/>
          <a:chExt cx="0" cy="0"/>
        </a:xfrm>
      </p:grpSpPr>
      <p:sp>
        <p:nvSpPr>
          <p:cNvPr id="2" name="AutoShape 2"/>
          <p:cNvSpPr/>
          <p:nvPr/>
        </p:nvSpPr>
        <p:spPr>
          <a:xfrm>
            <a:off x="0" y="2540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吴恩达《深度学习》学习记录</a:t>
            </a:r>
            <a:endParaRPr lang="en-US" sz="1100"/>
          </a:p>
        </p:txBody>
      </p:sp>
      <p:sp>
        <p:nvSpPr>
          <p:cNvPr id="3" name="AutoShape 3"/>
          <p:cNvSpPr/>
          <p:nvPr/>
        </p:nvSpPr>
        <p:spPr>
          <a:xfrm>
            <a:off x="0" y="393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 4 &amp; Course 5</a:t>
            </a:r>
            <a:endParaRPr lang="en-US" sz="1100"/>
          </a:p>
        </p:txBody>
      </p:sp>
      <p:sp>
        <p:nvSpPr>
          <p:cNvPr id="4" name="AutoShape 4"/>
          <p:cNvSpPr/>
          <p:nvPr/>
        </p:nvSpPr>
        <p:spPr>
          <a:xfrm>
            <a:off x="0" y="5080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Convolutional Neural Networks · Sequence Models</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F3F4F6">
              <a:alpha val="60000"/>
            </a:srgbClr>
          </a:solidFill>
          <a:ln cap="flat" cmpd="sng">
            <a:solidFill>
              <a:srgbClr val="C4CCDD">
                <a:alpha val="6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3F4F6">
              <a:alpha val="60000"/>
            </a:srgbClr>
          </a:solidFill>
          <a:ln cap="flat" cmpd="sng">
            <a:solidFill>
              <a:srgbClr val="C4CCDD">
                <a:alpha val="6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762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课程概览</a:t>
            </a:r>
            <a:endParaRPr lang="en-US" sz="1100"/>
          </a:p>
        </p:txBody>
      </p:sp>
      <p:cxnSp>
        <p:nvCxnSpPr>
          <p:cNvPr id="5" name="Connector 5"/>
          <p:cNvCxnSpPr/>
          <p:nvPr/>
        </p:nvCxnSpPr>
        <p:spPr>
          <a:xfrm rot="5386777">
            <a:off x="4445000" y="3676662"/>
            <a:ext cx="3302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6" name="AutoShape 6"/>
          <p:cNvSpPr/>
          <p:nvPr/>
        </p:nvSpPr>
        <p:spPr>
          <a:xfrm>
            <a:off x="1016000" y="2032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 4</a:t>
            </a:r>
            <a:endParaRPr lang="en-US" sz="1100"/>
          </a:p>
        </p:txBody>
      </p:sp>
      <p:sp>
        <p:nvSpPr>
          <p:cNvPr id="7" name="AutoShape 7"/>
          <p:cNvSpPr/>
          <p:nvPr/>
        </p:nvSpPr>
        <p:spPr>
          <a:xfrm>
            <a:off x="1016000" y="285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Convolutional Neural Networks</a:t>
            </a:r>
            <a:endParaRPr lang="en-US" sz="1100"/>
          </a:p>
        </p:txBody>
      </p:sp>
      <p:sp>
        <p:nvSpPr>
          <p:cNvPr id="8" name="AutoShape 8"/>
          <p:cNvSpPr/>
          <p:nvPr/>
        </p:nvSpPr>
        <p:spPr>
          <a:xfrm>
            <a:off x="1016000" y="3619500"/>
            <a:ext cx="4826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深度学习在计算机视觉领域的核心基石，系统掌握卷积神经网络（CNN）的基本原理、层级结构与特征提取机制。深入解析经典网络架构如 LeNet、AlexNet、ResNet 等，探讨目标检测、图像分割与人脸识别的前沿算法。通过理论结合实战，掌握如何利用 CNN 解决图像分类、生成与理解等复杂视觉任务。</a:t>
            </a:r>
            <a:endParaRPr lang="en-US" sz="1100"/>
          </a:p>
        </p:txBody>
      </p:sp>
      <p:sp>
        <p:nvSpPr>
          <p:cNvPr id="9" name="AutoShape 9"/>
          <p:cNvSpPr/>
          <p:nvPr/>
        </p:nvSpPr>
        <p:spPr>
          <a:xfrm>
            <a:off x="6604000" y="2032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 5</a:t>
            </a:r>
            <a:endParaRPr lang="en-US" sz="1100"/>
          </a:p>
        </p:txBody>
      </p:sp>
      <p:sp>
        <p:nvSpPr>
          <p:cNvPr id="10" name="AutoShape 10"/>
          <p:cNvSpPr/>
          <p:nvPr/>
        </p:nvSpPr>
        <p:spPr>
          <a:xfrm>
            <a:off x="6604000" y="285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Sequence Models</a:t>
            </a:r>
            <a:endParaRPr lang="en-US" sz="1100"/>
          </a:p>
        </p:txBody>
      </p:sp>
      <p:sp>
        <p:nvSpPr>
          <p:cNvPr id="11" name="AutoShape 11"/>
          <p:cNvSpPr/>
          <p:nvPr/>
        </p:nvSpPr>
        <p:spPr>
          <a:xfrm>
            <a:off x="6604000" y="3619500"/>
            <a:ext cx="48260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针对时间序列与序列数据的深度建模专题，全面解析循环神经网络（RNN）及其变体 LSTM、GRU 的运作机制。重点学习词嵌入技术、注意力机制（Attention）与序列到序列（Seq2Seq）模型，探索其在机器翻译、语音识别、情感分析及自然语言生成等领域的应用，掌握处理时序依赖关系的关键技术与模型优化策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C1C1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2286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6A9955"/>
                </a:solidFill>
                <a:latin typeface="Consolas" panose="020B0609020204030204"/>
                <a:ea typeface="Consolas" panose="020B0609020204030204"/>
                <a:cs typeface="Consolas" panose="020B0609020204030204"/>
                <a:sym typeface="Consolas" panose="020B0609020204030204"/>
              </a:rPr>
              <a:t>COURSE 04</a:t>
            </a:r>
            <a:endParaRPr lang="en-US" sz="1100"/>
          </a:p>
        </p:txBody>
      </p:sp>
      <p:sp>
        <p:nvSpPr>
          <p:cNvPr id="3" name="AutoShape 3"/>
          <p:cNvSpPr/>
          <p:nvPr/>
        </p:nvSpPr>
        <p:spPr>
          <a:xfrm>
            <a:off x="0" y="3175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Convolutional Neural Networks</a:t>
            </a:r>
            <a:endParaRPr lang="en-US" sz="1100"/>
          </a:p>
        </p:txBody>
      </p:sp>
      <p:sp>
        <p:nvSpPr>
          <p:cNvPr id="4" name="AutoShape 4"/>
          <p:cNvSpPr/>
          <p:nvPr/>
        </p:nvSpPr>
        <p:spPr>
          <a:xfrm>
            <a:off x="0" y="4635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 CNN</a:t>
            </a:r>
            <a:endParaRPr lang="en-US" sz="1100"/>
          </a:p>
        </p:txBody>
      </p:sp>
      <p:sp>
        <p:nvSpPr>
          <p:cNvPr id="3" name="AutoShape 3"/>
          <p:cNvSpPr/>
          <p:nvPr/>
        </p:nvSpPr>
        <p:spPr>
          <a:xfrm>
            <a:off x="1016000" y="1651000"/>
            <a:ext cx="5080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全连接网络的问题</a:t>
            </a:r>
            <a:endParaRPr lang="en-US" sz="1100"/>
          </a:p>
          <a:p>
            <a:pPr marL="0" indent="0" algn="l">
              <a:lnSpc>
                <a:spcPct val="142000"/>
              </a:lnSpc>
              <a:spcBef>
                <a:spcPts val="1500"/>
              </a:spcBef>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假设输入图片为 64×64×3 的彩色图像，其输入维度高达 12,288。若直接使用全连接网络，每一层的参数数量会随着网络加深急剧膨胀，这不仅会带来巨大的计算成本，还极易导致模型过拟合，且无法有效捕捉图像的空间结构信息。</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6604000" y="1651000"/>
            <a:ext cx="4826000" cy="254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781800" y="18034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086600" y="18034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391400" y="18034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858000" y="2222500"/>
            <a:ext cx="4318000" cy="1841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D1D5DB"/>
                </a:solidFill>
                <a:latin typeface="Consolas" panose="020B0609020204030204"/>
                <a:ea typeface="Consolas" panose="020B0609020204030204"/>
                <a:cs typeface="Consolas" panose="020B0609020204030204"/>
                <a:sym typeface="Consolas" panose="020B0609020204030204"/>
              </a:rPr>
              <a:t>Input_Dim = 64 × 64 × 3 = 12,288</a:t>
            </a:r>
            <a:endParaRPr lang="en-US" sz="1100"/>
          </a:p>
          <a:p>
            <a:pPr marL="0" indent="0" algn="l">
              <a:lnSpc>
                <a:spcPct val="117000"/>
              </a:lnSpc>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全连接层参数量计算逻辑</a:t>
            </a:r>
            <a:endPar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500" b="0" i="0" u="none" strike="noStrike">
                <a:solidFill>
                  <a:srgbClr val="D1D5DB"/>
                </a:solidFill>
                <a:latin typeface="Consolas" panose="020B0609020204030204"/>
                <a:ea typeface="Consolas" panose="020B0609020204030204"/>
                <a:cs typeface="Consolas" panose="020B0609020204030204"/>
                <a:sym typeface="Consolas" panose="020B0609020204030204"/>
              </a:rPr>
              <a:t>Params = Input_Dim × Hidden_Size</a:t>
            </a:r>
            <a:endParaRPr lang="en-US" sz="1500" b="0" i="0" u="none" strike="noStrike">
              <a:solidFill>
                <a:srgbClr val="D1D5DB"/>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500" b="0" i="0" u="none" strike="noStrike">
                <a:solidFill>
                  <a:srgbClr val="569CD6"/>
                </a:solidFill>
                <a:latin typeface="Consolas" panose="020B0609020204030204"/>
                <a:ea typeface="Consolas" panose="020B0609020204030204"/>
                <a:cs typeface="Consolas" panose="020B0609020204030204"/>
                <a:sym typeface="Consolas" panose="020B0609020204030204"/>
              </a:rPr>
              <a:t>&gt;&gt; 参数量呈指数级增长，造成算力瓶颈</a:t>
            </a:r>
            <a:endParaRPr lang="en-US" sz="15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1016000" y="4699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局部连接机制</a:t>
            </a:r>
            <a:endParaRPr lang="en-US" sz="1100"/>
          </a:p>
          <a:p>
            <a:pPr marL="0" indent="0" algn="l">
              <a:lnSpc>
                <a:spcPct val="125000"/>
              </a:lnSpc>
              <a:spcBef>
                <a:spcPts val="800"/>
              </a:spcBef>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每个神经元仅连接输入图像的局部感受野，而非整个图像。这不仅大幅减少了模型参数，还符合人类视觉系统的局部感知特性。</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445000" y="4699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卷积核参数共享</a:t>
            </a:r>
            <a:endParaRPr lang="en-US" sz="1100"/>
          </a:p>
          <a:p>
            <a:pPr marL="0" indent="0" algn="l">
              <a:lnSpc>
                <a:spcPct val="125000"/>
              </a:lnSpc>
              <a:spcBef>
                <a:spcPts val="800"/>
              </a:spcBef>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同一个卷积核在图像的所有位置滑动并提取特征，共享同一套参数。这进一步压缩了参数量，并赋予模型平移不变性的能力。</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874000" y="4699000"/>
            <a:ext cx="3302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7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自动特征分层</a:t>
            </a:r>
            <a:endParaRPr lang="en-US" sz="1100"/>
          </a:p>
          <a:p>
            <a:pPr marL="0" indent="0" algn="l">
              <a:lnSpc>
                <a:spcPct val="125000"/>
              </a:lnSpc>
              <a:spcBef>
                <a:spcPts val="800"/>
              </a:spcBef>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网络浅层捕捉边缘、纹理等基础特征，深层则组合这些特征形成物体部件和抽象语义，有效还原了图像的内在结构层次。</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卷积操作 Convolution</a:t>
            </a:r>
            <a:endParaRPr lang="en-US" sz="1100"/>
          </a:p>
        </p:txBody>
      </p:sp>
      <p:sp>
        <p:nvSpPr>
          <p:cNvPr id="3" name="AutoShape 3"/>
          <p:cNvSpPr/>
          <p:nvPr/>
        </p:nvSpPr>
        <p:spPr>
          <a:xfrm>
            <a:off x="1016000" y="1651000"/>
            <a:ext cx="4826000" cy="355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18034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85900" y="18034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65300" y="18034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270000" y="2222500"/>
            <a:ext cx="4318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Input Matrix (3x3)</a:t>
            </a:r>
            <a:endParaRPr lang="en-US" sz="1100"/>
          </a:p>
          <a:p>
            <a:pPr marL="0" indent="0" algn="l">
              <a:lnSpc>
                <a:spcPct val="133000"/>
              </a:lnSpc>
            </a:pPr>
            <a:r>
              <a:rPr lang="en-US" sz="1500" b="0" i="0" u="none" strike="noStrike">
                <a:solidFill>
                  <a:srgbClr val="D4D4D4"/>
                </a:solidFill>
                <a:latin typeface="Consolas" panose="020B0609020204030204"/>
                <a:ea typeface="Consolas" panose="020B0609020204030204"/>
                <a:cs typeface="Consolas" panose="020B0609020204030204"/>
                <a:sym typeface="Consolas" panose="020B0609020204030204"/>
              </a:rPr>
              <a:t>[1 2 3] [4 5 6] [7 8 9]</a:t>
            </a:r>
            <a:endParaRPr lang="en-US" sz="15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Kernel (2x2 - Edge Detection)</a:t>
            </a:r>
            <a:endPar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500" b="0" i="0" u="none" strike="noStrike">
                <a:solidFill>
                  <a:srgbClr val="D4D4D4"/>
                </a:solidFill>
                <a:latin typeface="Consolas" panose="020B0609020204030204"/>
                <a:ea typeface="Consolas" panose="020B0609020204030204"/>
                <a:cs typeface="Consolas" panose="020B0609020204030204"/>
                <a:sym typeface="Consolas" panose="020B0609020204030204"/>
              </a:rPr>
              <a:t>[1 0] [0 -1]</a:t>
            </a:r>
            <a:endParaRPr lang="en-US" sz="15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Calculation: Sum of Element-wise Product</a:t>
            </a:r>
            <a:endPar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500" b="1" i="0" u="none" strike="noStrike">
                <a:solidFill>
                  <a:srgbClr val="569CD6"/>
                </a:solidFill>
                <a:latin typeface="Consolas" panose="020B0609020204030204"/>
                <a:ea typeface="Consolas" panose="020B0609020204030204"/>
                <a:cs typeface="Consolas" panose="020B0609020204030204"/>
                <a:sym typeface="Consolas" panose="020B0609020204030204"/>
              </a:rPr>
              <a:t>1×1 + 2×0 + 4×0 + 5×(-1) = -4</a:t>
            </a:r>
            <a:endParaRPr lang="en-US" sz="1500" b="1"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
        <p:nvSpPr>
          <p:cNvPr id="9" name="AutoShape 9"/>
          <p:cNvSpPr/>
          <p:nvPr/>
        </p:nvSpPr>
        <p:spPr>
          <a:xfrm>
            <a:off x="6604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计算步骤解析</a:t>
            </a:r>
            <a:endParaRPr lang="en-US" sz="1100"/>
          </a:p>
        </p:txBody>
      </p:sp>
      <p:sp>
        <p:nvSpPr>
          <p:cNvPr id="10" name="AutoShape 10"/>
          <p:cNvSpPr/>
          <p:nvPr/>
        </p:nvSpPr>
        <p:spPr>
          <a:xfrm>
            <a:off x="6604000" y="2413000"/>
            <a:ext cx="4826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滑动：卷积核在输入图像上按步长逐像素滑动，覆盖局部区域。</a:t>
            </a:r>
            <a:endParaRPr lang="en-US" sz="1100"/>
          </a:p>
          <a:p>
            <a:pPr marL="0" indent="0" algn="l">
              <a:lnSpc>
                <a:spcPct val="167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相乘：将核的权重与对应位置的像素值进行逐元素乘法运算。</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求和：累加所有乘积结果，生成输出特征图的单个像素值。</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 遍历：重复上述过程直至覆盖全部区域，形成完整的特征映射。</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5588000"/>
            <a:ext cx="10414000" cy="762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5588000"/>
            <a:ext cx="10414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1F2937"/>
                </a:solidFill>
                <a:latin typeface="Consolas" panose="020B0609020204030204"/>
                <a:ea typeface="Consolas" panose="020B0609020204030204"/>
                <a:cs typeface="Consolas" panose="020B0609020204030204"/>
                <a:sym typeface="Consolas" panose="020B0609020204030204"/>
              </a:rPr>
              <a:t>Z[i,j] = Σ(m=0 to k-1) Σ(n=0 to k-1) ( Input[i+m, j+n] × Kernel[m,n] ) + Bias</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卷积层参数</a:t>
            </a:r>
            <a:endParaRPr lang="en-US" sz="1100"/>
          </a:p>
        </p:txBody>
      </p:sp>
      <p:sp>
        <p:nvSpPr>
          <p:cNvPr id="3" name="AutoShape 3"/>
          <p:cNvSpPr/>
          <p:nvPr/>
        </p:nvSpPr>
        <p:spPr>
          <a:xfrm>
            <a:off x="1016000" y="1651000"/>
            <a:ext cx="5080000" cy="177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270000" y="1841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Filter 卷积核</a:t>
            </a:r>
            <a:endParaRPr lang="en-US" sz="1100"/>
          </a:p>
        </p:txBody>
      </p:sp>
      <p:sp>
        <p:nvSpPr>
          <p:cNvPr id="5" name="AutoShape 5"/>
          <p:cNvSpPr/>
          <p:nvPr/>
        </p:nvSpPr>
        <p:spPr>
          <a:xfrm>
            <a:off x="1270000" y="23495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卷积操作的核心权重矩阵，常用尺寸为 3×3 或 5×5。其大小决定感受野范围，直接影响网络对图像局部特征的捕捉能力与抽象程度。</a:t>
            </a:r>
            <a:endParaRPr lang="en-US" sz="1100"/>
          </a:p>
        </p:txBody>
      </p:sp>
      <p:sp>
        <p:nvSpPr>
          <p:cNvPr id="6" name="AutoShape 6"/>
          <p:cNvSpPr/>
          <p:nvPr/>
        </p:nvSpPr>
        <p:spPr>
          <a:xfrm>
            <a:off x="6096000" y="1651000"/>
            <a:ext cx="5080000" cy="177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350000" y="1841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Padding 填充</a:t>
            </a:r>
            <a:endParaRPr lang="en-US" sz="1100"/>
          </a:p>
        </p:txBody>
      </p:sp>
      <p:sp>
        <p:nvSpPr>
          <p:cNvPr id="8" name="AutoShape 8"/>
          <p:cNvSpPr/>
          <p:nvPr/>
        </p:nvSpPr>
        <p:spPr>
          <a:xfrm>
            <a:off x="6350000" y="23495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在输入特征图边界填充固定值（通常为0），用于保持输出尺寸与输入一致，防止边缘信息丢失，同时支持更深层的网络堆叠设计。</a:t>
            </a:r>
            <a:endParaRPr lang="en-US" sz="1100"/>
          </a:p>
        </p:txBody>
      </p:sp>
      <p:sp>
        <p:nvSpPr>
          <p:cNvPr id="9" name="AutoShape 9"/>
          <p:cNvSpPr/>
          <p:nvPr/>
        </p:nvSpPr>
        <p:spPr>
          <a:xfrm>
            <a:off x="1016000" y="3683000"/>
            <a:ext cx="5080000" cy="177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270000" y="3873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Stride 步长</a:t>
            </a:r>
            <a:endParaRPr lang="en-US" sz="1100"/>
          </a:p>
        </p:txBody>
      </p:sp>
      <p:sp>
        <p:nvSpPr>
          <p:cNvPr id="11" name="AutoShape 11"/>
          <p:cNvSpPr/>
          <p:nvPr/>
        </p:nvSpPr>
        <p:spPr>
          <a:xfrm>
            <a:off x="1270000" y="43815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卷积核在特征图上滑动的像素间隔。步长为1时逐像素滑动，步长大于1时可有效降低特征图分辨率，减少计算量并扩大感受野覆盖。</a:t>
            </a:r>
            <a:endParaRPr lang="en-US" sz="1100"/>
          </a:p>
        </p:txBody>
      </p:sp>
      <p:sp>
        <p:nvSpPr>
          <p:cNvPr id="12" name="AutoShape 12"/>
          <p:cNvSpPr/>
          <p:nvPr/>
        </p:nvSpPr>
        <p:spPr>
          <a:xfrm>
            <a:off x="6096000" y="3683000"/>
            <a:ext cx="5080000" cy="177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350000" y="38735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Number of Filters 卷积核数量</a:t>
            </a:r>
            <a:endParaRPr lang="en-US" sz="1100"/>
          </a:p>
        </p:txBody>
      </p:sp>
      <p:sp>
        <p:nvSpPr>
          <p:cNvPr id="14" name="AutoShape 14"/>
          <p:cNvSpPr/>
          <p:nvPr/>
        </p:nvSpPr>
        <p:spPr>
          <a:xfrm>
            <a:off x="6350000" y="4381500"/>
            <a:ext cx="457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决定输出特征图的通道数，每个卷积核对应提取一种特定图像特征。数量越多，网络能学习的特征表达越丰富，同时也会增加模型参数量。</a:t>
            </a:r>
            <a:endParaRPr lang="en-US" sz="1100"/>
          </a:p>
        </p:txBody>
      </p:sp>
      <p:sp>
        <p:nvSpPr>
          <p:cNvPr id="15" name="AutoShape 15"/>
          <p:cNvSpPr/>
          <p:nvPr/>
        </p:nvSpPr>
        <p:spPr>
          <a:xfrm>
            <a:off x="1016000" y="5651500"/>
            <a:ext cx="10160000" cy="101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5651500"/>
            <a:ext cx="1016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D4D4D4"/>
                </a:solidFill>
                <a:latin typeface="Consolas" panose="020B0609020204030204"/>
                <a:ea typeface="Consolas" panose="020B0609020204030204"/>
                <a:cs typeface="Consolas" panose="020B0609020204030204"/>
                <a:sym typeface="Consolas" panose="020B0609020204030204"/>
              </a:rPr>
              <a:t>n_out = ⌊(n_in + 2p − f) / s⌋ + 1</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Padding 填充</a:t>
            </a:r>
            <a:endParaRPr lang="en-US" sz="1100"/>
          </a:p>
        </p:txBody>
      </p:sp>
      <p:sp>
        <p:nvSpPr>
          <p:cNvPr id="4" name="AutoShape 4"/>
          <p:cNvSpPr/>
          <p:nvPr/>
        </p:nvSpPr>
        <p:spPr>
          <a:xfrm>
            <a:off x="1016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 Padding</a:t>
            </a:r>
            <a:endParaRPr lang="en-US" sz="1100"/>
          </a:p>
        </p:txBody>
      </p:sp>
      <p:sp>
        <p:nvSpPr>
          <p:cNvPr id="5" name="AutoShape 5"/>
          <p:cNvSpPr/>
          <p:nvPr/>
        </p:nvSpPr>
        <p:spPr>
          <a:xfrm>
            <a:off x="1016000" y="2413000"/>
            <a:ext cx="4826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若不进行 Padding 操作，每次卷积运算后特征图的尺寸都会持续缩小，这不仅会导致深层网络的特征图迅速消失，还会造成图像边缘像素被利用的次数远少于中心像素，使得边缘的关键纹理与细节信息大量丢失，最终严重影响模型对图像的特征提取能力。</a:t>
            </a:r>
            <a:endParaRPr lang="en-US" sz="1100"/>
          </a:p>
        </p:txBody>
      </p:sp>
      <p:sp>
        <p:nvSpPr>
          <p:cNvPr id="6" name="AutoShape 6"/>
          <p:cNvSpPr/>
          <p:nvPr/>
        </p:nvSpPr>
        <p:spPr>
          <a:xfrm>
            <a:off x="6604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Padding 的作用</a:t>
            </a:r>
            <a:endParaRPr lang="en-US" sz="1100"/>
          </a:p>
        </p:txBody>
      </p:sp>
      <p:sp>
        <p:nvSpPr>
          <p:cNvPr id="7" name="AutoShape 7"/>
          <p:cNvSpPr/>
          <p:nvPr/>
        </p:nvSpPr>
        <p:spPr>
          <a:xfrm>
            <a:off x="6604000" y="2413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① 保持特征图尺寸稳定，避免因多次卷积导致的空间维度急剧缩减，为构建更深层的神经网络提供结构基础。</a:t>
            </a:r>
            <a:endParaRPr lang="en-US" sz="1100"/>
          </a:p>
        </p:txBody>
      </p:sp>
      <p:sp>
        <p:nvSpPr>
          <p:cNvPr id="8" name="AutoShape 8"/>
          <p:cNvSpPr/>
          <p:nvPr/>
        </p:nvSpPr>
        <p:spPr>
          <a:xfrm>
            <a:off x="6604000" y="3175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② 充分利用图像边缘的像素信息，减少边缘特征的丢失，让模型能够捕捉到更完整的图像细节与纹理。</a:t>
            </a:r>
            <a:endParaRPr lang="en-US" sz="1100"/>
          </a:p>
        </p:txBody>
      </p:sp>
      <p:sp>
        <p:nvSpPr>
          <p:cNvPr id="9" name="AutoShape 9"/>
          <p:cNvSpPr/>
          <p:nvPr/>
        </p:nvSpPr>
        <p:spPr>
          <a:xfrm>
            <a:off x="6604000" y="3937000"/>
            <a:ext cx="4826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③ 维持卷积前后的尺寸一致性，简化网络结构设计，避免因尺寸不匹配带来的计算与维度适配问题。</a:t>
            </a:r>
            <a:endParaRPr lang="en-US" sz="1100"/>
          </a:p>
        </p:txBody>
      </p:sp>
      <p:sp>
        <p:nvSpPr>
          <p:cNvPr id="10" name="AutoShape 10"/>
          <p:cNvSpPr/>
          <p:nvPr/>
        </p:nvSpPr>
        <p:spPr>
          <a:xfrm>
            <a:off x="1016000" y="4445000"/>
            <a:ext cx="10414000" cy="1905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445000"/>
            <a:ext cx="10414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45593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485900" y="45593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765300" y="4559300"/>
            <a:ext cx="152400" cy="152400"/>
          </a:xfrm>
          <a:prstGeom prst="ellipse">
            <a:avLst/>
          </a:prstGeom>
          <a:solidFill>
            <a:srgbClr val="27CA3F">
              <a:alpha val="100000"/>
            </a:srgbClr>
          </a:solidFill>
          <a:ln cap="flat" cmpd="sng">
            <a:solidFill>
              <a:srgbClr val="10B128">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270000" y="4978400"/>
            <a:ext cx="990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Same Convolution: 输出与输入尺寸相同 (当步幅 stride=1 时)</a:t>
            </a:r>
            <a:endParaRPr lang="en-US" sz="1100"/>
          </a:p>
          <a:p>
            <a:pPr marL="0" indent="0" algn="l">
              <a:lnSpc>
                <a:spcPct val="133000"/>
              </a:lnSpc>
            </a:pPr>
            <a:r>
              <a:rPr lang="en-US" sz="1500" b="0" i="0" u="none" strike="noStrike">
                <a:solidFill>
                  <a:srgbClr val="569CD6"/>
                </a:solidFill>
                <a:latin typeface="Consolas" panose="020B0609020204030204"/>
                <a:ea typeface="Consolas" panose="020B0609020204030204"/>
                <a:cs typeface="Consolas" panose="020B0609020204030204"/>
                <a:sym typeface="Consolas" panose="020B0609020204030204"/>
              </a:rPr>
              <a:t>padding = (kernel_size - 1) // 2</a:t>
            </a:r>
            <a:endParaRPr lang="en-US" sz="15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rPr>
              <a:t># 示例：3×3 卷积核 → padding=1；5×5 卷积核 → padding=2；7×7 卷积核 → padding=3</a:t>
            </a:r>
            <a:endParaRPr lang="en-US" sz="15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 与 Same Convolution</a:t>
            </a:r>
            <a:endParaRPr lang="en-US" sz="1100"/>
          </a:p>
        </p:txBody>
      </p:sp>
      <p:sp>
        <p:nvSpPr>
          <p:cNvPr id="3" name="AutoShape 3"/>
          <p:cNvSpPr/>
          <p:nvPr/>
        </p:nvSpPr>
        <p:spPr>
          <a:xfrm>
            <a:off x="1016000" y="1778000"/>
            <a:ext cx="5080000" cy="431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397000" y="2159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Valid Convolution</a:t>
            </a:r>
            <a:endParaRPr lang="en-US" sz="1100"/>
          </a:p>
        </p:txBody>
      </p:sp>
      <p:sp>
        <p:nvSpPr>
          <p:cNvPr id="5" name="AutoShape 5"/>
          <p:cNvSpPr/>
          <p:nvPr/>
        </p:nvSpPr>
        <p:spPr>
          <a:xfrm>
            <a:off x="1397000" y="26035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不进行边界填充，Padding (p) = 0</a:t>
            </a:r>
            <a:endParaRPr lang="en-US" sz="1100"/>
          </a:p>
        </p:txBody>
      </p:sp>
      <p:sp>
        <p:nvSpPr>
          <p:cNvPr id="6" name="AutoShape 6"/>
          <p:cNvSpPr/>
          <p:nvPr/>
        </p:nvSpPr>
        <p:spPr>
          <a:xfrm>
            <a:off x="1397000" y="3048000"/>
            <a:ext cx="4318000" cy="762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3970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4D4D4"/>
                </a:solidFill>
                <a:latin typeface="Consolas" panose="020B0609020204030204"/>
                <a:ea typeface="Consolas" panose="020B0609020204030204"/>
                <a:cs typeface="Consolas" panose="020B0609020204030204"/>
                <a:sym typeface="Consolas" panose="020B0609020204030204"/>
              </a:rPr>
              <a:t>n_out = n_in - f + 1</a:t>
            </a:r>
            <a:endParaRPr lang="en-US" sz="1100"/>
          </a:p>
        </p:txBody>
      </p:sp>
      <p:sp>
        <p:nvSpPr>
          <p:cNvPr id="8" name="AutoShape 8"/>
          <p:cNvSpPr/>
          <p:nvPr/>
        </p:nvSpPr>
        <p:spPr>
          <a:xfrm>
            <a:off x="1397000" y="4191000"/>
            <a:ext cx="431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输出特征图尺寸小于输入，图像边缘信息会被部分裁剪丢失。由于无需额外填充计算，其运算效率较高，是卷积最基础的实现形式，适用于对输出尺寸无严格要求、需压缩特征维度的场景。</a:t>
            </a:r>
            <a:endParaRPr lang="en-US" sz="1100"/>
          </a:p>
        </p:txBody>
      </p:sp>
      <p:sp>
        <p:nvSpPr>
          <p:cNvPr id="9" name="AutoShape 9"/>
          <p:cNvSpPr/>
          <p:nvPr/>
        </p:nvSpPr>
        <p:spPr>
          <a:xfrm>
            <a:off x="6350000" y="1778000"/>
            <a:ext cx="5080000" cy="4318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731000" y="2159000"/>
            <a:ext cx="431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Same Convolution</a:t>
            </a:r>
            <a:endParaRPr lang="en-US" sz="1100"/>
          </a:p>
        </p:txBody>
      </p:sp>
      <p:sp>
        <p:nvSpPr>
          <p:cNvPr id="11" name="AutoShape 11"/>
          <p:cNvSpPr/>
          <p:nvPr/>
        </p:nvSpPr>
        <p:spPr>
          <a:xfrm>
            <a:off x="6731000" y="2603500"/>
            <a:ext cx="4318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边界补零保持尺寸，Padding (p) = (f-1)/2</a:t>
            </a:r>
            <a:endParaRPr lang="en-US" sz="1100"/>
          </a:p>
        </p:txBody>
      </p:sp>
      <p:sp>
        <p:nvSpPr>
          <p:cNvPr id="12" name="AutoShape 12"/>
          <p:cNvSpPr/>
          <p:nvPr/>
        </p:nvSpPr>
        <p:spPr>
          <a:xfrm>
            <a:off x="6731000" y="3048000"/>
            <a:ext cx="4318000" cy="762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731000" y="3276600"/>
            <a:ext cx="431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D4D4D4"/>
                </a:solidFill>
                <a:latin typeface="Consolas" panose="020B0609020204030204"/>
                <a:ea typeface="Consolas" panose="020B0609020204030204"/>
                <a:cs typeface="Consolas" panose="020B0609020204030204"/>
                <a:sym typeface="Consolas" panose="020B0609020204030204"/>
              </a:rPr>
              <a:t>p = (f - 1) / 2 ⇒ n_out = n_in</a:t>
            </a:r>
            <a:endParaRPr lang="en-US" sz="1100"/>
          </a:p>
        </p:txBody>
      </p:sp>
      <p:sp>
        <p:nvSpPr>
          <p:cNvPr id="14" name="AutoShape 14"/>
          <p:cNvSpPr/>
          <p:nvPr/>
        </p:nvSpPr>
        <p:spPr>
          <a:xfrm>
            <a:off x="6731000" y="4191000"/>
            <a:ext cx="4318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通过在输入边缘填充0值像素，强制保持输出与输入的空间尺寸完全一致。这能最大限度保留图像边缘特征与空间结构，避免特征图尺寸过快缩小，是构建深层CNN（如ResNet、VGG）时的标准配置。</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多通道卷积</a:t>
            </a:r>
            <a:endParaRPr lang="en-US" sz="1100"/>
          </a:p>
        </p:txBody>
      </p:sp>
      <p:sp>
        <p:nvSpPr>
          <p:cNvPr id="3" name="AutoShape 3"/>
          <p:cNvSpPr/>
          <p:nvPr/>
        </p:nvSpPr>
        <p:spPr>
          <a:xfrm>
            <a:off x="1016000" y="1651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RGB 三通道卷积机制</a:t>
            </a:r>
            <a:endParaRPr lang="en-US" sz="1100"/>
          </a:p>
        </p:txBody>
      </p:sp>
      <p:sp>
        <p:nvSpPr>
          <p:cNvPr id="4" name="AutoShape 4"/>
          <p:cNvSpPr/>
          <p:nvPr/>
        </p:nvSpPr>
        <p:spPr>
          <a:xfrm>
            <a:off x="1016000" y="2286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彩色图像由 R、G、B 三个色彩通道组成，维度为 H×W×3。卷积核必须与输入通道数严格匹配（即 f×f×3），每个通道独立完成卷积运算，最后将结果逐像素相加，融合为单通道特征图。</a:t>
            </a:r>
            <a:endParaRPr lang="en-US" sz="1100"/>
          </a:p>
        </p:txBody>
      </p:sp>
      <p:sp>
        <p:nvSpPr>
          <p:cNvPr id="5" name="AutoShape 5"/>
          <p:cNvSpPr/>
          <p:nvPr/>
        </p:nvSpPr>
        <p:spPr>
          <a:xfrm>
            <a:off x="1016000" y="3683000"/>
            <a:ext cx="5080000" cy="13970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06500" y="3810000"/>
            <a:ext cx="4699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运算逻辑分解：</a:t>
            </a:r>
            <a:endParaRPr lang="en-US" sz="1100"/>
          </a:p>
          <a:p>
            <a:pPr marL="0" indent="0" algn="l">
              <a:lnSpc>
                <a:spcPct val="125000"/>
              </a:lnSpc>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R通道卷积结果 + G通道卷积结果 + B通道卷积结果 → 融合输出单通道 Feature Map</a:t>
            </a:r>
            <a:endPar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1016000" y="5334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核心规律：</a:t>
            </a: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输出特征图的通道数完全由卷积核（Filter）的数量决定。使用 N 个卷积核，即可得到 N 个通道的输出，每个通道捕捉不同的图像特征。</a:t>
            </a:r>
            <a:endParaRPr lang="en-US" sz="1100"/>
          </a:p>
        </p:txBody>
      </p:sp>
      <p:sp>
        <p:nvSpPr>
          <p:cNvPr id="8" name="AutoShape 8"/>
          <p:cNvSpPr/>
          <p:nvPr/>
        </p:nvSpPr>
        <p:spPr>
          <a:xfrm>
            <a:off x="6604000" y="1651000"/>
            <a:ext cx="4826000" cy="3556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604000" y="1651000"/>
            <a:ext cx="4826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794500" y="1790700"/>
            <a:ext cx="152400" cy="152400"/>
          </a:xfrm>
          <a:prstGeom prst="ellipse">
            <a:avLst/>
          </a:prstGeom>
          <a:solidFill>
            <a:srgbClr val="FF5F5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048500" y="1790700"/>
            <a:ext cx="152400" cy="1524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302500" y="1790700"/>
            <a:ext cx="152400" cy="152400"/>
          </a:xfrm>
          <a:prstGeom prst="ellipse">
            <a:avLst/>
          </a:prstGeom>
          <a:solidFill>
            <a:srgbClr val="27CA3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794500" y="2222500"/>
            <a:ext cx="4445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输入尺寸: 64×64×3 (H×W×C)</a:t>
            </a:r>
            <a:endParaRPr lang="en-US" sz="1100"/>
          </a:p>
          <a:p>
            <a:pPr marL="0" indent="0" algn="l">
              <a:lnSpc>
                <a:spcPct val="133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卷积核: 3×3×3 (与输入通道对齐)</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定义卷积层 (使用8个卷积核)</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Conv2D(filters=8, kernel_size=3)</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输出尺寸: 64×64×8 (通道数=滤波器数)</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参数量计算: (3×3×3 + 1) × 8 = 224</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p:txBody>
      </p:sp>
      <p:sp>
        <p:nvSpPr>
          <p:cNvPr id="14" name="AutoShape 14"/>
          <p:cNvSpPr/>
          <p:nvPr/>
        </p:nvSpPr>
        <p:spPr>
          <a:xfrm>
            <a:off x="6604000" y="5397500"/>
            <a:ext cx="4826000" cy="1016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55245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代码解析：这是深度学习框架中典型的卷积层定义方式。`filters` 参数直接决定了输出特征图的深度，而参数量的计算包含了卷积核的权重参数和每个输出通道的偏置项。</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Pooling 池化</a:t>
            </a:r>
            <a:endParaRPr lang="en-US" sz="1100"/>
          </a:p>
        </p:txBody>
      </p:sp>
      <p:sp>
        <p:nvSpPr>
          <p:cNvPr id="3" name="AutoShape 3"/>
          <p:cNvSpPr/>
          <p:nvPr/>
        </p:nvSpPr>
        <p:spPr>
          <a:xfrm>
            <a:off x="1016000" y="1651000"/>
            <a:ext cx="444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池化的作用</a:t>
            </a:r>
            <a:endParaRPr lang="en-US" sz="1100"/>
          </a:p>
        </p:txBody>
      </p:sp>
      <p:sp>
        <p:nvSpPr>
          <p:cNvPr id="4" name="AutoShape 4"/>
          <p:cNvSpPr/>
          <p:nvPr/>
        </p:nvSpPr>
        <p:spPr>
          <a:xfrm>
            <a:off x="1016000" y="2540000"/>
            <a:ext cx="4445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层是卷积神经网络（CNN）中的关键层，主要用于减小特征图的空间尺寸，大幅降低后续计算量与参数数量。它能提供一定的平移不变性，即特征在图像中的位置变化不会显著影响输出，增强模型的鲁棒性。与卷积层不同，池化层不包含可学习的参数，其运算规则是固定的下采样方式。</a:t>
            </a:r>
            <a:endParaRPr lang="en-US" sz="1100"/>
          </a:p>
        </p:txBody>
      </p:sp>
      <p:sp>
        <p:nvSpPr>
          <p:cNvPr id="5" name="AutoShape 5"/>
          <p:cNvSpPr/>
          <p:nvPr/>
        </p:nvSpPr>
        <p:spPr>
          <a:xfrm>
            <a:off x="6096000" y="1651000"/>
            <a:ext cx="5334000" cy="2032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350000" y="1841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Max Pooling 最大池化</a:t>
            </a:r>
            <a:endParaRPr lang="en-US" sz="1100"/>
          </a:p>
        </p:txBody>
      </p:sp>
      <p:sp>
        <p:nvSpPr>
          <p:cNvPr id="7" name="AutoShape 7"/>
          <p:cNvSpPr/>
          <p:nvPr/>
        </p:nvSpPr>
        <p:spPr>
          <a:xfrm>
            <a:off x="6350000" y="2413000"/>
            <a:ext cx="2286000" cy="101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350000" y="27305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D4D4D4"/>
                </a:solidFill>
                <a:latin typeface="Consolas" panose="020B0609020204030204"/>
                <a:ea typeface="Consolas" panose="020B0609020204030204"/>
                <a:cs typeface="Consolas" panose="020B0609020204030204"/>
                <a:sym typeface="Consolas" panose="020B0609020204030204"/>
              </a:rPr>
              <a:t>[1 3; 2 4] → 4</a:t>
            </a:r>
            <a:endParaRPr lang="en-US" sz="1100"/>
          </a:p>
        </p:txBody>
      </p:sp>
      <p:sp>
        <p:nvSpPr>
          <p:cNvPr id="9" name="AutoShape 9"/>
          <p:cNvSpPr/>
          <p:nvPr/>
        </p:nvSpPr>
        <p:spPr>
          <a:xfrm>
            <a:off x="8890000" y="2413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选取感受野内的最大值作为输出。能有效保留图像的纹理、边缘等显著特征，是CNN中提取主要特征的常用方式。</a:t>
            </a:r>
            <a:endParaRPr lang="en-US" sz="1100"/>
          </a:p>
        </p:txBody>
      </p:sp>
      <p:sp>
        <p:nvSpPr>
          <p:cNvPr id="10" name="AutoShape 10"/>
          <p:cNvSpPr/>
          <p:nvPr/>
        </p:nvSpPr>
        <p:spPr>
          <a:xfrm>
            <a:off x="6096000" y="3937000"/>
            <a:ext cx="5334000" cy="2032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4127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Average Pooling 平均池化</a:t>
            </a:r>
            <a:endParaRPr lang="en-US" sz="1100"/>
          </a:p>
        </p:txBody>
      </p:sp>
      <p:sp>
        <p:nvSpPr>
          <p:cNvPr id="12" name="AutoShape 12"/>
          <p:cNvSpPr/>
          <p:nvPr/>
        </p:nvSpPr>
        <p:spPr>
          <a:xfrm>
            <a:off x="6350000" y="4699000"/>
            <a:ext cx="2286000" cy="101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350000" y="5016500"/>
            <a:ext cx="2286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D4D4D4"/>
                </a:solidFill>
                <a:latin typeface="Consolas" panose="020B0609020204030204"/>
                <a:ea typeface="Consolas" panose="020B0609020204030204"/>
                <a:cs typeface="Consolas" panose="020B0609020204030204"/>
                <a:sym typeface="Consolas" panose="020B0609020204030204"/>
              </a:rPr>
              <a:t>[1 3; 2 4] → 2.5</a:t>
            </a:r>
            <a:endParaRPr lang="en-US" sz="1100"/>
          </a:p>
        </p:txBody>
      </p:sp>
      <p:sp>
        <p:nvSpPr>
          <p:cNvPr id="14" name="AutoShape 14"/>
          <p:cNvSpPr/>
          <p:nvPr/>
        </p:nvSpPr>
        <p:spPr>
          <a:xfrm>
            <a:off x="8890000" y="4699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计算感受野内所有数值的平均值。能更好地保留图像的背景信息与整体亮度特征，使特征图更加平滑，常用于特征融合阶段。</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CNN 典型结构</a:t>
            </a:r>
            <a:endParaRPr lang="en-US" sz="1100"/>
          </a:p>
        </p:txBody>
      </p:sp>
      <p:sp>
        <p:nvSpPr>
          <p:cNvPr id="3" name="AutoShape 3"/>
          <p:cNvSpPr/>
          <p:nvPr/>
        </p:nvSpPr>
        <p:spPr>
          <a:xfrm>
            <a:off x="1016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a:t>
            </a:r>
            <a:endParaRPr lang="en-US" sz="1100"/>
          </a:p>
        </p:txBody>
      </p:sp>
      <p:cxnSp>
        <p:nvCxnSpPr>
          <p:cNvPr id="5" name="Connector 5"/>
          <p:cNvCxnSpPr/>
          <p:nvPr/>
        </p:nvCxnSpPr>
        <p:spPr>
          <a:xfrm rot="-171744">
            <a:off x="2349659" y="2216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6" name="AutoShape 6"/>
          <p:cNvSpPr/>
          <p:nvPr/>
        </p:nvSpPr>
        <p:spPr>
          <a:xfrm>
            <a:off x="2667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2667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Conv</a:t>
            </a:r>
            <a:endParaRPr lang="en-US" sz="1100"/>
          </a:p>
        </p:txBody>
      </p:sp>
      <p:cxnSp>
        <p:nvCxnSpPr>
          <p:cNvPr id="8" name="Connector 8"/>
          <p:cNvCxnSpPr/>
          <p:nvPr/>
        </p:nvCxnSpPr>
        <p:spPr>
          <a:xfrm rot="-171744">
            <a:off x="4000659" y="2216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9" name="AutoShape 9"/>
          <p:cNvSpPr/>
          <p:nvPr/>
        </p:nvSpPr>
        <p:spPr>
          <a:xfrm>
            <a:off x="4318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318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ReLU</a:t>
            </a:r>
            <a:endParaRPr lang="en-US" sz="1100"/>
          </a:p>
        </p:txBody>
      </p:sp>
      <p:cxnSp>
        <p:nvCxnSpPr>
          <p:cNvPr id="11" name="Connector 11"/>
          <p:cNvCxnSpPr/>
          <p:nvPr/>
        </p:nvCxnSpPr>
        <p:spPr>
          <a:xfrm rot="-171744">
            <a:off x="5651659" y="2216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12" name="AutoShape 12"/>
          <p:cNvSpPr/>
          <p:nvPr/>
        </p:nvSpPr>
        <p:spPr>
          <a:xfrm>
            <a:off x="5969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969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Pool</a:t>
            </a:r>
            <a:endParaRPr lang="en-US" sz="1100"/>
          </a:p>
        </p:txBody>
      </p:sp>
      <p:cxnSp>
        <p:nvCxnSpPr>
          <p:cNvPr id="14" name="Connector 14"/>
          <p:cNvCxnSpPr/>
          <p:nvPr/>
        </p:nvCxnSpPr>
        <p:spPr>
          <a:xfrm rot="-171744">
            <a:off x="7302659" y="2216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15" name="AutoShape 15"/>
          <p:cNvSpPr/>
          <p:nvPr/>
        </p:nvSpPr>
        <p:spPr>
          <a:xfrm>
            <a:off x="7620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620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Conv</a:t>
            </a:r>
            <a:endParaRPr lang="en-US" sz="1100"/>
          </a:p>
        </p:txBody>
      </p:sp>
      <p:cxnSp>
        <p:nvCxnSpPr>
          <p:cNvPr id="17" name="Connector 17"/>
          <p:cNvCxnSpPr/>
          <p:nvPr/>
        </p:nvCxnSpPr>
        <p:spPr>
          <a:xfrm rot="-171744">
            <a:off x="8953659" y="2216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18" name="AutoShape 18"/>
          <p:cNvSpPr/>
          <p:nvPr/>
        </p:nvSpPr>
        <p:spPr>
          <a:xfrm>
            <a:off x="9271000" y="1905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9271000" y="1905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Pool</a:t>
            </a:r>
            <a:endParaRPr lang="en-US" sz="1100"/>
          </a:p>
        </p:txBody>
      </p:sp>
      <p:sp>
        <p:nvSpPr>
          <p:cNvPr id="20" name="AutoShape 20"/>
          <p:cNvSpPr/>
          <p:nvPr/>
        </p:nvSpPr>
        <p:spPr>
          <a:xfrm>
            <a:off x="1016000" y="3048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1016000" y="3048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FC</a:t>
            </a:r>
            <a:endParaRPr lang="en-US" sz="1100"/>
          </a:p>
        </p:txBody>
      </p:sp>
      <p:cxnSp>
        <p:nvCxnSpPr>
          <p:cNvPr id="22" name="Connector 22"/>
          <p:cNvCxnSpPr/>
          <p:nvPr/>
        </p:nvCxnSpPr>
        <p:spPr>
          <a:xfrm rot="-171744">
            <a:off x="2349659" y="3359150"/>
            <a:ext cx="254000" cy="12700"/>
          </a:xfrm>
          <a:prstGeom prst="straightConnector1">
            <a:avLst/>
          </a:prstGeom>
          <a:solidFill>
            <a:srgbClr val="DEE0E3">
              <a:alpha val="100000"/>
            </a:srgbClr>
          </a:solidFill>
          <a:ln w="25400" cap="flat" cmpd="sng">
            <a:solidFill>
              <a:srgbClr val="9CA3AF">
                <a:alpha val="100000"/>
              </a:srgbClr>
            </a:solidFill>
            <a:prstDash val="solid"/>
            <a:round/>
            <a:headEnd type="none" w="lg" len="lg"/>
            <a:tailEnd type="none" w="lg" len="lg"/>
          </a:ln>
        </p:spPr>
      </p:cxnSp>
      <p:sp>
        <p:nvSpPr>
          <p:cNvPr id="23" name="AutoShape 23"/>
          <p:cNvSpPr/>
          <p:nvPr/>
        </p:nvSpPr>
        <p:spPr>
          <a:xfrm>
            <a:off x="2667000" y="3048000"/>
            <a:ext cx="127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2667000" y="3048000"/>
            <a:ext cx="127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Softmax</a:t>
            </a:r>
            <a:endParaRPr lang="en-US" sz="1100"/>
          </a:p>
        </p:txBody>
      </p:sp>
      <p:sp>
        <p:nvSpPr>
          <p:cNvPr id="25" name="AutoShape 25"/>
          <p:cNvSpPr/>
          <p:nvPr/>
        </p:nvSpPr>
        <p:spPr>
          <a:xfrm>
            <a:off x="4318000" y="3048000"/>
            <a:ext cx="6223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通过卷积层提取特征，池化层降维，全连接层整合信息，最终通过 Softmax 输出分类概率。</a:t>
            </a:r>
            <a:endParaRPr lang="en-US" sz="1100"/>
          </a:p>
        </p:txBody>
      </p:sp>
      <p:sp>
        <p:nvSpPr>
          <p:cNvPr id="26" name="AutoShape 26"/>
          <p:cNvSpPr/>
          <p:nvPr/>
        </p:nvSpPr>
        <p:spPr>
          <a:xfrm>
            <a:off x="1016000" y="4445000"/>
            <a:ext cx="1041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特征提取层次</a:t>
            </a:r>
            <a:endParaRPr lang="en-US" sz="1100"/>
          </a:p>
        </p:txBody>
      </p:sp>
      <p:sp>
        <p:nvSpPr>
          <p:cNvPr id="27" name="AutoShape 27"/>
          <p:cNvSpPr/>
          <p:nvPr/>
        </p:nvSpPr>
        <p:spPr>
          <a:xfrm>
            <a:off x="1016000" y="5080000"/>
            <a:ext cx="3213100" cy="1270000"/>
          </a:xfrm>
          <a:prstGeom prst="roundRect">
            <a:avLst>
              <a:gd name="adj" fmla="val 0"/>
            </a:avLst>
          </a:prstGeom>
          <a:solidFill>
            <a:srgbClr val="065F46">
              <a:alpha val="5000"/>
            </a:srgbClr>
          </a:solidFill>
          <a:ln w="12700" cap="flat" cmpd="sng">
            <a:solidFill>
              <a:srgbClr val="065F46">
                <a:alpha val="15000"/>
              </a:srgbClr>
            </a:solidFill>
            <a:prstDash val="solid"/>
            <a:round/>
          </a:ln>
        </p:spPr>
        <p:txBody>
          <a:bodyPr vert="horz" wrap="square" lIns="63500" tIns="63500" rIns="63500" bIns="63500" rtlCol="0" anchor="ctr"/>
          <a:lstStyle/>
          <a:p>
            <a:pPr algn="ctr">
              <a:defRPr/>
            </a:pPr>
          </a:p>
        </p:txBody>
      </p:sp>
      <p:sp>
        <p:nvSpPr>
          <p:cNvPr id="28" name="AutoShape 28"/>
          <p:cNvSpPr/>
          <p:nvPr/>
        </p:nvSpPr>
        <p:spPr>
          <a:xfrm>
            <a:off x="1206500" y="5207000"/>
            <a:ext cx="2832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浅层特征</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捕捉图像的边缘、线条、颜色等底层视觉信息，是神经网络感知的基础单元。</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4483100" y="5080000"/>
            <a:ext cx="3213100" cy="1270000"/>
          </a:xfrm>
          <a:prstGeom prst="roundRect">
            <a:avLst>
              <a:gd name="adj" fmla="val 0"/>
            </a:avLst>
          </a:prstGeom>
          <a:solidFill>
            <a:srgbClr val="065F46">
              <a:alpha val="5000"/>
            </a:srgbClr>
          </a:solidFill>
          <a:ln w="12700" cap="flat" cmpd="sng">
            <a:solidFill>
              <a:srgbClr val="065F46">
                <a:alpha val="15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4673600" y="5207000"/>
            <a:ext cx="2832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中层特征</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组合浅层特征，识别物体的局部形状、纹理模式及简单的部件结构。</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31"/>
          <p:cNvSpPr/>
          <p:nvPr/>
        </p:nvSpPr>
        <p:spPr>
          <a:xfrm>
            <a:off x="7950200" y="5080000"/>
            <a:ext cx="3213100" cy="1270000"/>
          </a:xfrm>
          <a:prstGeom prst="roundRect">
            <a:avLst>
              <a:gd name="adj" fmla="val 0"/>
            </a:avLst>
          </a:prstGeom>
          <a:solidFill>
            <a:srgbClr val="065F46">
              <a:alpha val="5000"/>
            </a:srgbClr>
          </a:solidFill>
          <a:ln w="12700" cap="flat" cmpd="sng">
            <a:solidFill>
              <a:srgbClr val="065F46">
                <a:alpha val="15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8140700" y="5207000"/>
            <a:ext cx="28321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深层特征</a:t>
            </a:r>
            <a:endParaRPr lang="en-US" sz="1100"/>
          </a:p>
          <a:p>
            <a:pPr marL="0"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抽象出高级语义信息，理解物体的整体结构、类别属性及复杂的场景关系。</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Week 1：CNN 基础</a:t>
            </a:r>
            <a:endParaRPr lang="en-US" sz="1100"/>
          </a:p>
        </p:txBody>
      </p:sp>
      <p:sp>
        <p:nvSpPr>
          <p:cNvPr id="3" name="AutoShape 3"/>
          <p:cNvSpPr/>
          <p:nvPr/>
        </p:nvSpPr>
        <p:spPr>
          <a:xfrm>
            <a:off x="1016000" y="1778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学习重点</a:t>
            </a:r>
            <a:endParaRPr lang="en-US" sz="1100"/>
          </a:p>
        </p:txBody>
      </p:sp>
      <p:sp>
        <p:nvSpPr>
          <p:cNvPr id="4" name="AutoShape 4"/>
          <p:cNvSpPr/>
          <p:nvPr/>
        </p:nvSpPr>
        <p:spPr>
          <a:xfrm>
            <a:off x="1016000" y="2540000"/>
            <a:ext cx="5080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卷积运算原理与局部感受野的数学表达</a:t>
            </a:r>
            <a:endParaRPr lang="en-US" sz="1100"/>
          </a:p>
          <a:p>
            <a:pPr marL="0" indent="0" algn="l">
              <a:lnSpc>
                <a:spcPct val="183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Padding 填充策略与 Stride 步幅的参数控制</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83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Pooling 池化层的下采样机制与特征保留</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83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CNN 网络的前向传播数据流与维度变化</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83000"/>
              </a:lnSpc>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反向传播中卷积层与池化层的梯度计算</a:t>
            </a:r>
            <a:endPar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6604000" y="1778000"/>
            <a:ext cx="4826000" cy="355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6604000" y="1778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794500" y="1917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7048500" y="1917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302500" y="1917700"/>
            <a:ext cx="127000" cy="1270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620000" y="1879600"/>
            <a:ext cx="279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cnn_arch.py — Text Editor</a:t>
            </a:r>
            <a:endParaRPr lang="en-US" sz="1100"/>
          </a:p>
        </p:txBody>
      </p:sp>
      <p:sp>
        <p:nvSpPr>
          <p:cNvPr id="11" name="AutoShape 11"/>
          <p:cNvSpPr/>
          <p:nvPr/>
        </p:nvSpPr>
        <p:spPr>
          <a:xfrm>
            <a:off x="6858000" y="2413000"/>
            <a:ext cx="4318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Define the CNN Architecture</a:t>
            </a:r>
            <a:endParaRPr lang="en-US" sz="1100"/>
          </a:p>
          <a:p>
            <a:pPr marL="0" indent="0" algn="l">
              <a:lnSpc>
                <a:spcPct val="133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input = Input(shape=(28, 28, 1))</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x = Conv2D(32, (3, 3), activation='relu')(input)</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x = MaxPooling2D((2, 2))(x)</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x = Flatten()(x)</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output = Dense(10, activation='softmax')(x)</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Optimizer: Adam, Loss: Categorical Crossentropy</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p:txBody>
      </p:sp>
      <p:sp>
        <p:nvSpPr>
          <p:cNvPr id="12" name="AutoShape 12"/>
          <p:cNvSpPr/>
          <p:nvPr/>
        </p:nvSpPr>
        <p:spPr>
          <a:xfrm>
            <a:off x="1016000" y="5537200"/>
            <a:ext cx="10414000" cy="8128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5689600"/>
            <a:ext cx="9906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核心总结：</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卷积神经网络（CNN）通过“局部连接”与“权值共享”解决了全连接网络处理图像时参数量过大的问题，利用卷积层提取特征、池化层压缩数据，构建了高效的视觉特征提取器。</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1：Convolutional Model Step by Step</a:t>
            </a:r>
            <a:endParaRPr lang="en-US" sz="1100"/>
          </a:p>
        </p:txBody>
      </p:sp>
      <p:sp>
        <p:nvSpPr>
          <p:cNvPr id="3" name="AutoShape 3"/>
          <p:cNvSpPr/>
          <p:nvPr/>
        </p:nvSpPr>
        <p:spPr>
          <a:xfrm>
            <a:off x="1016000" y="1651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实验目标</a:t>
            </a:r>
            <a:endParaRPr lang="en-US" sz="1100"/>
          </a:p>
        </p:txBody>
      </p:sp>
      <p:sp>
        <p:nvSpPr>
          <p:cNvPr id="4" name="AutoShape 4"/>
          <p:cNvSpPr/>
          <p:nvPr/>
        </p:nvSpPr>
        <p:spPr>
          <a:xfrm>
            <a:off x="1016000" y="2286000"/>
            <a:ext cx="4826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摒弃对深度学习框架 API 的黑盒调用，从零开始使用 NumPy 手动实现卷积神经网络的核心组件。深入剖析卷积层的滑动计算、零填充机制以及池化层的下采样逻辑，构建对 CNN 底层数学原理的直观认知。</a:t>
            </a:r>
            <a:endParaRPr lang="en-US" sz="1100"/>
          </a:p>
        </p:txBody>
      </p:sp>
      <p:sp>
        <p:nvSpPr>
          <p:cNvPr id="5" name="AutoShape 5"/>
          <p:cNvSpPr/>
          <p:nvPr/>
        </p:nvSpPr>
        <p:spPr>
          <a:xfrm>
            <a:off x="1016000" y="3810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核心实现任务</a:t>
            </a:r>
            <a:endParaRPr lang="en-US" sz="1100"/>
          </a:p>
        </p:txBody>
      </p:sp>
      <p:sp>
        <p:nvSpPr>
          <p:cNvPr id="6" name="AutoShape 6"/>
          <p:cNvSpPr/>
          <p:nvPr/>
        </p:nvSpPr>
        <p:spPr>
          <a:xfrm>
            <a:off x="1016000" y="4445000"/>
            <a:ext cx="4826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zero_pad：实现边界零填充，控制特征图尺寸与边界信息</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conv_single_step：完成单个卷积窗口的点积运算与加权求和</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conv_forward：搭建完整的卷积层前向传播计算图与参数传递</a:t>
            </a:r>
            <a:b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pool_forward：实现最大池化与平均池化的前向计算逻辑</a:t>
            </a:r>
            <a:endParaRPr lang="en-US" sz="1100"/>
          </a:p>
        </p:txBody>
      </p:sp>
      <p:sp>
        <p:nvSpPr>
          <p:cNvPr id="7" name="AutoShape 7"/>
          <p:cNvSpPr/>
          <p:nvPr/>
        </p:nvSpPr>
        <p:spPr>
          <a:xfrm>
            <a:off x="6604000" y="1651000"/>
            <a:ext cx="4826000" cy="381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794500" y="18034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048500" y="1803400"/>
            <a:ext cx="152400" cy="1524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302500" y="1803400"/>
            <a:ext cx="152400" cy="152400"/>
          </a:xfrm>
          <a:prstGeom prst="ellipse">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747000" y="17272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cnn_implementation.py</a:t>
            </a:r>
            <a:endParaRPr lang="en-US" sz="1100"/>
          </a:p>
        </p:txBody>
      </p:sp>
      <p:sp>
        <p:nvSpPr>
          <p:cNvPr id="13" name="AutoShape 13"/>
          <p:cNvSpPr/>
          <p:nvPr/>
        </p:nvSpPr>
        <p:spPr>
          <a:xfrm>
            <a:off x="6794500" y="2286000"/>
            <a:ext cx="4445000" cy="2984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1. 导入核心依赖库</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import numpy as np</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import matplotlib.pyplot as plt</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C586C0"/>
                </a:solidFill>
                <a:latin typeface="Consolas" panose="020B0609020204030204"/>
                <a:ea typeface="Consolas" panose="020B0609020204030204"/>
                <a:cs typeface="Consolas" panose="020B0609020204030204"/>
                <a:sym typeface="Consolas" panose="020B0609020204030204"/>
              </a:rPr>
              <a:t>from utils import * # 导入测试与辅助函数</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2. 初始化随机输入与参数 (m, H, W, C)</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np.random.seed(1)</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 = np.random.randn(10, 4, 4, 3)</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W = np.random.randn(2, 2, 3, 8)</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b = np.random.randn(1, 1, 1, 8)</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Zero Padding 零填充</a:t>
            </a:r>
            <a:endParaRPr lang="en-US" sz="1100"/>
          </a:p>
        </p:txBody>
      </p:sp>
      <p:sp>
        <p:nvSpPr>
          <p:cNvPr id="3" name="AutoShape 3"/>
          <p:cNvSpPr/>
          <p:nvPr/>
        </p:nvSpPr>
        <p:spPr>
          <a:xfrm>
            <a:off x="1016000" y="1651000"/>
            <a:ext cx="5588000" cy="381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651000"/>
            <a:ext cx="5588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168400" y="17653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22400" y="17653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676400" y="1765300"/>
            <a:ext cx="152400" cy="152400"/>
          </a:xfrm>
          <a:prstGeom prst="ellipse">
            <a:avLst/>
          </a:prstGeom>
          <a:solidFill>
            <a:srgbClr val="27CA3F">
              <a:alpha val="100000"/>
            </a:srgbClr>
          </a:solidFill>
          <a:ln cap="flat" cmpd="sng">
            <a:solidFill>
              <a:srgbClr val="10B1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032000" y="17272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zero_pad.py</a:t>
            </a:r>
            <a:endParaRPr lang="en-US" sz="1100"/>
          </a:p>
        </p:txBody>
      </p:sp>
      <p:sp>
        <p:nvSpPr>
          <p:cNvPr id="9" name="AutoShape 9"/>
          <p:cNvSpPr/>
          <p:nvPr/>
        </p:nvSpPr>
        <p:spPr>
          <a:xfrm>
            <a:off x="1270000" y="2286000"/>
            <a:ext cx="5080000" cy="2984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def</a:t>
            </a: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zero_pad(X, pad):</a:t>
            </a:r>
            <a:endParaRPr lang="en-US" sz="1100"/>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X_pad = np.pad(</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X, ((0,0), (pad,pad), (pad,pad), (0,0)),</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mode="constant"</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C586C0"/>
                </a:solidFill>
                <a:latin typeface="Consolas" panose="020B0609020204030204"/>
                <a:ea typeface="Consolas" panose="020B0609020204030204"/>
                <a:cs typeface="Consolas" panose="020B0609020204030204"/>
                <a:sym typeface="Consolas" panose="020B0609020204030204"/>
              </a:rPr>
              <a:t>return</a:t>
            </a: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X_pad</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7366000" y="16510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实现要点</a:t>
            </a:r>
            <a:endParaRPr lang="en-US" sz="1100"/>
          </a:p>
        </p:txBody>
      </p:sp>
      <p:sp>
        <p:nvSpPr>
          <p:cNvPr id="11" name="AutoShape 11"/>
          <p:cNvSpPr/>
          <p:nvPr/>
        </p:nvSpPr>
        <p:spPr>
          <a:xfrm>
            <a:off x="7366000" y="2286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 numpy 的 pad 函数，在数据的高度 (Height) 和宽度 (Width) 维度两侧填充指定数量的零值，保持批次 (Batch) 和通道 (Channel) 维度不变。</a:t>
            </a:r>
            <a:endParaRPr lang="en-US" sz="1100"/>
          </a:p>
        </p:txBody>
      </p:sp>
      <p:sp>
        <p:nvSpPr>
          <p:cNvPr id="12" name="AutoShape 12"/>
          <p:cNvSpPr/>
          <p:nvPr/>
        </p:nvSpPr>
        <p:spPr>
          <a:xfrm>
            <a:off x="7366000" y="36830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a:t>
            </a:r>
            <a:endParaRPr lang="en-US" sz="1100"/>
          </a:p>
        </p:txBody>
      </p:sp>
      <p:sp>
        <p:nvSpPr>
          <p:cNvPr id="13" name="AutoShape 13"/>
          <p:cNvSpPr/>
          <p:nvPr/>
        </p:nvSpPr>
        <p:spPr>
          <a:xfrm>
            <a:off x="7366000" y="4254500"/>
            <a:ext cx="406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防止卷积后特征图尺寸缩小过快，同时确保图像边缘的像素信息能被卷积核充分捕捉，保留完整的边界特征。</a:t>
            </a:r>
            <a:endParaRPr lang="en-US" sz="1100"/>
          </a:p>
        </p:txBody>
      </p:sp>
      <p:sp>
        <p:nvSpPr>
          <p:cNvPr id="14" name="AutoShape 14"/>
          <p:cNvSpPr/>
          <p:nvPr/>
        </p:nvSpPr>
        <p:spPr>
          <a:xfrm>
            <a:off x="7366000" y="5334000"/>
            <a:ext cx="4064000" cy="762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556500" y="5511800"/>
            <a:ext cx="368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Example: pad=1 → 5x5 Input ⇒ 7x7 Output</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单步卷积 conv_single_step</a:t>
            </a:r>
            <a:endParaRPr lang="en-US" sz="1100"/>
          </a:p>
        </p:txBody>
      </p:sp>
      <p:sp>
        <p:nvSpPr>
          <p:cNvPr id="3" name="AutoShape 3"/>
          <p:cNvSpPr/>
          <p:nvPr/>
        </p:nvSpPr>
        <p:spPr>
          <a:xfrm>
            <a:off x="1016000" y="1651000"/>
            <a:ext cx="5588000" cy="355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651000"/>
            <a:ext cx="5588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17907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60500" y="17907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14500" y="17907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159000" y="1727200"/>
            <a:ext cx="381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conv_single_step.py</a:t>
            </a:r>
            <a:endParaRPr lang="en-US" sz="1100"/>
          </a:p>
        </p:txBody>
      </p:sp>
      <p:sp>
        <p:nvSpPr>
          <p:cNvPr id="9" name="AutoShape 9"/>
          <p:cNvSpPr/>
          <p:nvPr/>
        </p:nvSpPr>
        <p:spPr>
          <a:xfrm>
            <a:off x="1270000" y="2222500"/>
            <a:ext cx="50800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def conv_single_step(</a:t>
            </a:r>
            <a:endParaRPr lang="en-US" sz="1100"/>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a_slice_prev, W, b):</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逐元素乘法运算</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s = np.multiply(a_slice_prev, W)</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对所有元素求和</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Z = np.sum(s)</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加上偏置项并转换类型</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Z = Z + float(b)</a:t>
            </a:r>
            <a:endPar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400" b="0" i="0" u="none" strike="noStrike">
                <a:solidFill>
                  <a:srgbClr val="C586C0"/>
                </a:solidFill>
                <a:latin typeface="Consolas" panose="020B0609020204030204"/>
                <a:ea typeface="Consolas" panose="020B0609020204030204"/>
                <a:cs typeface="Consolas" panose="020B0609020204030204"/>
                <a:sym typeface="Consolas" panose="020B0609020204030204"/>
              </a:rPr>
              <a:t>return Z</a:t>
            </a:r>
            <a:endParaRPr lang="en-US" sz="14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7366000" y="1651000"/>
            <a:ext cx="406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核心计算逻辑</a:t>
            </a:r>
            <a:endParaRPr lang="en-US" sz="1100"/>
          </a:p>
        </p:txBody>
      </p:sp>
      <p:sp>
        <p:nvSpPr>
          <p:cNvPr id="11" name="AutoShape 11"/>
          <p:cNvSpPr/>
          <p:nvPr/>
        </p:nvSpPr>
        <p:spPr>
          <a:xfrm>
            <a:off x="7366000" y="2667000"/>
            <a:ext cx="4064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 截取输入特征图的局部感受野区域</a:t>
            </a:r>
            <a:endParaRPr lang="en-US" sz="1100"/>
          </a:p>
          <a:p>
            <a:pPr marL="0" indent="0" algn="l">
              <a:lnSpc>
                <a:spcPct val="183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 与卷积核权重 W 进行逐元素点积运算</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83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3. 将所有乘积结果累加求和</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83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4. 叠加偏置项 b，得到最终输出值 Z</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2" name="Connector 12"/>
          <p:cNvCxnSpPr/>
          <p:nvPr/>
        </p:nvCxnSpPr>
        <p:spPr>
          <a:xfrm rot="-10742">
            <a:off x="7366010" y="4946650"/>
            <a:ext cx="4064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3" name="AutoShape 13"/>
          <p:cNvSpPr/>
          <p:nvPr/>
        </p:nvSpPr>
        <p:spPr>
          <a:xfrm>
            <a:off x="7366000" y="52070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这是卷积层的原子计算单元，负责将输入的局部信息通过线性变换转化为输出特征图上的一个像素点。它是构建深层卷积神经网络的基础，决定了特征提取的粒度与权重分配。</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卷积前向传播 conv_forward</a:t>
            </a:r>
            <a:endParaRPr lang="en-US" sz="1100"/>
          </a:p>
        </p:txBody>
      </p:sp>
      <p:sp>
        <p:nvSpPr>
          <p:cNvPr id="3" name="AutoShape 3"/>
          <p:cNvSpPr/>
          <p:nvPr/>
        </p:nvSpPr>
        <p:spPr>
          <a:xfrm>
            <a:off x="1016000" y="1524000"/>
            <a:ext cx="10414000" cy="4572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524000"/>
            <a:ext cx="10414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16256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60500" y="16256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14500" y="16256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159000" y="1600200"/>
            <a:ext cx="762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conv_forward.py</a:t>
            </a:r>
            <a:endParaRPr lang="en-US" sz="1100"/>
          </a:p>
        </p:txBody>
      </p:sp>
      <p:sp>
        <p:nvSpPr>
          <p:cNvPr id="9" name="AutoShape 9"/>
          <p:cNvSpPr/>
          <p:nvPr/>
        </p:nvSpPr>
        <p:spPr>
          <a:xfrm>
            <a:off x="1270000" y="2095500"/>
            <a:ext cx="9906000" cy="381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def conv_forward(A_prev, W, b, hparameters):</a:t>
            </a:r>
            <a:endParaRPr lang="en-US" sz="1100"/>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(m, n_H_prev, n_W_prev, n_C_prev) = A_prev.shape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(f, f, n_C_prev, n_C) = W.shape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stride = hparameters["stride"]; pad = hparameters["pad"]</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n_H = int((n_H_prev - f + 2*pad)/stride) + 1</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n_W = int((n_W_prev - f + 2*pad)/stride) + 1</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Z = np.zeros((m, n_H, n_W, n_C))</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A_prev_pad = zero_pad(A_prev, pad)</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for i in range(m): # 遍历 batch</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for h in range(n_H): # 遍历高度</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for w in range(n_W): # 遍历宽度</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for c in range(n_C): # 遍历通道</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vert = h*stride; horiz = w*stride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a_slice = A_prev_pad[i, vert:vert+f, horiz:horiz+f, :]</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Z[i,h,w,c] = conv_single_step(a_slice, W[:,:,:,c], b[:,:,:,c])</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cache = (A_prev, W, b, hparameters)</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return Z, cache</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池化前向传播 pool_forward</a:t>
            </a:r>
            <a:endParaRPr lang="en-US" sz="1100"/>
          </a:p>
        </p:txBody>
      </p:sp>
      <p:sp>
        <p:nvSpPr>
          <p:cNvPr id="3" name="AutoShape 3"/>
          <p:cNvSpPr/>
          <p:nvPr/>
        </p:nvSpPr>
        <p:spPr>
          <a:xfrm>
            <a:off x="1016000" y="1651000"/>
            <a:ext cx="5080000" cy="381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651000"/>
            <a:ext cx="5080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1790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60500" y="1790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14500" y="1790700"/>
            <a:ext cx="127000" cy="127000"/>
          </a:xfrm>
          <a:prstGeom prst="ellipse">
            <a:avLst/>
          </a:prstGeom>
          <a:solidFill>
            <a:srgbClr val="27CA3F">
              <a:alpha val="100000"/>
            </a:srgbClr>
          </a:solidFill>
          <a:ln cap="flat" cmpd="sng">
            <a:solidFill>
              <a:srgbClr val="10B1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032000" y="17272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max_pool.py</a:t>
            </a:r>
            <a:endParaRPr lang="en-US" sz="1100"/>
          </a:p>
        </p:txBody>
      </p:sp>
      <p:sp>
        <p:nvSpPr>
          <p:cNvPr id="9" name="AutoShape 9"/>
          <p:cNvSpPr/>
          <p:nvPr/>
        </p:nvSpPr>
        <p:spPr>
          <a:xfrm>
            <a:off x="1270000" y="2222500"/>
            <a:ext cx="4572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Max Pooling Implementation</a:t>
            </a:r>
            <a:endParaRPr lang="en-US" sz="1100"/>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i in range(m):</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h in range(n_H):</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w in range(n_W):</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c in range(n_C):</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vert_start = h * stride; vert_end = vert_start + f</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horiz_start = w * stride; horiz_end = horiz_start + f</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a_prev_slice = A_prev[i, vert_start:vert_end, ... , c]</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A[i, h, w, c] =</a:t>
            </a: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np.max</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(a_prev_slice)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0" name="AutoShape 10"/>
          <p:cNvSpPr/>
          <p:nvPr/>
        </p:nvSpPr>
        <p:spPr>
          <a:xfrm>
            <a:off x="6350000" y="1651000"/>
            <a:ext cx="5080000" cy="381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1651000"/>
            <a:ext cx="5080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1790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794500" y="1790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048500" y="1790700"/>
            <a:ext cx="127000" cy="127000"/>
          </a:xfrm>
          <a:prstGeom prst="ellipse">
            <a:avLst/>
          </a:prstGeom>
          <a:solidFill>
            <a:srgbClr val="27CA3F">
              <a:alpha val="100000"/>
            </a:srgbClr>
          </a:solidFill>
          <a:ln cap="flat" cmpd="sng">
            <a:solidFill>
              <a:srgbClr val="10B128">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366000" y="1727200"/>
            <a:ext cx="254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avg_pool.py</a:t>
            </a:r>
            <a:endParaRPr lang="en-US" sz="1100"/>
          </a:p>
        </p:txBody>
      </p:sp>
      <p:sp>
        <p:nvSpPr>
          <p:cNvPr id="16" name="AutoShape 16"/>
          <p:cNvSpPr/>
          <p:nvPr/>
        </p:nvSpPr>
        <p:spPr>
          <a:xfrm>
            <a:off x="6604000" y="2222500"/>
            <a:ext cx="4572000" cy="3048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Average Pooling Implementation</a:t>
            </a:r>
            <a:endParaRPr lang="en-US" sz="1100"/>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i in range(m):</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h in range(n_H):</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w in range(n_W):</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for c in range(n_C):</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vert_start = h * stride; vert_end = vert_start + f</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horiz_start = w * stride; horiz_end = horiz_start + f</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a_prev_slice = A_prev[i, vert_start:vert_end, ... , c]</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42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A[i, h, w, c] =</a:t>
            </a: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np.mean</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(a_prev_slice)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7" name="AutoShape 17"/>
          <p:cNvSpPr/>
          <p:nvPr/>
        </p:nvSpPr>
        <p:spPr>
          <a:xfrm>
            <a:off x="1016000" y="571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池化层是卷积神经网络中用于降维的关键组件，它没有需要学习的参数，仅通过核尺寸 (f) 和步幅 (stride) 这两个超参数来控制。最常用的配置是设置 f=2 且 stride=2，这能在不增加计算复杂度的前提下，将特征图的高度和宽度同时减半，有效防止过拟合并提升计算效率。</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TensorFlow / Keras 构建 CNN</a:t>
            </a:r>
            <a:endParaRPr lang="en-US" sz="1100"/>
          </a:p>
        </p:txBody>
      </p:sp>
      <p:sp>
        <p:nvSpPr>
          <p:cNvPr id="3" name="AutoShape 3"/>
          <p:cNvSpPr/>
          <p:nvPr/>
        </p:nvSpPr>
        <p:spPr>
          <a:xfrm>
            <a:off x="1016000" y="1651000"/>
            <a:ext cx="444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在掌握了卷积神经网络的底层 NumPy 实现原理后，我们可以利用 TensorFlow 与 Keras 提供的高层 API，以极简的代码快速构建、编译并训练高性能的实际 CNN 模型，专注于模型架构设计而非底层运算细节。</a:t>
            </a:r>
            <a:endParaRPr lang="en-US" sz="1100"/>
          </a:p>
        </p:txBody>
      </p:sp>
      <p:sp>
        <p:nvSpPr>
          <p:cNvPr id="4" name="AutoShape 4"/>
          <p:cNvSpPr/>
          <p:nvPr/>
        </p:nvSpPr>
        <p:spPr>
          <a:xfrm>
            <a:off x="1016000" y="3683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典型网络构建流程</a:t>
            </a:r>
            <a:endParaRPr lang="en-US" sz="1100"/>
          </a:p>
        </p:txBody>
      </p:sp>
      <p:sp>
        <p:nvSpPr>
          <p:cNvPr id="5" name="AutoShape 5"/>
          <p:cNvSpPr/>
          <p:nvPr/>
        </p:nvSpPr>
        <p:spPr>
          <a:xfrm>
            <a:off x="1016000" y="4318000"/>
            <a:ext cx="444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 卷积层 (Conv2D) → 激活函数 (ReLU)</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 池化层 (MaxPooling2D) 降维</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 展平层 (Flatten) 特征拉直</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 全连接层 (Dense) → 输出激活 (Sigmoid)</a:t>
            </a:r>
            <a:endParaRPr lang="en-US" sz="1100"/>
          </a:p>
        </p:txBody>
      </p:sp>
      <p:sp>
        <p:nvSpPr>
          <p:cNvPr id="6" name="AutoShape 6"/>
          <p:cNvSpPr/>
          <p:nvPr/>
        </p:nvSpPr>
        <p:spPr>
          <a:xfrm>
            <a:off x="6096000" y="1651000"/>
            <a:ext cx="5334000" cy="4064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096000" y="1651000"/>
            <a:ext cx="5334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286500" y="1790700"/>
            <a:ext cx="127000" cy="1270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540500" y="1790700"/>
            <a:ext cx="127000" cy="1270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794500" y="1790700"/>
            <a:ext cx="127000" cy="127000"/>
          </a:xfrm>
          <a:prstGeom prst="ellipse">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2390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cnn_architecture.py</a:t>
            </a:r>
            <a:endParaRPr lang="en-US" sz="1100"/>
          </a:p>
        </p:txBody>
      </p:sp>
      <p:sp>
        <p:nvSpPr>
          <p:cNvPr id="12" name="AutoShape 12"/>
          <p:cNvSpPr/>
          <p:nvPr/>
        </p:nvSpPr>
        <p:spPr>
          <a:xfrm>
            <a:off x="6286500" y="2286000"/>
            <a:ext cx="4953000" cy="330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 tensorflow as tf</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初始化序列模型</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model = tf.keras.Sequential([</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卷积层 + ReLU激活</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tf.keras.layers.Conv2D(32, (3,3), activation='relu'),</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tf.keras.layers.MaxPooling2D((2,2)),</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展平与分类输出</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tf.keras.layers.Flatten(),</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tf.keras.layers.Dense(1, activation='sigmoid')</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model.compile(optimizer='adam', loss='binary_crossentropy')</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Week 2：经典 CNN 网络</a:t>
            </a:r>
            <a:endParaRPr lang="en-US" sz="1100"/>
          </a:p>
        </p:txBody>
      </p:sp>
      <p:sp>
        <p:nvSpPr>
          <p:cNvPr id="3" name="AutoShape 3"/>
          <p:cNvSpPr/>
          <p:nvPr/>
        </p:nvSpPr>
        <p:spPr>
          <a:xfrm>
            <a:off x="1016000" y="1778000"/>
            <a:ext cx="5080000" cy="215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270000" y="19685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1998</a:t>
            </a:r>
            <a:endParaRPr lang="en-US" sz="1100"/>
          </a:p>
        </p:txBody>
      </p:sp>
      <p:sp>
        <p:nvSpPr>
          <p:cNvPr id="5" name="AutoShape 5"/>
          <p:cNvSpPr/>
          <p:nvPr/>
        </p:nvSpPr>
        <p:spPr>
          <a:xfrm>
            <a:off x="1270000" y="22606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LeNet-5</a:t>
            </a:r>
            <a:endParaRPr lang="en-US" sz="1100"/>
          </a:p>
        </p:txBody>
      </p:sp>
      <p:sp>
        <p:nvSpPr>
          <p:cNvPr id="6" name="AutoShape 6"/>
          <p:cNvSpPr/>
          <p:nvPr/>
        </p:nvSpPr>
        <p:spPr>
          <a:xfrm>
            <a:off x="1270000" y="2794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 Yann LeCun 提出，专为手写数字识别设计，是卷积神经网络的开山之作，奠定了深度学习在图像领域的基础。</a:t>
            </a:r>
            <a:endParaRPr lang="en-US" sz="1100"/>
          </a:p>
        </p:txBody>
      </p:sp>
      <p:sp>
        <p:nvSpPr>
          <p:cNvPr id="7" name="AutoShape 7"/>
          <p:cNvSpPr/>
          <p:nvPr/>
        </p:nvSpPr>
        <p:spPr>
          <a:xfrm>
            <a:off x="5334000" y="1778000"/>
            <a:ext cx="5080000" cy="215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588000" y="19685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2012</a:t>
            </a:r>
            <a:endParaRPr lang="en-US" sz="1100"/>
          </a:p>
        </p:txBody>
      </p:sp>
      <p:sp>
        <p:nvSpPr>
          <p:cNvPr id="9" name="AutoShape 9"/>
          <p:cNvSpPr/>
          <p:nvPr/>
        </p:nvSpPr>
        <p:spPr>
          <a:xfrm>
            <a:off x="5588000" y="22606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AlexNet</a:t>
            </a:r>
            <a:endParaRPr lang="en-US" sz="1100"/>
          </a:p>
        </p:txBody>
      </p:sp>
      <p:sp>
        <p:nvSpPr>
          <p:cNvPr id="10" name="AutoShape 10"/>
          <p:cNvSpPr/>
          <p:nvPr/>
        </p:nvSpPr>
        <p:spPr>
          <a:xfrm>
            <a:off x="5588000" y="2794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 ImageNet 竞赛中取得突破性胜利，首次引入 ReLU 激活函数、Dropout 正则化及 GPU 加速训练，大幅提升了图像分类精度。</a:t>
            </a:r>
            <a:endParaRPr lang="en-US" sz="1100"/>
          </a:p>
        </p:txBody>
      </p:sp>
      <p:sp>
        <p:nvSpPr>
          <p:cNvPr id="11" name="AutoShape 11"/>
          <p:cNvSpPr/>
          <p:nvPr/>
        </p:nvSpPr>
        <p:spPr>
          <a:xfrm>
            <a:off x="1016000" y="4191000"/>
            <a:ext cx="5080000" cy="215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270000" y="43815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2014</a:t>
            </a:r>
            <a:endParaRPr lang="en-US" sz="1100"/>
          </a:p>
        </p:txBody>
      </p:sp>
      <p:sp>
        <p:nvSpPr>
          <p:cNvPr id="13" name="AutoShape 13"/>
          <p:cNvSpPr/>
          <p:nvPr/>
        </p:nvSpPr>
        <p:spPr>
          <a:xfrm>
            <a:off x="1270000" y="46736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VGGNet</a:t>
            </a:r>
            <a:endParaRPr lang="en-US" sz="1100"/>
          </a:p>
        </p:txBody>
      </p:sp>
      <p:sp>
        <p:nvSpPr>
          <p:cNvPr id="14" name="AutoShape 14"/>
          <p:cNvSpPr/>
          <p:nvPr/>
        </p:nvSpPr>
        <p:spPr>
          <a:xfrm>
            <a:off x="1270000" y="5207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以简洁的网络结构著称，通过堆叠大量 3×3 小卷积核加深网络深度，特征提取能力极强，成为后续网络设计的重要参考。</a:t>
            </a:r>
            <a:endParaRPr lang="en-US" sz="1100"/>
          </a:p>
        </p:txBody>
      </p:sp>
      <p:sp>
        <p:nvSpPr>
          <p:cNvPr id="15" name="AutoShape 15"/>
          <p:cNvSpPr/>
          <p:nvPr/>
        </p:nvSpPr>
        <p:spPr>
          <a:xfrm>
            <a:off x="5334000" y="4191000"/>
            <a:ext cx="5080000" cy="215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5588000" y="4381500"/>
            <a:ext cx="457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2015</a:t>
            </a:r>
            <a:endParaRPr lang="en-US" sz="1100"/>
          </a:p>
        </p:txBody>
      </p:sp>
      <p:sp>
        <p:nvSpPr>
          <p:cNvPr id="17" name="AutoShape 17"/>
          <p:cNvSpPr/>
          <p:nvPr/>
        </p:nvSpPr>
        <p:spPr>
          <a:xfrm>
            <a:off x="5588000" y="4673600"/>
            <a:ext cx="4572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ResNet</a:t>
            </a:r>
            <a:endParaRPr lang="en-US" sz="1100"/>
          </a:p>
        </p:txBody>
      </p:sp>
      <p:sp>
        <p:nvSpPr>
          <p:cNvPr id="18" name="AutoShape 18"/>
          <p:cNvSpPr/>
          <p:nvPr/>
        </p:nvSpPr>
        <p:spPr>
          <a:xfrm>
            <a:off x="5588000" y="52070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引入残差连接（Skip Connection）巧妙解决了深层网络的退化问题，成功训练了超过 150 层的极深卷积神经网络。</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LeNet-5</a:t>
            </a:r>
            <a:endParaRPr lang="en-US" sz="1100"/>
          </a:p>
        </p:txBody>
      </p:sp>
      <p:sp>
        <p:nvSpPr>
          <p:cNvPr id="3" name="AutoShape 3"/>
          <p:cNvSpPr/>
          <p:nvPr/>
        </p:nvSpPr>
        <p:spPr>
          <a:xfrm>
            <a:off x="1016000" y="1651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网络概述</a:t>
            </a:r>
            <a:endParaRPr lang="en-US" sz="1100"/>
          </a:p>
        </p:txBody>
      </p:sp>
      <p:sp>
        <p:nvSpPr>
          <p:cNvPr id="4" name="AutoShape 4"/>
          <p:cNvSpPr/>
          <p:nvPr/>
        </p:nvSpPr>
        <p:spPr>
          <a:xfrm>
            <a:off x="1016000" y="2159000"/>
            <a:ext cx="444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由 Yann LeCun 于 1998 年提出，是卷积神经网络（CNN）的开山之作。专为手写数字识别（MNIST 数据集）设计，奠定了现代深度学习中卷积神经网络的基础架构。</a:t>
            </a:r>
            <a:endParaRPr lang="en-US" sz="1100"/>
          </a:p>
        </p:txBody>
      </p:sp>
      <p:sp>
        <p:nvSpPr>
          <p:cNvPr id="5" name="AutoShape 5"/>
          <p:cNvSpPr/>
          <p:nvPr/>
        </p:nvSpPr>
        <p:spPr>
          <a:xfrm>
            <a:off x="1016000" y="38100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核心特点</a:t>
            </a:r>
            <a:endParaRPr lang="en-US" sz="1100"/>
          </a:p>
        </p:txBody>
      </p:sp>
      <p:sp>
        <p:nvSpPr>
          <p:cNvPr id="6" name="AutoShape 6"/>
          <p:cNvSpPr/>
          <p:nvPr/>
        </p:nvSpPr>
        <p:spPr>
          <a:xfrm>
            <a:off x="1016000" y="4318000"/>
            <a:ext cx="4445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采用 5×5 卷积核进行特征提取，感受野适中</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使用平均池化（Average Pooling）压缩特征维度</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末端通过全连接层映射到 10 分类输出</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结构简洁，共 7 层可训练参数，计算效率极高</a:t>
            </a:r>
            <a:endParaRPr lang="en-US" sz="1100"/>
          </a:p>
        </p:txBody>
      </p:sp>
      <p:sp>
        <p:nvSpPr>
          <p:cNvPr id="7" name="AutoShape 7"/>
          <p:cNvSpPr/>
          <p:nvPr/>
        </p:nvSpPr>
        <p:spPr>
          <a:xfrm>
            <a:off x="6096000" y="16510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096000" y="16510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 32×32×1 (Grayscale Image)</a:t>
            </a:r>
            <a:endParaRPr lang="en-US" sz="1100"/>
          </a:p>
        </p:txBody>
      </p:sp>
      <p:sp>
        <p:nvSpPr>
          <p:cNvPr id="9" name="AutoShape 9"/>
          <p:cNvSpPr/>
          <p:nvPr/>
        </p:nvSpPr>
        <p:spPr>
          <a:xfrm>
            <a:off x="6096000" y="23114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096000" y="23114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C1: Conv 5×5, 6 Kernels → 28×28×6</a:t>
            </a:r>
            <a:endParaRPr lang="en-US" sz="1100"/>
          </a:p>
        </p:txBody>
      </p:sp>
      <p:sp>
        <p:nvSpPr>
          <p:cNvPr id="11" name="AutoShape 11"/>
          <p:cNvSpPr/>
          <p:nvPr/>
        </p:nvSpPr>
        <p:spPr>
          <a:xfrm>
            <a:off x="6096000" y="29718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096000" y="29718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S2: Avg Pool 2×2, Stride 2 → 14×14×6</a:t>
            </a:r>
            <a:endParaRPr lang="en-US" sz="1100"/>
          </a:p>
        </p:txBody>
      </p:sp>
      <p:sp>
        <p:nvSpPr>
          <p:cNvPr id="13" name="AutoShape 13"/>
          <p:cNvSpPr/>
          <p:nvPr/>
        </p:nvSpPr>
        <p:spPr>
          <a:xfrm>
            <a:off x="6096000" y="36322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096000" y="36322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C3: Conv 5×5, 16 Kernels → 10×10×16</a:t>
            </a:r>
            <a:endParaRPr lang="en-US" sz="1100"/>
          </a:p>
        </p:txBody>
      </p:sp>
      <p:sp>
        <p:nvSpPr>
          <p:cNvPr id="15" name="AutoShape 15"/>
          <p:cNvSpPr/>
          <p:nvPr/>
        </p:nvSpPr>
        <p:spPr>
          <a:xfrm>
            <a:off x="6096000" y="42926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096000" y="42926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S4: Avg Pool 2×2, Stride 2 → 5×5×16</a:t>
            </a:r>
            <a:endParaRPr lang="en-US" sz="1100"/>
          </a:p>
        </p:txBody>
      </p:sp>
      <p:sp>
        <p:nvSpPr>
          <p:cNvPr id="17" name="AutoShape 17"/>
          <p:cNvSpPr/>
          <p:nvPr/>
        </p:nvSpPr>
        <p:spPr>
          <a:xfrm>
            <a:off x="6096000" y="4953000"/>
            <a:ext cx="5334000" cy="5334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096000" y="49530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F5 → F6: Fully Connected (120 → 84 → 10)</a:t>
            </a:r>
            <a:endParaRPr lang="en-US" sz="1100"/>
          </a:p>
        </p:txBody>
      </p:sp>
      <p:sp>
        <p:nvSpPr>
          <p:cNvPr id="19" name="AutoShape 19"/>
          <p:cNvSpPr/>
          <p:nvPr/>
        </p:nvSpPr>
        <p:spPr>
          <a:xfrm>
            <a:off x="6096000" y="5613400"/>
            <a:ext cx="5334000" cy="533400"/>
          </a:xfrm>
          <a:prstGeom prst="roundRect">
            <a:avLst>
              <a:gd name="adj" fmla="val 0"/>
            </a:avLst>
          </a:prstGeom>
          <a:solidFill>
            <a:srgbClr val="065F46">
              <a:alpha val="10000"/>
            </a:srgbClr>
          </a:solidFill>
          <a:ln cap="flat" cmpd="sng">
            <a:solidFill>
              <a:srgbClr val="004632">
                <a:alpha val="1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096000" y="5613400"/>
            <a:ext cx="5334000" cy="533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 Softmax (10 Classes for Digits 0-9)</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1 实验总结</a:t>
            </a:r>
            <a:endParaRPr lang="en-US" sz="1100"/>
          </a:p>
        </p:txBody>
      </p:sp>
      <p:sp>
        <p:nvSpPr>
          <p:cNvPr id="3" name="AutoShape 3"/>
          <p:cNvSpPr/>
          <p:nvPr/>
        </p:nvSpPr>
        <p:spPr>
          <a:xfrm>
            <a:off x="1016000" y="1651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完成内容</a:t>
            </a:r>
            <a:endParaRPr lang="en-US" sz="1100"/>
          </a:p>
        </p:txBody>
      </p:sp>
      <p:sp>
        <p:nvSpPr>
          <p:cNvPr id="4" name="AutoShape 4"/>
          <p:cNvSpPr/>
          <p:nvPr/>
        </p:nvSpPr>
        <p:spPr>
          <a:xfrm>
            <a:off x="1016000" y="2540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Zero Padding 边界填充策略实现</a:t>
            </a:r>
            <a:endParaRPr lang="en-US" sz="1100"/>
          </a:p>
        </p:txBody>
      </p:sp>
      <p:sp>
        <p:nvSpPr>
          <p:cNvPr id="5" name="AutoShape 5"/>
          <p:cNvSpPr/>
          <p:nvPr/>
        </p:nvSpPr>
        <p:spPr>
          <a:xfrm>
            <a:off x="1016000" y="33655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单步卷积 conv_single_step 核心函数编写</a:t>
            </a:r>
            <a:endParaRPr lang="en-US" sz="1100"/>
          </a:p>
        </p:txBody>
      </p:sp>
      <p:sp>
        <p:nvSpPr>
          <p:cNvPr id="6" name="AutoShape 6"/>
          <p:cNvSpPr/>
          <p:nvPr/>
        </p:nvSpPr>
        <p:spPr>
          <a:xfrm>
            <a:off x="1016000" y="41910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卷积层前向传播 conv_forward 逻辑构建</a:t>
            </a:r>
            <a:endParaRPr lang="en-US" sz="1100"/>
          </a:p>
        </p:txBody>
      </p:sp>
      <p:sp>
        <p:nvSpPr>
          <p:cNvPr id="7" name="AutoShape 7"/>
          <p:cNvSpPr/>
          <p:nvPr/>
        </p:nvSpPr>
        <p:spPr>
          <a:xfrm>
            <a:off x="1016000" y="50165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Max Pooling 最大值池化层的底层运算</a:t>
            </a:r>
            <a:endParaRPr lang="en-US" sz="1100"/>
          </a:p>
        </p:txBody>
      </p:sp>
      <p:sp>
        <p:nvSpPr>
          <p:cNvPr id="8" name="AutoShape 8"/>
          <p:cNvSpPr/>
          <p:nvPr/>
        </p:nvSpPr>
        <p:spPr>
          <a:xfrm>
            <a:off x="6604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学习成果</a:t>
            </a:r>
            <a:endParaRPr lang="en-US" sz="1100"/>
          </a:p>
        </p:txBody>
      </p:sp>
      <p:sp>
        <p:nvSpPr>
          <p:cNvPr id="9" name="AutoShape 9"/>
          <p:cNvSpPr/>
          <p:nvPr/>
        </p:nvSpPr>
        <p:spPr>
          <a:xfrm>
            <a:off x="6604000" y="2413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从数学原理层面深度理解了卷积与池化的计算过程，包括输出特征图尺寸的推导公式、多层嵌套循环的遍历逻辑，以及卷积核与局部感受野的逐元素乘加运算。通过手动实现底层代码，将抽象的理论转化为可执行的逻辑。</a:t>
            </a:r>
            <a:endParaRPr lang="en-US" sz="1100"/>
          </a:p>
        </p:txBody>
      </p:sp>
      <p:sp>
        <p:nvSpPr>
          <p:cNvPr id="10" name="AutoShape 10"/>
          <p:cNvSpPr/>
          <p:nvPr/>
        </p:nvSpPr>
        <p:spPr>
          <a:xfrm>
            <a:off x="6604000" y="4572000"/>
            <a:ext cx="4826000" cy="1524000"/>
          </a:xfrm>
          <a:prstGeom prst="roundRect">
            <a:avLst>
              <a:gd name="adj" fmla="val 0"/>
            </a:avLst>
          </a:prstGeom>
          <a:solidFill>
            <a:srgbClr val="F0FDF4">
              <a:alpha val="10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794500" y="47625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不再是只会调用 Conv2D() 的“调包侠”，而是真正理解每一个 stride、padding 和 kernel_size 背后的运算细节，建立起对卷积神经网络底层机制的硬核认知。</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AlexNet</a:t>
            </a:r>
            <a:endParaRPr lang="en-US" sz="1100"/>
          </a:p>
        </p:txBody>
      </p:sp>
      <p:sp>
        <p:nvSpPr>
          <p:cNvPr id="3" name="AutoShape 3"/>
          <p:cNvSpPr/>
          <p:nvPr/>
        </p:nvSpPr>
        <p:spPr>
          <a:xfrm>
            <a:off x="1016000" y="1651000"/>
            <a:ext cx="508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2012年 ImageNet 竞赛的里程碑式突破，将 Top-5 错误率从传统方法的 26% 大幅降至 15.3%，一举打破了计算机视觉领域的僵局，正式推动深度学习成为该领域的主流范式。</a:t>
            </a:r>
            <a:endParaRPr lang="en-US" sz="1100"/>
          </a:p>
        </p:txBody>
      </p:sp>
      <p:sp>
        <p:nvSpPr>
          <p:cNvPr id="4" name="AutoShape 4"/>
          <p:cNvSpPr/>
          <p:nvPr/>
        </p:nvSpPr>
        <p:spPr>
          <a:xfrm>
            <a:off x="1016000" y="3556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核心技术创新</a:t>
            </a:r>
            <a:endParaRPr lang="en-US" sz="1100"/>
          </a:p>
        </p:txBody>
      </p:sp>
      <p:sp>
        <p:nvSpPr>
          <p:cNvPr id="5" name="AutoShape 5"/>
          <p:cNvSpPr/>
          <p:nvPr/>
        </p:nvSpPr>
        <p:spPr>
          <a:xfrm>
            <a:off x="1016000" y="4127500"/>
            <a:ext cx="5080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首创 8 层深度卷积结构，远超同期浅层模型的特征提取能力</a:t>
            </a:r>
            <a:endParaRPr lang="en-US" sz="1100"/>
          </a:p>
          <a:p>
            <a:pPr marL="0" indent="0" algn="l">
              <a:lnSpc>
                <a:spcPct val="167000"/>
              </a:lnSpc>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引入 ReLU 激活函数，彻底解决深层网络的梯度消失难题</a:t>
            </a:r>
            <a:endPar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采用 Dropout 正则化机制，有效抑制大规模参数下的过拟合</a:t>
            </a:r>
            <a:endPar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实现双 GPU 并行训练，大幅提升了超大规模网络的训练效率</a:t>
            </a:r>
            <a:endPar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604000" y="1651000"/>
            <a:ext cx="4826000" cy="355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756400" y="1790700"/>
            <a:ext cx="127000" cy="1270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985000" y="1790700"/>
            <a:ext cx="127000" cy="127000"/>
          </a:xfrm>
          <a:prstGeom prst="ellipse">
            <a:avLst/>
          </a:prstGeom>
          <a:solidFill>
            <a:srgbClr val="F59E0B">
              <a:alpha val="100000"/>
            </a:srgbClr>
          </a:solidFill>
          <a:ln cap="flat" cmpd="sng">
            <a:solidFill>
              <a:srgbClr val="DC8A0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7213600" y="1790700"/>
            <a:ext cx="127000" cy="127000"/>
          </a:xfrm>
          <a:prstGeom prst="ellipse">
            <a:avLst/>
          </a:prstGeom>
          <a:solidFill>
            <a:srgbClr val="10B981">
              <a:alpha val="100000"/>
            </a:srgbClr>
          </a:solidFill>
          <a:ln cap="flat" cmpd="sng">
            <a:solidFill>
              <a:srgbClr val="00A06B">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alexnet_arch.py</a:t>
            </a:r>
            <a:endParaRPr lang="en-US" sz="1100"/>
          </a:p>
        </p:txBody>
      </p:sp>
      <p:sp>
        <p:nvSpPr>
          <p:cNvPr id="12" name="AutoShape 12"/>
          <p:cNvSpPr/>
          <p:nvPr/>
        </p:nvSpPr>
        <p:spPr>
          <a:xfrm>
            <a:off x="6794500" y="2222500"/>
            <a:ext cx="4508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tensorflow</a:t>
            </a: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as</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a:t>
            </a:r>
            <a:endParaRPr lang="en-US" sz="1100"/>
          </a:p>
          <a:p>
            <a:pPr marL="0" indent="0" algn="l">
              <a:lnSpc>
                <a:spcPct val="133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AlexNet Core Architecture</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model = tf.keras.Sequential([</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tf.keras.layers.Conv2D(96, 11, strides=4, activation=</a:t>
            </a:r>
            <a:r>
              <a:rPr lang="en-US" sz="1300" b="0" i="0" u="none" strike="noStrike">
                <a:solidFill>
                  <a:srgbClr val="CE9178"/>
                </a:solidFill>
                <a:latin typeface="Consolas" panose="020B0609020204030204"/>
                <a:ea typeface="Consolas" panose="020B0609020204030204"/>
                <a:cs typeface="Consolas" panose="020B0609020204030204"/>
                <a:sym typeface="Consolas" panose="020B0609020204030204"/>
              </a:rPr>
              <a:t>'relu'</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tf.keras.layers.MaxPool2D(3, strides=2),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tf.keras.layers.Conv2D(256, 5, padding=</a:t>
            </a:r>
            <a:r>
              <a:rPr lang="en-US" sz="1300" b="0" i="0" u="none" strike="noStrike">
                <a:solidFill>
                  <a:srgbClr val="CE9178"/>
                </a:solidFill>
                <a:latin typeface="Consolas" panose="020B0609020204030204"/>
                <a:ea typeface="Consolas" panose="020B0609020204030204"/>
                <a:cs typeface="Consolas" panose="020B0609020204030204"/>
                <a:sym typeface="Consolas" panose="020B0609020204030204"/>
              </a:rPr>
              <a:t>'same'</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activation=</a:t>
            </a:r>
            <a:r>
              <a:rPr lang="en-US" sz="1300" b="0" i="0" u="none" strike="noStrike">
                <a:solidFill>
                  <a:srgbClr val="CE9178"/>
                </a:solidFill>
                <a:latin typeface="Consolas" panose="020B0609020204030204"/>
                <a:ea typeface="Consolas" panose="020B0609020204030204"/>
                <a:cs typeface="Consolas" panose="020B0609020204030204"/>
                <a:sym typeface="Consolas" panose="020B0609020204030204"/>
              </a:rPr>
              <a:t>'relu'</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tf.keras.layers.Dropout(0.5),</a:t>
            </a: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Prevent Overfitting</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tf.keras.layers.Dense(1000, activation=</a:t>
            </a:r>
            <a:r>
              <a:rPr lang="en-US" sz="1300" b="0" i="0" u="none" strike="noStrike">
                <a:solidFill>
                  <a:srgbClr val="CE9178"/>
                </a:solidFill>
                <a:latin typeface="Consolas" panose="020B0609020204030204"/>
                <a:ea typeface="Consolas" panose="020B0609020204030204"/>
                <a:cs typeface="Consolas" panose="020B0609020204030204"/>
                <a:sym typeface="Consolas" panose="020B0609020204030204"/>
              </a:rPr>
              <a:t>'softmax'</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3" name="AutoShape 13"/>
          <p:cNvSpPr/>
          <p:nvPr/>
        </p:nvSpPr>
        <p:spPr>
          <a:xfrm>
            <a:off x="6604000" y="5397500"/>
            <a:ext cx="4826000" cy="8255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5486400"/>
            <a:ext cx="4572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历史意义：</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AlexNet 不仅是一次比赛的胜利，更是深度学习从理论走向工程化应用的关键转折点，为后续 VGG、ResNet 等经典模型奠定了坚实基础。</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VGGNet</a:t>
            </a:r>
            <a:endParaRPr lang="en-US" sz="1100"/>
          </a:p>
        </p:txBody>
      </p:sp>
      <p:sp>
        <p:nvSpPr>
          <p:cNvPr id="3" name="AutoShape 3"/>
          <p:cNvSpPr/>
          <p:nvPr/>
        </p:nvSpPr>
        <p:spPr>
          <a:xfrm>
            <a:off x="1016000" y="1651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6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牛津大学 VGG 组于2014年提出的经典卷积神经网络架构，其核心创新在于通过堆叠多个 3×3 的小卷积核来替代大卷积核，在减少参数量的同时，通过加深网络深度显著提升了特征提取能力。</a:t>
            </a:r>
            <a:endParaRPr lang="en-US" sz="1100"/>
          </a:p>
        </p:txBody>
      </p:sp>
      <p:sp>
        <p:nvSpPr>
          <p:cNvPr id="4" name="AutoShape 4"/>
          <p:cNvSpPr/>
          <p:nvPr/>
        </p:nvSpPr>
        <p:spPr>
          <a:xfrm>
            <a:off x="1016000" y="3048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设计哲学：小核堆叠的力量</a:t>
            </a:r>
            <a:endParaRPr lang="en-US" sz="1100"/>
          </a:p>
        </p:txBody>
      </p:sp>
      <p:sp>
        <p:nvSpPr>
          <p:cNvPr id="5" name="AutoShape 5"/>
          <p:cNvSpPr/>
          <p:nvPr/>
        </p:nvSpPr>
        <p:spPr>
          <a:xfrm>
            <a:off x="1016000" y="3556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连续的 3×3 卷积核拥有与 5×5 或 7×7 大核相同的感受野，但参数量仅为其 1/3 左右，且引入了更多的非线性激活层，增强了模型的表达能力。</a:t>
            </a:r>
            <a:endParaRPr lang="en-US" sz="1100"/>
          </a:p>
        </p:txBody>
      </p:sp>
      <p:sp>
        <p:nvSpPr>
          <p:cNvPr id="6" name="AutoShape 6"/>
          <p:cNvSpPr/>
          <p:nvPr/>
        </p:nvSpPr>
        <p:spPr>
          <a:xfrm>
            <a:off x="1016000" y="4572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模型特征总结</a:t>
            </a:r>
            <a:endParaRPr lang="en-US" sz="1100"/>
          </a:p>
        </p:txBody>
      </p:sp>
      <p:sp>
        <p:nvSpPr>
          <p:cNvPr id="7" name="AutoShape 7"/>
          <p:cNvSpPr/>
          <p:nvPr/>
        </p:nvSpPr>
        <p:spPr>
          <a:xfrm>
            <a:off x="1016000" y="50800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结构极度规整，模块化设计，易于理解与复现</a:t>
            </a:r>
            <a:endParaRPr lang="en-US" sz="1100"/>
          </a:p>
        </p:txBody>
      </p:sp>
      <p:sp>
        <p:nvSpPr>
          <p:cNvPr id="8" name="AutoShape 8"/>
          <p:cNvSpPr/>
          <p:nvPr/>
        </p:nvSpPr>
        <p:spPr>
          <a:xfrm>
            <a:off x="1016000" y="54610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参数量庞大（约1.38亿），对计算资源和显存要求较高</a:t>
            </a:r>
            <a:endParaRPr lang="en-US" sz="1100"/>
          </a:p>
        </p:txBody>
      </p:sp>
      <p:sp>
        <p:nvSpPr>
          <p:cNvPr id="9" name="AutoShape 9"/>
          <p:cNvSpPr/>
          <p:nvPr/>
        </p:nvSpPr>
        <p:spPr>
          <a:xfrm>
            <a:off x="1016000" y="5842000"/>
            <a:ext cx="4826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全连接层占据了绝大多数参数，是模型压缩的重点方向</a:t>
            </a:r>
            <a:endParaRPr lang="en-US" sz="1100"/>
          </a:p>
        </p:txBody>
      </p:sp>
      <p:sp>
        <p:nvSpPr>
          <p:cNvPr id="10" name="AutoShape 10"/>
          <p:cNvSpPr/>
          <p:nvPr/>
        </p:nvSpPr>
        <p:spPr>
          <a:xfrm>
            <a:off x="6350000" y="1651000"/>
            <a:ext cx="5080000" cy="3302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350000" y="1651000"/>
            <a:ext cx="5080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540500" y="1790700"/>
            <a:ext cx="127000" cy="1270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794500" y="1790700"/>
            <a:ext cx="127000" cy="127000"/>
          </a:xfrm>
          <a:prstGeom prst="ellipse">
            <a:avLst/>
          </a:prstGeom>
          <a:solidFill>
            <a:srgbClr val="EAB308">
              <a:alpha val="100000"/>
            </a:srgbClr>
          </a:solidFill>
          <a:ln cap="flat" cmpd="sng">
            <a:solidFill>
              <a:srgbClr val="D19E0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048500" y="1790700"/>
            <a:ext cx="127000" cy="127000"/>
          </a:xfrm>
          <a:prstGeom prst="ellipse">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4930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vgg16_arch.py</a:t>
            </a:r>
            <a:endParaRPr lang="en-US" sz="1100"/>
          </a:p>
        </p:txBody>
      </p:sp>
      <p:sp>
        <p:nvSpPr>
          <p:cNvPr id="16" name="AutoShape 16"/>
          <p:cNvSpPr/>
          <p:nvPr/>
        </p:nvSpPr>
        <p:spPr>
          <a:xfrm>
            <a:off x="6540500" y="2222500"/>
            <a:ext cx="4699000" cy="260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Configuration for VGG-16</a:t>
            </a:r>
            <a:endParaRPr lang="en-US" sz="1100"/>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block1: [Conv3x3(64)] * 2 → MaxPool(2)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block2: [Conv3x3(128)] * 2 → MaxPool(2)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block3: [Conv3x3(256)] * 3 → MaxPool(2)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block4: [Conv3x3(512)] * 3 → MaxPool(2)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block5: [Conv3x3(512)] * 3 → MaxPool(2)</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Classifier: 3 Fully Connected Layers</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p:txBody>
      </p:sp>
      <p:sp>
        <p:nvSpPr>
          <p:cNvPr id="17" name="AutoShape 17"/>
          <p:cNvSpPr/>
          <p:nvPr/>
        </p:nvSpPr>
        <p:spPr>
          <a:xfrm>
            <a:off x="6350000" y="5207000"/>
            <a:ext cx="1600200" cy="1143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413500" y="5334000"/>
            <a:ext cx="14732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深度优势</a:t>
            </a:r>
            <a:endParaRPr lang="en-US" sz="1100"/>
          </a:p>
          <a:p>
            <a:pPr marL="0" indent="0" algn="ctr">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网络越深，特征层级越丰富，语义理解更透彻</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077200" y="5207000"/>
            <a:ext cx="1600200" cy="1143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8140700" y="5334000"/>
            <a:ext cx="14732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参数效率</a:t>
            </a:r>
            <a:endParaRPr lang="en-US" sz="1100"/>
          </a:p>
          <a:p>
            <a:pPr marL="0" indent="0" algn="ctr">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小卷积核大幅降低参数量，提升计算效率</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9817100" y="5207000"/>
            <a:ext cx="1612900" cy="1143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880600" y="5334000"/>
            <a:ext cx="14859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广泛应用</a:t>
            </a:r>
            <a:endParaRPr lang="en-US" sz="1100"/>
          </a:p>
          <a:p>
            <a:pPr marL="0" indent="0" algn="ctr">
              <a:lnSpc>
                <a:spcPct val="108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作为预训练模型，赋能各类视觉下游任务</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ResNet 残差网络</a:t>
            </a:r>
            <a:endParaRPr lang="en-US" sz="1100"/>
          </a:p>
        </p:txBody>
      </p:sp>
      <p:sp>
        <p:nvSpPr>
          <p:cNvPr id="3" name="AutoShape 3"/>
          <p:cNvSpPr/>
          <p:nvPr/>
        </p:nvSpPr>
        <p:spPr>
          <a:xfrm>
            <a:off x="1016000" y="16510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核心思想：Skip Connection (捷径连接)</a:t>
            </a:r>
            <a:endParaRPr lang="en-US" sz="1100"/>
          </a:p>
        </p:txBody>
      </p:sp>
      <p:sp>
        <p:nvSpPr>
          <p:cNvPr id="4" name="AutoShape 4"/>
          <p:cNvSpPr/>
          <p:nvPr/>
        </p:nvSpPr>
        <p:spPr>
          <a:xfrm>
            <a:off x="1016000" y="2286000"/>
            <a:ext cx="482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传统卷积网络在加深时会面临梯度消失与退化问题。ResNet 引入“恒等映射”捷径，让输入 x 绕过卷积层直接与输出特征相加，迫使网络专注学习残差 F(x) = H(x) - x，从而有效训练超过 1000 层的深层网络。</a:t>
            </a:r>
            <a:endParaRPr lang="en-US" sz="1100"/>
          </a:p>
        </p:txBody>
      </p:sp>
      <p:sp>
        <p:nvSpPr>
          <p:cNvPr id="5" name="AutoShape 5"/>
          <p:cNvSpPr/>
          <p:nvPr/>
        </p:nvSpPr>
        <p:spPr>
          <a:xfrm>
            <a:off x="1016000" y="4127500"/>
            <a:ext cx="4572000" cy="889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016000" y="4368800"/>
            <a:ext cx="457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D4D4D4"/>
                </a:solidFill>
                <a:latin typeface="Consolas" panose="020B0609020204030204"/>
                <a:ea typeface="Consolas" panose="020B0609020204030204"/>
                <a:cs typeface="Consolas" panose="020B0609020204030204"/>
                <a:sym typeface="Consolas" panose="020B0609020204030204"/>
              </a:rPr>
              <a:t>a[l+2] = g( W[l+2]·a[l+1] + b[l+2] + a[l] )</a:t>
            </a:r>
            <a:endParaRPr lang="en-US" sz="1100"/>
          </a:p>
        </p:txBody>
      </p:sp>
      <p:sp>
        <p:nvSpPr>
          <p:cNvPr id="7" name="AutoShape 7"/>
          <p:cNvSpPr/>
          <p:nvPr/>
        </p:nvSpPr>
        <p:spPr>
          <a:xfrm>
            <a:off x="1016000" y="53975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 g 为 ReLU 激活函数，a[l] 代表第 l 层的特征映射。恒等映射不增加额外参数与计算量，却能极大提升模型的收敛速度与准确率。</a:t>
            </a:r>
            <a:endParaRPr lang="en-US" sz="1100"/>
          </a:p>
        </p:txBody>
      </p:sp>
      <p:sp>
        <p:nvSpPr>
          <p:cNvPr id="8" name="AutoShape 8"/>
          <p:cNvSpPr/>
          <p:nvPr/>
        </p:nvSpPr>
        <p:spPr>
          <a:xfrm>
            <a:off x="7747000" y="1651000"/>
            <a:ext cx="1016000" cy="508000"/>
          </a:xfrm>
          <a:prstGeom prst="roundRect">
            <a:avLst>
              <a:gd name="adj" fmla="val 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7747000" y="1752600"/>
            <a:ext cx="101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 x</a:t>
            </a:r>
            <a:endParaRPr lang="en-US" sz="1100"/>
          </a:p>
        </p:txBody>
      </p:sp>
      <p:cxnSp>
        <p:nvCxnSpPr>
          <p:cNvPr id="10" name="Connector 10"/>
          <p:cNvCxnSpPr/>
          <p:nvPr/>
        </p:nvCxnSpPr>
        <p:spPr>
          <a:xfrm rot="5262563">
            <a:off x="8096250" y="23115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11" name="AutoShape 11"/>
          <p:cNvSpPr/>
          <p:nvPr/>
        </p:nvSpPr>
        <p:spPr>
          <a:xfrm>
            <a:off x="7366000" y="2476500"/>
            <a:ext cx="2540000" cy="508000"/>
          </a:xfrm>
          <a:prstGeom prst="roundRect">
            <a:avLst>
              <a:gd name="adj" fmla="val 0"/>
            </a:avLst>
          </a:prstGeom>
          <a:solidFill>
            <a:srgbClr val="E5E7EB">
              <a:alpha val="100000"/>
            </a:srgbClr>
          </a:solidFill>
          <a:ln cap="flat" cmpd="sng">
            <a:solidFill>
              <a:srgbClr val="B7C0D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366000" y="2578100"/>
            <a:ext cx="254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Conv2d + BN + ReLU</a:t>
            </a:r>
            <a:endParaRPr lang="en-US" sz="1100"/>
          </a:p>
        </p:txBody>
      </p:sp>
      <p:cxnSp>
        <p:nvCxnSpPr>
          <p:cNvPr id="13" name="Connector 13"/>
          <p:cNvCxnSpPr/>
          <p:nvPr/>
        </p:nvCxnSpPr>
        <p:spPr>
          <a:xfrm rot="5262563">
            <a:off x="8096250" y="31370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14" name="AutoShape 14"/>
          <p:cNvSpPr/>
          <p:nvPr/>
        </p:nvSpPr>
        <p:spPr>
          <a:xfrm>
            <a:off x="7366000" y="3302000"/>
            <a:ext cx="2540000" cy="508000"/>
          </a:xfrm>
          <a:prstGeom prst="roundRect">
            <a:avLst>
              <a:gd name="adj" fmla="val 0"/>
            </a:avLst>
          </a:prstGeom>
          <a:solidFill>
            <a:srgbClr val="E5E7EB">
              <a:alpha val="100000"/>
            </a:srgbClr>
          </a:solidFill>
          <a:ln cap="flat" cmpd="sng">
            <a:solidFill>
              <a:srgbClr val="B7C0D2">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7366000" y="3403600"/>
            <a:ext cx="254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Conv2d + BN</a:t>
            </a:r>
            <a:endParaRPr lang="en-US" sz="1100"/>
          </a:p>
        </p:txBody>
      </p:sp>
      <p:cxnSp>
        <p:nvCxnSpPr>
          <p:cNvPr id="16" name="Connector 16"/>
          <p:cNvCxnSpPr/>
          <p:nvPr/>
        </p:nvCxnSpPr>
        <p:spPr>
          <a:xfrm rot="5262563">
            <a:off x="8096250" y="39625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17" name="Connector 17"/>
          <p:cNvCxnSpPr/>
          <p:nvPr/>
        </p:nvCxnSpPr>
        <p:spPr>
          <a:xfrm rot="-31251">
            <a:off x="8763029" y="1898650"/>
            <a:ext cx="1397000" cy="12700"/>
          </a:xfrm>
          <a:prstGeom prst="line">
            <a:avLst/>
          </a:prstGeom>
          <a:solidFill>
            <a:srgbClr val="DEE0E3">
              <a:alpha val="100000"/>
            </a:srgbClr>
          </a:solidFill>
          <a:ln w="25400" cap="flat" cmpd="sng">
            <a:solidFill>
              <a:srgbClr val="6A9955">
                <a:alpha val="100000"/>
              </a:srgbClr>
            </a:solidFill>
            <a:prstDash val="solid"/>
            <a:round/>
            <a:headEnd type="none" w="lg" len="lg"/>
            <a:tailEnd type="none" w="lg" len="lg"/>
          </a:ln>
        </p:spPr>
      </p:cxnSp>
      <p:cxnSp>
        <p:nvCxnSpPr>
          <p:cNvPr id="18" name="Connector 18"/>
          <p:cNvCxnSpPr/>
          <p:nvPr/>
        </p:nvCxnSpPr>
        <p:spPr>
          <a:xfrm rot="5380355">
            <a:off x="9048750" y="3009918"/>
            <a:ext cx="2222500" cy="12700"/>
          </a:xfrm>
          <a:prstGeom prst="line">
            <a:avLst/>
          </a:prstGeom>
          <a:solidFill>
            <a:srgbClr val="DEE0E3">
              <a:alpha val="100000"/>
            </a:srgbClr>
          </a:solidFill>
          <a:ln w="25400" cap="flat" cmpd="sng">
            <a:solidFill>
              <a:srgbClr val="6A9955">
                <a:alpha val="100000"/>
              </a:srgbClr>
            </a:solidFill>
            <a:prstDash val="solid"/>
            <a:round/>
            <a:headEnd type="none" w="lg" len="lg"/>
            <a:tailEnd type="none" w="lg" len="lg"/>
          </a:ln>
        </p:spPr>
      </p:cxnSp>
      <p:cxnSp>
        <p:nvCxnSpPr>
          <p:cNvPr id="19" name="Connector 19"/>
          <p:cNvCxnSpPr/>
          <p:nvPr/>
        </p:nvCxnSpPr>
        <p:spPr>
          <a:xfrm rot="10750892">
            <a:off x="9270955" y="4121150"/>
            <a:ext cx="889000" cy="12700"/>
          </a:xfrm>
          <a:prstGeom prst="line">
            <a:avLst/>
          </a:prstGeom>
          <a:solidFill>
            <a:srgbClr val="DEE0E3">
              <a:alpha val="100000"/>
            </a:srgbClr>
          </a:solidFill>
          <a:ln w="25400" cap="flat" cmpd="sng">
            <a:solidFill>
              <a:srgbClr val="6A9955">
                <a:alpha val="100000"/>
              </a:srgbClr>
            </a:solidFill>
            <a:prstDash val="solid"/>
            <a:round/>
            <a:headEnd type="none" w="lg" len="lg"/>
            <a:tailEnd type="arrow" w="sm" len="sm"/>
          </a:ln>
        </p:spPr>
      </p:cxnSp>
      <p:sp>
        <p:nvSpPr>
          <p:cNvPr id="20" name="AutoShape 20"/>
          <p:cNvSpPr/>
          <p:nvPr/>
        </p:nvSpPr>
        <p:spPr>
          <a:xfrm>
            <a:off x="10287000" y="2857500"/>
            <a:ext cx="1397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Identity</a:t>
            </a:r>
            <a:b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Shortcut</a:t>
            </a:r>
            <a:endParaRPr lang="en-US" sz="1100"/>
          </a:p>
        </p:txBody>
      </p:sp>
      <p:sp>
        <p:nvSpPr>
          <p:cNvPr id="21" name="AutoShape 21"/>
          <p:cNvSpPr/>
          <p:nvPr/>
        </p:nvSpPr>
        <p:spPr>
          <a:xfrm>
            <a:off x="8026400" y="4127500"/>
            <a:ext cx="457200" cy="457200"/>
          </a:xfrm>
          <a:prstGeom prst="ellipse">
            <a:avLst/>
          </a:prstGeom>
          <a:solidFill>
            <a:srgbClr val="6A9955">
              <a:alpha val="100000"/>
            </a:srgbClr>
          </a:solidFill>
          <a:ln cap="flat" cmpd="sng">
            <a:solidFill>
              <a:srgbClr val="50803A">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8026400" y="4216400"/>
            <a:ext cx="4572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cxnSp>
        <p:nvCxnSpPr>
          <p:cNvPr id="23" name="Connector 23"/>
          <p:cNvCxnSpPr/>
          <p:nvPr/>
        </p:nvCxnSpPr>
        <p:spPr>
          <a:xfrm rot="5262563">
            <a:off x="8096250" y="4737227"/>
            <a:ext cx="317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24" name="AutoShape 24"/>
          <p:cNvSpPr/>
          <p:nvPr/>
        </p:nvSpPr>
        <p:spPr>
          <a:xfrm>
            <a:off x="7620000" y="4902200"/>
            <a:ext cx="1270000" cy="508000"/>
          </a:xfrm>
          <a:prstGeom prst="roundRect">
            <a:avLst>
              <a:gd name="adj" fmla="val 0"/>
            </a:avLst>
          </a:prstGeom>
          <a:solidFill>
            <a:srgbClr val="D1FAE5">
              <a:alpha val="100000"/>
            </a:srgbClr>
          </a:solidFill>
          <a:ln cap="flat" cmpd="sng">
            <a:solidFill>
              <a:srgbClr val="A5E1C2">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7620000" y="5003800"/>
            <a:ext cx="1270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ReLU</a:t>
            </a:r>
            <a:endParaRPr lang="en-US" sz="1100"/>
          </a:p>
        </p:txBody>
      </p:sp>
      <p:sp>
        <p:nvSpPr>
          <p:cNvPr id="26" name="AutoShape 26"/>
          <p:cNvSpPr/>
          <p:nvPr/>
        </p:nvSpPr>
        <p:spPr>
          <a:xfrm>
            <a:off x="9017000" y="4978400"/>
            <a:ext cx="203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Output: F(x) + x</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 ResNet</a:t>
            </a:r>
            <a:endParaRPr lang="en-US" sz="1100"/>
          </a:p>
        </p:txBody>
      </p:sp>
      <p:sp>
        <p:nvSpPr>
          <p:cNvPr id="3" name="AutoShape 3"/>
          <p:cNvSpPr/>
          <p:nvPr/>
        </p:nvSpPr>
        <p:spPr>
          <a:xfrm>
            <a:off x="1016000" y="1651000"/>
            <a:ext cx="5080000" cy="4064000"/>
          </a:xfrm>
          <a:prstGeom prst="roundRect">
            <a:avLst>
              <a:gd name="adj" fmla="val 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270000" y="1905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普通深层网络的痛点</a:t>
            </a:r>
            <a:endParaRPr lang="en-US" sz="1100"/>
          </a:p>
        </p:txBody>
      </p:sp>
      <p:sp>
        <p:nvSpPr>
          <p:cNvPr id="5" name="AutoShape 5"/>
          <p:cNvSpPr/>
          <p:nvPr/>
        </p:nvSpPr>
        <p:spPr>
          <a:xfrm>
            <a:off x="1270000" y="2476500"/>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网络加深后，训练误差不降反升，性能退化</a:t>
            </a:r>
            <a:endParaRPr lang="en-US" sz="1100"/>
          </a:p>
          <a:p>
            <a:pPr marL="0" indent="0" algn="l">
              <a:lnSpc>
                <a:spcPct val="167000"/>
              </a:lnSpc>
            </a:pPr>
            <a:r>
              <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梯度经多层反向传播后易发生消失或爆炸</a:t>
            </a:r>
            <a:endPar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深层参数难以被优化器有效更新，收敛困难</a:t>
            </a:r>
            <a:endPar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简单堆叠卷积层无法突破深度瓶颈</a:t>
            </a:r>
            <a:endParaRPr lang="en-US" sz="15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270000" y="495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现象印证：56层普通卷积网络的训练误差，反而显著高于20层网络，加深网络带来了负面效果。</a:t>
            </a:r>
            <a:endParaRPr lang="en-US" sz="1100"/>
          </a:p>
        </p:txBody>
      </p:sp>
      <p:sp>
        <p:nvSpPr>
          <p:cNvPr id="7" name="AutoShape 7"/>
          <p:cNvSpPr/>
          <p:nvPr/>
        </p:nvSpPr>
        <p:spPr>
          <a:xfrm>
            <a:off x="6350000" y="1651000"/>
            <a:ext cx="5080000" cy="4064000"/>
          </a:xfrm>
          <a:prstGeom prst="roundRect">
            <a:avLst>
              <a:gd name="adj" fmla="val 0"/>
            </a:avLst>
          </a:prstGeom>
          <a:solidFill>
            <a:srgbClr val="F0FDF4">
              <a:alpha val="100000"/>
            </a:srgbClr>
          </a:solidFill>
          <a:ln w="12700" cap="flat" cmpd="sng">
            <a:solidFill>
              <a:srgbClr val="86EFAC">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1905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ResNet 的残差学习机制</a:t>
            </a:r>
            <a:endParaRPr lang="en-US" sz="1100"/>
          </a:p>
        </p:txBody>
      </p:sp>
      <p:sp>
        <p:nvSpPr>
          <p:cNvPr id="9" name="AutoShape 9"/>
          <p:cNvSpPr/>
          <p:nvPr/>
        </p:nvSpPr>
        <p:spPr>
          <a:xfrm>
            <a:off x="6604000" y="2476500"/>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 引入 Shortcut 捷径连接，建立恒等映射路径</a:t>
            </a:r>
            <a:endParaRPr lang="en-US" sz="1100"/>
          </a:p>
          <a:p>
            <a:pPr marL="0" indent="0" algn="l">
              <a:lnSpc>
                <a:spcPct val="167000"/>
              </a:lnSpc>
            </a:pPr>
            <a:r>
              <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 为梯度回传提供直达通道，解决梯度消失难题</a:t>
            </a:r>
            <a:endPar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 网络至少不会因加深而变差，性能具备保底保障</a:t>
            </a:r>
            <a:endPar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 成功实现 152 层甚至上千层超深网络的稳定训练</a:t>
            </a:r>
            <a:endParaRPr lang="en-US" sz="15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6604000" y="495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里程碑成果：斩获 ILSVRC 2015 分类任务冠军，Top-5 错误率降至 3.57%，首次超越人类视觉识别水平。</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cap="flat" cmpd="sng">
            <a:solidFill>
              <a:srgbClr val="E6CFCF">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2：Residual Networks</a:t>
            </a:r>
            <a:endParaRPr lang="en-US" sz="1100"/>
          </a:p>
        </p:txBody>
      </p:sp>
      <p:sp>
        <p:nvSpPr>
          <p:cNvPr id="4" name="AutoShape 4"/>
          <p:cNvSpPr/>
          <p:nvPr/>
        </p:nvSpPr>
        <p:spPr>
          <a:xfrm>
            <a:off x="1016000" y="1524000"/>
            <a:ext cx="10414000" cy="482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24000"/>
            <a:ext cx="10414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206500" y="16256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485900" y="16256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765300" y="16256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2286000" y="16002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resnet_block.py</a:t>
            </a:r>
            <a:endParaRPr lang="en-US" sz="1100"/>
          </a:p>
        </p:txBody>
      </p:sp>
      <p:sp>
        <p:nvSpPr>
          <p:cNvPr id="10" name="AutoShape 10"/>
          <p:cNvSpPr/>
          <p:nvPr/>
        </p:nvSpPr>
        <p:spPr>
          <a:xfrm>
            <a:off x="1270000" y="2095500"/>
            <a:ext cx="9906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import tensorflow as tf</a:t>
            </a:r>
            <a:endParaRPr lang="en-US" sz="1100"/>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from tensorflow.keras.layers import Conv2D, BatchNormalization, Activation, Add</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def identity_block(X, f, filters):</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"""Identity block: 输入输出维度相同，shortcut直接相加"""</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F1, F2, F3 = filters</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X_shortcut = 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第一层：1x1 卷积降维</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Conv2D(F1, (1, 1))(X)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第二层：fxf 卷积提取特征</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Conv2D(F2, (f, f), padding='same')(X)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第三层：1x1 卷积升维，融合 shortcut</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Conv2D(F3, (1, 1))(X)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X = Add()([X, X_shortcut])</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return X</a:t>
            </a:r>
            <a:endPar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Assignment 2：Convolutional Block</a:t>
            </a:r>
            <a:endParaRPr lang="en-US" sz="1100"/>
          </a:p>
        </p:txBody>
      </p:sp>
      <p:sp>
        <p:nvSpPr>
          <p:cNvPr id="3" name="AutoShape 3"/>
          <p:cNvSpPr/>
          <p:nvPr/>
        </p:nvSpPr>
        <p:spPr>
          <a:xfrm>
            <a:off x="1016000" y="1524000"/>
            <a:ext cx="10414000" cy="482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524000"/>
            <a:ext cx="10414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16510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485900" y="16510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65300" y="16510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2159000" y="1600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conv_block.py</a:t>
            </a:r>
            <a:endParaRPr lang="en-US" sz="1100"/>
          </a:p>
        </p:txBody>
      </p:sp>
      <p:sp>
        <p:nvSpPr>
          <p:cNvPr id="9" name="AutoShape 9"/>
          <p:cNvSpPr/>
          <p:nvPr/>
        </p:nvSpPr>
        <p:spPr>
          <a:xfrm>
            <a:off x="1270000" y="2095500"/>
            <a:ext cx="9906000" cy="406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def</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convolutional_block(X, f, filters, s=2):</a:t>
            </a:r>
            <a:endParaRPr lang="en-US" sz="1100"/>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"""Conv block: 输入输出维度不同，shortcut需经1×1卷积匹配维度"""</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F1, F2, F3 = filters</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X_shortcut = 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主路径</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Conv2D(F1, (1,1), strides=(s,s))(X)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Conv2D(F2, (f,f), padding='same')(X)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Conv2D(F3, (1,1))(X)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BatchNormalization(axis=3)(X)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Shortcut 路径：1×1 卷积匹配维度</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X_shortcut = Conv2D(F3, (1,1), strides=(s,s))(X_shortcut)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X_shortcut = BatchNormalization(axis=3)(X_shortcut)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相加</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a:t>
            </a: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Add()</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X_shortcut])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 = Activation('relu')(X)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C586C0"/>
                </a:solidFill>
                <a:latin typeface="Consolas" panose="020B0609020204030204"/>
                <a:ea typeface="Consolas" panose="020B0609020204030204"/>
                <a:cs typeface="Consolas" panose="020B0609020204030204"/>
                <a:sym typeface="Consolas" panose="020B0609020204030204"/>
              </a:rPr>
              <a:t>return</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X</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 卷积与 Inception</a:t>
            </a:r>
            <a:endParaRPr lang="en-US" sz="1100"/>
          </a:p>
        </p:txBody>
      </p:sp>
      <p:sp>
        <p:nvSpPr>
          <p:cNvPr id="3" name="AutoShape 3"/>
          <p:cNvSpPr/>
          <p:nvPr/>
        </p:nvSpPr>
        <p:spPr>
          <a:xfrm>
            <a:off x="1016000" y="1651000"/>
            <a:ext cx="508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 卷积</a:t>
            </a:r>
            <a:endParaRPr lang="en-US" sz="1100"/>
          </a:p>
        </p:txBody>
      </p:sp>
      <p:sp>
        <p:nvSpPr>
          <p:cNvPr id="4" name="AutoShape 4"/>
          <p:cNvSpPr/>
          <p:nvPr/>
        </p:nvSpPr>
        <p:spPr>
          <a:xfrm>
            <a:off x="1016000" y="2413000"/>
            <a:ext cx="508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 1×1 卷积核，能在不改变特征图空间尺寸的前提下，高效减少通道数量、降低计算复杂度，同时融合跨通道的特征信息。它常被称为神经网络中的“瓶颈层”（Bottleneck），是构建深层轻量化网络的核心组件。</a:t>
            </a:r>
            <a:endParaRPr lang="en-US" sz="1100"/>
          </a:p>
        </p:txBody>
      </p:sp>
      <p:sp>
        <p:nvSpPr>
          <p:cNvPr id="5" name="AutoShape 5"/>
          <p:cNvSpPr/>
          <p:nvPr/>
        </p:nvSpPr>
        <p:spPr>
          <a:xfrm>
            <a:off x="1016000" y="4445000"/>
            <a:ext cx="5080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206500" y="4635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通道降维实例：</a:t>
            </a:r>
            <a:endParaRPr lang="en-US" sz="1100"/>
          </a:p>
          <a:p>
            <a:pPr marL="0"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输入：28 × 28 × 192 特征图</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操作：1×1 卷积（配置 16 个卷积核）</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输出：28 × 28 × 16（通道数压缩 12 倍，计算量大幅降低）</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604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Inception 模块</a:t>
            </a:r>
            <a:endParaRPr lang="en-US" sz="1100"/>
          </a:p>
        </p:txBody>
      </p:sp>
      <p:sp>
        <p:nvSpPr>
          <p:cNvPr id="8" name="AutoShape 8"/>
          <p:cNvSpPr/>
          <p:nvPr/>
        </p:nvSpPr>
        <p:spPr>
          <a:xfrm>
            <a:off x="6604000" y="2413000"/>
            <a:ext cx="482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GoogLeNet 的核心创新单元，通过并行堆叠不同感受野的卷积核与池化层，在同一层级捕捉多尺度的特征信息；最后将所有分支的输出在通道维度拼接，让网络自主学习最优的特征提取方式，显著提升模型的特征表达能力。</a:t>
            </a:r>
            <a:endParaRPr lang="en-US" sz="1100"/>
          </a:p>
        </p:txBody>
      </p:sp>
      <p:sp>
        <p:nvSpPr>
          <p:cNvPr id="9" name="AutoShape 9"/>
          <p:cNvSpPr/>
          <p:nvPr/>
        </p:nvSpPr>
        <p:spPr>
          <a:xfrm>
            <a:off x="6604000" y="4191000"/>
            <a:ext cx="2349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604000" y="4292600"/>
            <a:ext cx="2349500" cy="3683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 卷积（通道变换）</a:t>
            </a:r>
            <a:endParaRPr lang="en-US" sz="1100"/>
          </a:p>
        </p:txBody>
      </p:sp>
      <p:sp>
        <p:nvSpPr>
          <p:cNvPr id="11" name="AutoShape 11"/>
          <p:cNvSpPr/>
          <p:nvPr/>
        </p:nvSpPr>
        <p:spPr>
          <a:xfrm>
            <a:off x="9080500" y="4191000"/>
            <a:ext cx="2349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080500" y="4292600"/>
            <a:ext cx="2349500" cy="3683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 → 3×3 卷积（中型感受野）</a:t>
            </a:r>
            <a:endParaRPr lang="en-US" sz="1100"/>
          </a:p>
        </p:txBody>
      </p:sp>
      <p:sp>
        <p:nvSpPr>
          <p:cNvPr id="13" name="AutoShape 13"/>
          <p:cNvSpPr/>
          <p:nvPr/>
        </p:nvSpPr>
        <p:spPr>
          <a:xfrm>
            <a:off x="6604000" y="4889500"/>
            <a:ext cx="2349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604000" y="4991100"/>
            <a:ext cx="2349500" cy="3683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 → 5×5 卷积（大型感受野）</a:t>
            </a:r>
            <a:endParaRPr lang="en-US" sz="1100"/>
          </a:p>
        </p:txBody>
      </p:sp>
      <p:sp>
        <p:nvSpPr>
          <p:cNvPr id="15" name="AutoShape 15"/>
          <p:cNvSpPr/>
          <p:nvPr/>
        </p:nvSpPr>
        <p:spPr>
          <a:xfrm>
            <a:off x="9080500" y="4889500"/>
            <a:ext cx="2349500" cy="5715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080500" y="4991100"/>
            <a:ext cx="2349500" cy="3683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3×3 池化 → 1×1 卷积（下采样）</a:t>
            </a:r>
            <a:endParaRPr lang="en-US" sz="1100"/>
          </a:p>
        </p:txBody>
      </p:sp>
      <p:sp>
        <p:nvSpPr>
          <p:cNvPr id="17" name="AutoShape 17"/>
          <p:cNvSpPr/>
          <p:nvPr/>
        </p:nvSpPr>
        <p:spPr>
          <a:xfrm>
            <a:off x="6604000" y="5588000"/>
            <a:ext cx="4826000" cy="508000"/>
          </a:xfrm>
          <a:prstGeom prst="roundRect">
            <a:avLst>
              <a:gd name="adj" fmla="val 0"/>
            </a:avLst>
          </a:prstGeom>
          <a:solidFill>
            <a:srgbClr val="ECFDF5">
              <a:alpha val="100000"/>
            </a:srgbClr>
          </a:solidFill>
          <a:ln w="12700" cap="flat" cmpd="sng">
            <a:solidFill>
              <a:srgbClr val="D1FAE5">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604000" y="5689600"/>
            <a:ext cx="4826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最终输出：所有分支结果在通道维度拼接（Concatenation）</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F3F4F6">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3F4F6">
              <a:alpha val="5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Week 3：目标检测 Object Detection</a:t>
            </a:r>
            <a:endParaRPr lang="en-US" sz="1100"/>
          </a:p>
        </p:txBody>
      </p:sp>
      <p:sp>
        <p:nvSpPr>
          <p:cNvPr id="5" name="AutoShape 5"/>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目标定位</a:t>
            </a:r>
            <a:endParaRPr lang="en-US" sz="1100"/>
          </a:p>
        </p:txBody>
      </p:sp>
      <p:sp>
        <p:nvSpPr>
          <p:cNvPr id="6" name="AutoShape 6"/>
          <p:cNvSpPr/>
          <p:nvPr/>
        </p:nvSpPr>
        <p:spPr>
          <a:xfrm>
            <a:off x="1016000" y="20955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不仅需要对图像中的物体进行分类，还需精确回归出物体的边界框坐标 (bx, by, bw, bh)，实现从单纯分类到“分类+定位”的进阶，是目标检测的基础任务。</a:t>
            </a:r>
            <a:endParaRPr lang="en-US" sz="1100"/>
          </a:p>
        </p:txBody>
      </p:sp>
      <p:sp>
        <p:nvSpPr>
          <p:cNvPr id="7" name="AutoShape 7"/>
          <p:cNvSpPr/>
          <p:nvPr/>
        </p:nvSpPr>
        <p:spPr>
          <a:xfrm>
            <a:off x="1016000" y="32385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滑动窗口检测</a:t>
            </a:r>
            <a:endParaRPr lang="en-US" sz="1100"/>
          </a:p>
        </p:txBody>
      </p:sp>
      <p:sp>
        <p:nvSpPr>
          <p:cNvPr id="8" name="AutoShape 8"/>
          <p:cNvSpPr/>
          <p:nvPr/>
        </p:nvSpPr>
        <p:spPr>
          <a:xfrm>
            <a:off x="1016000" y="36830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一种传统的检测范式，利用不同大小的矩形窗口在图像上进行密集滑动采样，对每个窗口内的区域独立进行分类判断。虽原理直观，但存在大量重复计算，计算成本极高。</a:t>
            </a:r>
            <a:endParaRPr lang="en-US" sz="1100"/>
          </a:p>
        </p:txBody>
      </p:sp>
      <p:sp>
        <p:nvSpPr>
          <p:cNvPr id="9" name="AutoShape 9"/>
          <p:cNvSpPr/>
          <p:nvPr/>
        </p:nvSpPr>
        <p:spPr>
          <a:xfrm>
            <a:off x="1016000" y="482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卷积滑动窗口</a:t>
            </a:r>
            <a:endParaRPr lang="en-US" sz="1100"/>
          </a:p>
        </p:txBody>
      </p:sp>
      <p:sp>
        <p:nvSpPr>
          <p:cNvPr id="10" name="AutoShape 10"/>
          <p:cNvSpPr/>
          <p:nvPr/>
        </p:nvSpPr>
        <p:spPr>
          <a:xfrm>
            <a:off x="1016000" y="52705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对滑动窗口的效率优化方案，将全连接层转化为等效的卷积层。利用卷积的权值共享特性，仅需一次前向传播即可完成图像上所有位置的特征提取与预测，大幅提升检测速度。</a:t>
            </a:r>
            <a:endParaRPr lang="en-US" sz="1100"/>
          </a:p>
        </p:txBody>
      </p:sp>
      <p:sp>
        <p:nvSpPr>
          <p:cNvPr id="11" name="AutoShape 11"/>
          <p:cNvSpPr/>
          <p:nvPr/>
        </p:nvSpPr>
        <p:spPr>
          <a:xfrm>
            <a:off x="6604000" y="1651000"/>
            <a:ext cx="4826000" cy="1206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794500" y="1803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IoU (Intersection over Union) 交并比</a:t>
            </a:r>
            <a:endParaRPr lang="en-US" sz="1100"/>
          </a:p>
        </p:txBody>
      </p:sp>
      <p:sp>
        <p:nvSpPr>
          <p:cNvPr id="13" name="AutoShape 13"/>
          <p:cNvSpPr/>
          <p:nvPr/>
        </p:nvSpPr>
        <p:spPr>
          <a:xfrm>
            <a:off x="6794500" y="22225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用于量化预测框与真实标注框的重叠程度，计算两者交集面积与并集面积的比值。在评估中，通常以 IoU ≥ 0.5 作为判定检测结果有效的基准阈值。</a:t>
            </a:r>
            <a:endParaRPr lang="en-US" sz="1100"/>
          </a:p>
        </p:txBody>
      </p:sp>
      <p:sp>
        <p:nvSpPr>
          <p:cNvPr id="14" name="AutoShape 14"/>
          <p:cNvSpPr/>
          <p:nvPr/>
        </p:nvSpPr>
        <p:spPr>
          <a:xfrm>
            <a:off x="6604000" y="3111500"/>
            <a:ext cx="4826000" cy="1206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32639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非极大值抑制 (NMS)</a:t>
            </a:r>
            <a:endParaRPr lang="en-US" sz="1100"/>
          </a:p>
        </p:txBody>
      </p:sp>
      <p:sp>
        <p:nvSpPr>
          <p:cNvPr id="16" name="AutoShape 16"/>
          <p:cNvSpPr/>
          <p:nvPr/>
        </p:nvSpPr>
        <p:spPr>
          <a:xfrm>
            <a:off x="6794500" y="36830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解决同一目标被多次重复检测的关键算法。按置信度对检测框排序后，依次移除与当前最高分框重叠度过高的冗余框，确保每个目标仅保留一个最优的检测结果。</a:t>
            </a:r>
            <a:endParaRPr lang="en-US" sz="1100"/>
          </a:p>
        </p:txBody>
      </p:sp>
      <p:sp>
        <p:nvSpPr>
          <p:cNvPr id="17" name="AutoShape 17"/>
          <p:cNvSpPr/>
          <p:nvPr/>
        </p:nvSpPr>
        <p:spPr>
          <a:xfrm>
            <a:off x="6604000" y="4699000"/>
            <a:ext cx="4826000" cy="12065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794500" y="48514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Anchor Boxes (锚框机制)</a:t>
            </a:r>
            <a:endParaRPr lang="en-US" sz="1100"/>
          </a:p>
        </p:txBody>
      </p:sp>
      <p:sp>
        <p:nvSpPr>
          <p:cNvPr id="19" name="AutoShape 19"/>
          <p:cNvSpPr/>
          <p:nvPr/>
        </p:nvSpPr>
        <p:spPr>
          <a:xfrm>
            <a:off x="6794500" y="52705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预设一组具有不同宽高比和尺寸的基准框。它赋予了特征图上的每个网格单元预测多个不同形状物体的能力，有效解决了多尺度目标和同一位置多物体的检测挑战。</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1270000"/>
            <a:ext cx="5080000" cy="5080000"/>
          </a:xfrm>
          <a:prstGeom prst="ellipse">
            <a:avLst/>
          </a:prstGeom>
          <a:solidFill>
            <a:srgbClr val="F3F4F6">
              <a:alpha val="60000"/>
            </a:srgbClr>
          </a:solidFill>
          <a:ln cap="flat" cmpd="sng">
            <a:solidFill>
              <a:srgbClr val="C4CCDD">
                <a:alpha val="6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3810000" cy="3810000"/>
          </a:xfrm>
          <a:prstGeom prst="ellipse">
            <a:avLst/>
          </a:prstGeom>
          <a:solidFill>
            <a:srgbClr val="F3F4F6">
              <a:alpha val="60000"/>
            </a:srgbClr>
          </a:solidFill>
          <a:ln cap="flat" cmpd="sng">
            <a:solidFill>
              <a:srgbClr val="C4CCDD">
                <a:alpha val="6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YOLO 算法</a:t>
            </a:r>
            <a:endParaRPr lang="en-US" sz="1100"/>
          </a:p>
        </p:txBody>
      </p:sp>
      <p:sp>
        <p:nvSpPr>
          <p:cNvPr id="5" name="AutoShape 5"/>
          <p:cNvSpPr/>
          <p:nvPr/>
        </p:nvSpPr>
        <p:spPr>
          <a:xfrm>
            <a:off x="1016000" y="1651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端到端的单阶段检测范式</a:t>
            </a:r>
            <a:endParaRPr lang="en-US" sz="1100"/>
          </a:p>
        </p:txBody>
      </p:sp>
      <p:sp>
        <p:nvSpPr>
          <p:cNvPr id="6" name="AutoShape 6"/>
          <p:cNvSpPr/>
          <p:nvPr/>
        </p:nvSpPr>
        <p:spPr>
          <a:xfrm>
            <a:off x="1016000" y="22225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YOLO (You Only Look Once) 摒弃了传统的候选框生成机制，将图像划分为 S×S 的网格单元。每个网格直接预测 B 个边界框的位置、置信度以及目标类别概率，通过一次神经网络前向传播即可完成从特征提取到检测输出的全过程，实现了极致的推理速度。</a:t>
            </a:r>
            <a:endParaRPr lang="en-US" sz="1100"/>
          </a:p>
        </p:txBody>
      </p:sp>
      <p:sp>
        <p:nvSpPr>
          <p:cNvPr id="7" name="AutoShape 7"/>
          <p:cNvSpPr/>
          <p:nvPr/>
        </p:nvSpPr>
        <p:spPr>
          <a:xfrm>
            <a:off x="1016000" y="3937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统一的张量输出结构</a:t>
            </a:r>
            <a:endParaRPr lang="en-US" sz="1100"/>
          </a:p>
        </p:txBody>
      </p:sp>
      <p:sp>
        <p:nvSpPr>
          <p:cNvPr id="8" name="AutoShape 8"/>
          <p:cNvSpPr/>
          <p:nvPr/>
        </p:nvSpPr>
        <p:spPr>
          <a:xfrm>
            <a:off x="1016000" y="45085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输出张量维度定义为：(pₑ, bₓ, bᵧ, b_w, b_h, c₁, c₂, ..., cₙ)。其中 pₑ 代表框内存在目标的置信度；(bₓ, bᵧ) 为框的中心坐标偏移，(b_w, b_h) 为宽高缩放；cₙ 则是 K 维的类别概率分布，实现了定位与分类的联合预测。</a:t>
            </a:r>
            <a:endParaRPr lang="en-US" sz="1100"/>
          </a:p>
        </p:txBody>
      </p:sp>
      <p:sp>
        <p:nvSpPr>
          <p:cNvPr id="9" name="AutoShape 9"/>
          <p:cNvSpPr/>
          <p:nvPr/>
        </p:nvSpPr>
        <p:spPr>
          <a:xfrm>
            <a:off x="6604000" y="1651000"/>
            <a:ext cx="4826000" cy="3302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794500" y="1790700"/>
            <a:ext cx="152400" cy="1524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048500" y="1790700"/>
            <a:ext cx="152400" cy="1524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302500" y="1790700"/>
            <a:ext cx="152400" cy="1524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747000" y="17272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yolo_loss_composition.py</a:t>
            </a:r>
            <a:endParaRPr lang="en-US" sz="1100"/>
          </a:p>
        </p:txBody>
      </p:sp>
      <p:sp>
        <p:nvSpPr>
          <p:cNvPr id="15" name="AutoShape 15"/>
          <p:cNvSpPr/>
          <p:nvPr/>
        </p:nvSpPr>
        <p:spPr>
          <a:xfrm>
            <a:off x="6794500" y="2222500"/>
            <a:ext cx="44450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坐标损失 (强化定位精度 λ_coord=5)</a:t>
            </a:r>
            <a:endParaRPr lang="en-US" sz="1100"/>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L_xy = λ_coord * Σ[(x - x̂)² + (y - ŷ)²]</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L_wh = λ_coord * Σ[(√w - √ŵ)² + (√h - √ĥ)²]</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置信度损失 (正负样本平衡 λ_noobj=0.5)</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L_conf = Σ_obj (C - Ĉ)² + λ_noobj Σ_noobj (C - Ĉ)²</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分类损失 (条件类别概率)</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L_cls = Σ_obj Σ_classes (p(c) - p̂(c))²</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6" name="AutoShape 16"/>
          <p:cNvSpPr/>
          <p:nvPr/>
        </p:nvSpPr>
        <p:spPr>
          <a:xfrm>
            <a:off x="1016000" y="5842000"/>
            <a:ext cx="10414000" cy="635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206500" y="5969000"/>
            <a:ext cx="1003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实现了从特征提取到检测输出的端到端训练，推理速度可达 45 FPS (Titan X)，完美适配实时监控、自动驾驶等对延迟敏感的边缘计算场景。</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890000" y="-1270000"/>
            <a:ext cx="5080000" cy="5080000"/>
          </a:xfrm>
          <a:prstGeom prst="ellipse">
            <a:avLst/>
          </a:prstGeom>
          <a:solidFill>
            <a:srgbClr val="F3F4F6">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4445000"/>
            <a:ext cx="3810000" cy="3810000"/>
          </a:xfrm>
          <a:prstGeom prst="ellipse">
            <a:avLst/>
          </a:prstGeom>
          <a:solidFill>
            <a:srgbClr val="F3F4F6">
              <a:alpha val="5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Week 4：人脸识别与风格迁移</a:t>
            </a:r>
            <a:endParaRPr lang="en-US" sz="1100"/>
          </a:p>
        </p:txBody>
      </p:sp>
      <p:sp>
        <p:nvSpPr>
          <p:cNvPr id="5" name="AutoShape 5"/>
          <p:cNvSpPr/>
          <p:nvPr/>
        </p:nvSpPr>
        <p:spPr>
          <a:xfrm>
            <a:off x="1016000" y="1651000"/>
            <a:ext cx="5080000" cy="4445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270000" y="19050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人脸识别</a:t>
            </a:r>
            <a:endParaRPr lang="en-US" sz="1100"/>
          </a:p>
        </p:txBody>
      </p:sp>
      <p:sp>
        <p:nvSpPr>
          <p:cNvPr id="7" name="AutoShape 7"/>
          <p:cNvSpPr/>
          <p:nvPr/>
        </p:nvSpPr>
        <p:spPr>
          <a:xfrm>
            <a:off x="1270000" y="24765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One-shot Learning：解决单样本下的身份识别难题</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Siamese 网络：将人脸映射为高维特征向量进行比对</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核心机制：利用三元组损失（Triplet Loss）优化特征空间</a:t>
            </a:r>
            <a:endParaRPr lang="en-US" sz="1100"/>
          </a:p>
        </p:txBody>
      </p:sp>
      <p:sp>
        <p:nvSpPr>
          <p:cNvPr id="8" name="AutoShape 8"/>
          <p:cNvSpPr/>
          <p:nvPr/>
        </p:nvSpPr>
        <p:spPr>
          <a:xfrm>
            <a:off x="1270000" y="3873500"/>
            <a:ext cx="4572000" cy="635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270000" y="3873500"/>
            <a:ext cx="457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L = max(0, d(A,P)² - d(A,N)² + α)</a:t>
            </a:r>
            <a:endParaRPr lang="en-US" sz="1100"/>
          </a:p>
        </p:txBody>
      </p:sp>
      <p:sp>
        <p:nvSpPr>
          <p:cNvPr id="10" name="AutoShape 10"/>
          <p:cNvSpPr/>
          <p:nvPr/>
        </p:nvSpPr>
        <p:spPr>
          <a:xfrm>
            <a:off x="1270000" y="4762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通过最小化锚点与正例距离，最大化锚点与负例距离，让同一身份特征聚集，不同身份特征分离，从而实现高精度的人脸验证。</a:t>
            </a:r>
            <a:endParaRPr lang="en-US" sz="1100"/>
          </a:p>
        </p:txBody>
      </p:sp>
      <p:sp>
        <p:nvSpPr>
          <p:cNvPr id="11" name="AutoShape 11"/>
          <p:cNvSpPr/>
          <p:nvPr/>
        </p:nvSpPr>
        <p:spPr>
          <a:xfrm>
            <a:off x="6350000" y="1651000"/>
            <a:ext cx="5080000" cy="4445000"/>
          </a:xfrm>
          <a:prstGeom prst="roundRect">
            <a:avLst>
              <a:gd name="adj" fmla="val 0"/>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604000" y="1905000"/>
            <a:ext cx="4572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神经风格迁移</a:t>
            </a:r>
            <a:endParaRPr lang="en-US" sz="1100"/>
          </a:p>
        </p:txBody>
      </p:sp>
      <p:sp>
        <p:nvSpPr>
          <p:cNvPr id="13" name="AutoShape 13"/>
          <p:cNvSpPr/>
          <p:nvPr/>
        </p:nvSpPr>
        <p:spPr>
          <a:xfrm>
            <a:off x="6604000" y="24765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内容损失：保留原图的物体结构与语义信息</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风格损失：捕捉画作的纹理、色彩与笔触风格</a:t>
            </a:r>
            <a:b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优化目标：通过反向传播直接更新生成图像的像素值</a:t>
            </a:r>
            <a:endParaRPr lang="en-US" sz="1100"/>
          </a:p>
        </p:txBody>
      </p:sp>
      <p:sp>
        <p:nvSpPr>
          <p:cNvPr id="14" name="AutoShape 14"/>
          <p:cNvSpPr/>
          <p:nvPr/>
        </p:nvSpPr>
        <p:spPr>
          <a:xfrm>
            <a:off x="6604000" y="3873500"/>
            <a:ext cx="4572000" cy="635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604000" y="3873500"/>
            <a:ext cx="457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J(G) = α·J_content(C,G) + β·J_style(S,G)</a:t>
            </a:r>
            <a:endParaRPr lang="en-US" sz="1100"/>
          </a:p>
        </p:txBody>
      </p:sp>
      <p:sp>
        <p:nvSpPr>
          <p:cNvPr id="16" name="AutoShape 16"/>
          <p:cNvSpPr/>
          <p:nvPr/>
        </p:nvSpPr>
        <p:spPr>
          <a:xfrm>
            <a:off x="6604000" y="4762500"/>
            <a:ext cx="457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利用预训练CNN提取多层特征，用Gram矩阵计算风格相似度。通过调整权重系数α和β，控制生成图像中内容保留与风格迁移的平衡。</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C1C1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C1C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6A9955"/>
                </a:solidFill>
                <a:latin typeface="Consolas" panose="020B0609020204030204"/>
                <a:ea typeface="Consolas" panose="020B0609020204030204"/>
                <a:cs typeface="Consolas" panose="020B0609020204030204"/>
                <a:sym typeface="Consolas" panose="020B0609020204030204"/>
              </a:rPr>
              <a:t>COURSE 05</a:t>
            </a:r>
            <a:endParaRPr lang="en-US" sz="1100"/>
          </a:p>
        </p:txBody>
      </p:sp>
      <p:sp>
        <p:nvSpPr>
          <p:cNvPr id="4" name="AutoShape 4"/>
          <p:cNvSpPr/>
          <p:nvPr/>
        </p:nvSpPr>
        <p:spPr>
          <a:xfrm>
            <a:off x="0" y="3048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Sequence Models</a:t>
            </a:r>
            <a:endParaRPr lang="en-US" sz="1100"/>
          </a:p>
        </p:txBody>
      </p:sp>
      <p:sp>
        <p:nvSpPr>
          <p:cNvPr id="5" name="AutoShape 5"/>
          <p:cNvSpPr/>
          <p:nvPr/>
        </p:nvSpPr>
        <p:spPr>
          <a:xfrm>
            <a:off x="0" y="4508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序列模型</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为什么需要序列模型</a:t>
            </a:r>
            <a:endParaRPr lang="en-US" sz="1100"/>
          </a:p>
        </p:txBody>
      </p:sp>
      <p:sp>
        <p:nvSpPr>
          <p:cNvPr id="3" name="AutoShape 3"/>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序列数据的核心特征</a:t>
            </a:r>
            <a:endParaRPr lang="en-US" sz="1100"/>
          </a:p>
        </p:txBody>
      </p:sp>
      <p:sp>
        <p:nvSpPr>
          <p:cNvPr id="4" name="AutoShape 4"/>
          <p:cNvSpPr/>
          <p:nvPr/>
        </p:nvSpPr>
        <p:spPr>
          <a:xfrm>
            <a:off x="1016000" y="2222500"/>
            <a:ext cx="508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现实世界的许多数据天然具有时序性，其输入与输出长度不固定，且数据间存在强依赖关系（如上下文关联、因果逻辑）。传统深度网络因结构固定，难以捕捉这种动态的时序依赖与可变长度特性。</a:t>
            </a:r>
            <a:endParaRPr lang="en-US" sz="1100"/>
          </a:p>
        </p:txBody>
      </p:sp>
      <p:sp>
        <p:nvSpPr>
          <p:cNvPr id="5" name="AutoShape 5"/>
          <p:cNvSpPr/>
          <p:nvPr/>
        </p:nvSpPr>
        <p:spPr>
          <a:xfrm>
            <a:off x="1016000" y="3810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典型应用领域</a:t>
            </a:r>
            <a:endParaRPr lang="en-US" sz="1100"/>
          </a:p>
        </p:txBody>
      </p:sp>
      <p:sp>
        <p:nvSpPr>
          <p:cNvPr id="6" name="AutoShape 6"/>
          <p:cNvSpPr/>
          <p:nvPr/>
        </p:nvSpPr>
        <p:spPr>
          <a:xfrm>
            <a:off x="1016000" y="4381500"/>
            <a:ext cx="241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语音识别与语音合成</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神经机器翻译 (NMT)</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智能文本生成与摘要</a:t>
            </a:r>
            <a:endParaRPr lang="en-US" sz="1100"/>
          </a:p>
        </p:txBody>
      </p:sp>
      <p:sp>
        <p:nvSpPr>
          <p:cNvPr id="7" name="AutoShape 7"/>
          <p:cNvSpPr/>
          <p:nvPr/>
        </p:nvSpPr>
        <p:spPr>
          <a:xfrm>
            <a:off x="3556000" y="4381500"/>
            <a:ext cx="2413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音乐与旋律智能生成</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命名实体识别 (NER)</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生物基因 DNA 序列分析</a:t>
            </a:r>
            <a:endParaRPr lang="en-US" sz="1100"/>
          </a:p>
        </p:txBody>
      </p:sp>
      <p:sp>
        <p:nvSpPr>
          <p:cNvPr id="8" name="AutoShape 8"/>
          <p:cNvSpPr/>
          <p:nvPr/>
        </p:nvSpPr>
        <p:spPr>
          <a:xfrm>
            <a:off x="6604000" y="165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数学表示与核心逻辑</a:t>
            </a:r>
            <a:endParaRPr lang="en-US" sz="1100"/>
          </a:p>
        </p:txBody>
      </p:sp>
      <p:sp>
        <p:nvSpPr>
          <p:cNvPr id="9" name="AutoShape 9"/>
          <p:cNvSpPr/>
          <p:nvPr/>
        </p:nvSpPr>
        <p:spPr>
          <a:xfrm>
            <a:off x="6604000" y="2286000"/>
            <a:ext cx="4826000" cy="2540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858000" y="2476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定义输入输出与时间步</a:t>
            </a:r>
            <a:endParaRPr lang="en-US" sz="1100"/>
          </a:p>
        </p:txBody>
      </p:sp>
      <p:sp>
        <p:nvSpPr>
          <p:cNvPr id="11" name="AutoShape 11"/>
          <p:cNvSpPr/>
          <p:nvPr/>
        </p:nvSpPr>
        <p:spPr>
          <a:xfrm>
            <a:off x="6858000" y="2921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X = [x₁, x₂, ..., x_T] // 输入序列 (长度可变)</a:t>
            </a:r>
            <a:endParaRPr lang="en-US" sz="1100"/>
          </a:p>
        </p:txBody>
      </p:sp>
      <p:sp>
        <p:nvSpPr>
          <p:cNvPr id="12" name="AutoShape 12"/>
          <p:cNvSpPr/>
          <p:nvPr/>
        </p:nvSpPr>
        <p:spPr>
          <a:xfrm>
            <a:off x="6858000" y="3365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Y = [y₁, y₂, ..., y_T] // 输出序列 (动态映射)</a:t>
            </a:r>
            <a:endParaRPr lang="en-US" sz="1100"/>
          </a:p>
        </p:txBody>
      </p:sp>
      <p:sp>
        <p:nvSpPr>
          <p:cNvPr id="13" name="AutoShape 13"/>
          <p:cNvSpPr/>
          <p:nvPr/>
        </p:nvSpPr>
        <p:spPr>
          <a:xfrm>
            <a:off x="6858000" y="38100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hₜ = f(hₜ₋₁, xₜ) // 隐藏状态的循环传递</a:t>
            </a:r>
            <a:endParaRPr lang="en-US" sz="1100"/>
          </a:p>
        </p:txBody>
      </p:sp>
      <p:sp>
        <p:nvSpPr>
          <p:cNvPr id="14" name="AutoShape 14"/>
          <p:cNvSpPr/>
          <p:nvPr/>
        </p:nvSpPr>
        <p:spPr>
          <a:xfrm>
            <a:off x="6858000" y="4254500"/>
            <a:ext cx="4318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4D4D4"/>
                </a:solidFill>
                <a:latin typeface="Consolas" panose="020B0609020204030204"/>
                <a:ea typeface="Consolas" panose="020B0609020204030204"/>
                <a:cs typeface="Consolas" panose="020B0609020204030204"/>
                <a:sym typeface="Consolas" panose="020B0609020204030204"/>
              </a:rPr>
              <a:t>ŷₜ = g(hₜ) // 基于历史的当前预测</a:t>
            </a:r>
            <a:endParaRPr lang="en-US" sz="1100"/>
          </a:p>
        </p:txBody>
      </p:sp>
      <p:sp>
        <p:nvSpPr>
          <p:cNvPr id="15" name="AutoShape 15"/>
          <p:cNvSpPr/>
          <p:nvPr/>
        </p:nvSpPr>
        <p:spPr>
          <a:xfrm>
            <a:off x="6604000" y="50800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序列模型通过引入</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循环连接</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打破了传统网络的固定尺寸限制，利用隐藏状态（Hidden State）的迭代更新来记忆历史信息，从而有效建模数据间的长期依赖关系，解决了传统网络在处理时序数据时的核心痛点。</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循环神经网络 RNN</a:t>
            </a:r>
            <a:endParaRPr lang="en-US" sz="1100"/>
          </a:p>
        </p:txBody>
      </p:sp>
      <p:sp>
        <p:nvSpPr>
          <p:cNvPr id="3" name="AutoShape 3"/>
          <p:cNvSpPr/>
          <p:nvPr/>
        </p:nvSpPr>
        <p:spPr>
          <a:xfrm>
            <a:off x="1016000" y="2286000"/>
            <a:ext cx="762000" cy="508000"/>
          </a:xfrm>
          <a:prstGeom prst="roundRect">
            <a:avLst>
              <a:gd name="adj" fmla="val 40000"/>
            </a:avLst>
          </a:prstGeom>
          <a:solidFill>
            <a:srgbClr val="E5E7EB">
              <a:alpha val="100000"/>
            </a:srgbClr>
          </a:solidFill>
          <a:ln cap="flat" cmpd="sng">
            <a:solidFill>
              <a:srgbClr val="B7C0D2">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x^t</a:t>
            </a:r>
            <a:endParaRPr lang="en-US" sz="1100"/>
          </a:p>
        </p:txBody>
      </p:sp>
      <p:cxnSp>
        <p:nvCxnSpPr>
          <p:cNvPr id="4" name="Connector 4"/>
          <p:cNvCxnSpPr/>
          <p:nvPr/>
        </p:nvCxnSpPr>
        <p:spPr>
          <a:xfrm rot="-114549">
            <a:off x="1841606" y="2533650"/>
            <a:ext cx="381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5" name="AutoShape 5"/>
          <p:cNvSpPr/>
          <p:nvPr/>
        </p:nvSpPr>
        <p:spPr>
          <a:xfrm>
            <a:off x="2286000" y="2286000"/>
            <a:ext cx="1016000" cy="508000"/>
          </a:xfrm>
          <a:prstGeom prst="roundRect">
            <a:avLst>
              <a:gd name="adj" fmla="val 40000"/>
            </a:avLst>
          </a:prstGeom>
          <a:solidFill>
            <a:srgbClr val="6A9955">
              <a:alpha val="20000"/>
            </a:srgbClr>
          </a:solidFill>
          <a:ln cap="flat" cmpd="sng">
            <a:solidFill>
              <a:srgbClr val="50803A">
                <a:alpha val="20000"/>
              </a:srgbClr>
            </a:solid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4E3B"/>
                </a:solidFill>
                <a:latin typeface="Noto Sans SC" panose="020B0200000000000000" charset="-122"/>
                <a:ea typeface="Noto Sans SC" panose="020B0200000000000000" charset="-122"/>
                <a:cs typeface="Noto Sans SC" panose="020B0200000000000000" charset="-122"/>
                <a:sym typeface="Noto Sans SC" panose="020B0200000000000000" charset="-122"/>
              </a:rPr>
              <a:t>a^t</a:t>
            </a:r>
            <a:endParaRPr lang="en-US" sz="1100"/>
          </a:p>
        </p:txBody>
      </p:sp>
      <p:cxnSp>
        <p:nvCxnSpPr>
          <p:cNvPr id="6" name="Connector 6"/>
          <p:cNvCxnSpPr/>
          <p:nvPr/>
        </p:nvCxnSpPr>
        <p:spPr>
          <a:xfrm rot="-114549">
            <a:off x="3365606" y="2533650"/>
            <a:ext cx="381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7" name="AutoShape 7"/>
          <p:cNvSpPr/>
          <p:nvPr/>
        </p:nvSpPr>
        <p:spPr>
          <a:xfrm>
            <a:off x="3810000" y="2286000"/>
            <a:ext cx="762000" cy="508000"/>
          </a:xfrm>
          <a:prstGeom prst="roundRect">
            <a:avLst>
              <a:gd name="adj" fmla="val 40000"/>
            </a:avLst>
          </a:prstGeom>
          <a:solidFill>
            <a:srgbClr val="E5E7EB">
              <a:alpha val="100000"/>
            </a:srgbClr>
          </a:solidFill>
          <a:ln cap="flat" cmpd="sng">
            <a:solidFill>
              <a:srgbClr val="B7C0D2">
                <a:alpha val="100000"/>
              </a:srgbClr>
            </a:solid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ŷ^t</a:t>
            </a:r>
            <a:endParaRPr lang="en-US" sz="1100"/>
          </a:p>
        </p:txBody>
      </p:sp>
      <p:sp>
        <p:nvSpPr>
          <p:cNvPr id="8" name="AutoShape 8"/>
          <p:cNvSpPr/>
          <p:nvPr/>
        </p:nvSpPr>
        <p:spPr>
          <a:xfrm>
            <a:off x="1016000" y="3175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循环机制：隐藏状态 a^t 携带历史信息反馈至下一时刻</a:t>
            </a:r>
            <a:endParaRPr lang="en-US" sz="1100"/>
          </a:p>
        </p:txBody>
      </p:sp>
      <p:sp>
        <p:nvSpPr>
          <p:cNvPr id="9" name="AutoShape 9"/>
          <p:cNvSpPr/>
          <p:nvPr/>
        </p:nvSpPr>
        <p:spPr>
          <a:xfrm>
            <a:off x="1016000" y="4191000"/>
            <a:ext cx="508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RNN 通过在网络中引入循环结构，打破了传统神经网络的独立输入假设。它利用隐藏层状态作为“记忆载体”，将当前时刻的计算结果传递给下一时刻，从而赋予模型捕捉序列数据（如文本、语音、时间序列）中时序依赖关系的能力，是处理序列化信息的基础架构。</a:t>
            </a:r>
            <a:endParaRPr lang="en-US" sz="1100"/>
          </a:p>
        </p:txBody>
      </p:sp>
      <p:sp>
        <p:nvSpPr>
          <p:cNvPr id="10" name="AutoShape 10"/>
          <p:cNvSpPr/>
          <p:nvPr/>
        </p:nvSpPr>
        <p:spPr>
          <a:xfrm>
            <a:off x="6604000" y="16510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前向传播核心公式</a:t>
            </a:r>
            <a:endParaRPr lang="en-US" sz="1100"/>
          </a:p>
        </p:txBody>
      </p:sp>
      <p:sp>
        <p:nvSpPr>
          <p:cNvPr id="11" name="AutoShape 11"/>
          <p:cNvSpPr/>
          <p:nvPr/>
        </p:nvSpPr>
        <p:spPr>
          <a:xfrm>
            <a:off x="6604000" y="2413000"/>
            <a:ext cx="4826000" cy="2794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794500" y="2603500"/>
            <a:ext cx="4445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1. 隐藏状态更新 (记忆更新)</a:t>
            </a:r>
            <a:endParaRPr lang="en-US" sz="1100"/>
          </a:p>
          <a:p>
            <a:pPr marL="0" indent="0" algn="l">
              <a:lnSpc>
                <a:spcPct val="167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a^t = tanh(W_aa · a^(t-1) + W_ax · x^t + b_a)</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67000"/>
              </a:lnSpc>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2. 输出层计算 (当前预测)</a:t>
            </a:r>
            <a:endPar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67000"/>
              </a:lnSpc>
            </a:pP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ŷ^t = softmax(W_ya · a^t + b_y)</a:t>
            </a:r>
            <a:endPar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
        <p:nvSpPr>
          <p:cNvPr id="13" name="AutoShape 13"/>
          <p:cNvSpPr/>
          <p:nvPr/>
        </p:nvSpPr>
        <p:spPr>
          <a:xfrm>
            <a:off x="6604000" y="5461000"/>
            <a:ext cx="482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激活函数选择：隐藏层常用 tanh 或 ReLU 来压缩输出范围，输出层则根据任务目标选择 Sigmoid（二分类）或 Softmax（多分类）函数，实现对序列信息的有效建模。</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RNN 的梯度问题</a:t>
            </a:r>
            <a:endParaRPr lang="en-US" sz="1100"/>
          </a:p>
        </p:txBody>
      </p:sp>
      <p:sp>
        <p:nvSpPr>
          <p:cNvPr id="3" name="AutoShape 3"/>
          <p:cNvSpPr/>
          <p:nvPr/>
        </p:nvSpPr>
        <p:spPr>
          <a:xfrm>
            <a:off x="1016000" y="1651000"/>
            <a:ext cx="5080000" cy="4064000"/>
          </a:xfrm>
          <a:prstGeom prst="roundRect">
            <a:avLst>
              <a:gd name="adj" fmla="val 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270000" y="1905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梯度消失 (Vanishing Gradient)</a:t>
            </a:r>
            <a:endParaRPr lang="en-US" sz="1100"/>
          </a:p>
        </p:txBody>
      </p:sp>
      <p:sp>
        <p:nvSpPr>
          <p:cNvPr id="5" name="AutoShape 5"/>
          <p:cNvSpPr/>
          <p:nvPr/>
        </p:nvSpPr>
        <p:spPr>
          <a:xfrm>
            <a:off x="1270000" y="2476500"/>
            <a:ext cx="457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反向传播时，梯度需连乘多个时间步的权重矩阵</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若权重矩阵特征值小于1，梯度随时间步增加呈指数级衰减</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深层网络的参数几乎无法更新，导致模型难以捕捉长距离依赖</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序列后段的信息无法有效影响模型对前段信息的处理</a:t>
            </a:r>
            <a:endParaRPr lang="en-US" sz="1100"/>
          </a:p>
        </p:txBody>
      </p:sp>
      <p:cxnSp>
        <p:nvCxnSpPr>
          <p:cNvPr id="6" name="Connector 6"/>
          <p:cNvCxnSpPr/>
          <p:nvPr/>
        </p:nvCxnSpPr>
        <p:spPr>
          <a:xfrm rot="-9549">
            <a:off x="1270009" y="4121150"/>
            <a:ext cx="4572000" cy="12700"/>
          </a:xfrm>
          <a:prstGeom prst="line">
            <a:avLst/>
          </a:prstGeom>
          <a:solidFill>
            <a:srgbClr val="DEE0E3">
              <a:alpha val="100000"/>
            </a:srgbClr>
          </a:solidFill>
          <a:ln w="12700" cap="flat" cmpd="sng">
            <a:solidFill>
              <a:srgbClr val="991B1B">
                <a:alpha val="15000"/>
              </a:srgbClr>
            </a:solidFill>
            <a:prstDash val="dash"/>
            <a:round/>
            <a:headEnd type="none" w="med" len="med"/>
            <a:tailEnd type="none" w="med" len="med"/>
          </a:ln>
        </p:spPr>
      </p:cxnSp>
      <p:sp>
        <p:nvSpPr>
          <p:cNvPr id="7" name="AutoShape 7"/>
          <p:cNvSpPr/>
          <p:nvPr/>
        </p:nvSpPr>
        <p:spPr>
          <a:xfrm>
            <a:off x="1270000" y="43180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典型案例：</a:t>
            </a:r>
            <a:r>
              <a:rPr lang="en-US" sz="1300" b="0"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在长句 "The cat, which ... , was full" 中，模型无法将远处的 "cat" 与谓语 "was" 进行正确的单复数匹配，导致语义理解错误。</a:t>
            </a:r>
            <a:endParaRPr lang="en-US" sz="1100"/>
          </a:p>
        </p:txBody>
      </p:sp>
      <p:sp>
        <p:nvSpPr>
          <p:cNvPr id="8" name="AutoShape 8"/>
          <p:cNvSpPr/>
          <p:nvPr/>
        </p:nvSpPr>
        <p:spPr>
          <a:xfrm>
            <a:off x="6350000" y="1651000"/>
            <a:ext cx="5080000" cy="4064000"/>
          </a:xfrm>
          <a:prstGeom prst="roundRect">
            <a:avLst>
              <a:gd name="adj" fmla="val 0"/>
            </a:avLst>
          </a:prstGeom>
          <a:solidFill>
            <a:srgbClr val="FEF2F2">
              <a:alpha val="100000"/>
            </a:srgbClr>
          </a:solidFill>
          <a:ln w="12700" cap="flat" cmpd="sng">
            <a:solidFill>
              <a:srgbClr val="FECACA">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604000" y="1905000"/>
            <a:ext cx="457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991B1B"/>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梯度爆炸 (Exploding Gradient)</a:t>
            </a:r>
            <a:endParaRPr lang="en-US" sz="1100"/>
          </a:p>
        </p:txBody>
      </p:sp>
      <p:sp>
        <p:nvSpPr>
          <p:cNvPr id="10" name="AutoShape 10"/>
          <p:cNvSpPr/>
          <p:nvPr/>
        </p:nvSpPr>
        <p:spPr>
          <a:xfrm>
            <a:off x="6604000" y="2476500"/>
            <a:ext cx="4572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当权重矩阵特征值大于1时，梯度随反向传播呈指数级放大</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参数更新幅度过大，导致模型参数值迅速偏离最优解区域</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损失函数剧烈震荡，甚至出现 NaN（非数值）错误，使训练直接中断</a:t>
            </a:r>
            <a:b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7F1D1D"/>
                </a:solidFill>
                <a:latin typeface="Noto Sans SC" panose="020B0200000000000000" charset="-122"/>
                <a:ea typeface="Noto Sans SC" panose="020B0200000000000000" charset="-122"/>
                <a:cs typeface="Noto Sans SC" panose="020B0200000000000000" charset="-122"/>
                <a:sym typeface="Noto Sans SC" panose="020B0200000000000000" charset="-122"/>
              </a:rPr>
              <a:t>• 通常发生在深层循环网络或权重初始化不当的场景中</a:t>
            </a:r>
            <a:endParaRPr lang="en-US" sz="1100"/>
          </a:p>
        </p:txBody>
      </p:sp>
      <p:cxnSp>
        <p:nvCxnSpPr>
          <p:cNvPr id="11" name="Connector 11"/>
          <p:cNvCxnSpPr/>
          <p:nvPr/>
        </p:nvCxnSpPr>
        <p:spPr>
          <a:xfrm rot="-9549">
            <a:off x="6604009" y="4121150"/>
            <a:ext cx="4572000" cy="12700"/>
          </a:xfrm>
          <a:prstGeom prst="line">
            <a:avLst/>
          </a:prstGeom>
          <a:solidFill>
            <a:srgbClr val="DEE0E3">
              <a:alpha val="100000"/>
            </a:srgbClr>
          </a:solidFill>
          <a:ln w="12700" cap="flat" cmpd="sng">
            <a:solidFill>
              <a:srgbClr val="166534">
                <a:alpha val="15000"/>
              </a:srgbClr>
            </a:solidFill>
            <a:prstDash val="dash"/>
            <a:round/>
            <a:headEnd type="none" w="med" len="med"/>
            <a:tailEnd type="none" w="med" len="med"/>
          </a:ln>
        </p:spPr>
      </p:cxnSp>
      <p:sp>
        <p:nvSpPr>
          <p:cNvPr id="12" name="AutoShape 12"/>
          <p:cNvSpPr/>
          <p:nvPr/>
        </p:nvSpPr>
        <p:spPr>
          <a:xfrm>
            <a:off x="6604000" y="4318000"/>
            <a:ext cx="4572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应对策略：</a:t>
            </a:r>
            <a:r>
              <a:rPr lang="en-US" sz="13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1. 梯度裁剪 (Gradient Clipping)：限制梯度的最大范数，防止其过大。</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2. 改进网络结构：使用 LSTM 或 GRU 等门控机制来控制信息流。</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14532D"/>
                </a:solidFill>
                <a:latin typeface="Noto Sans SC" panose="020B0200000000000000" charset="-122"/>
                <a:ea typeface="Noto Sans SC" panose="020B0200000000000000" charset="-122"/>
                <a:cs typeface="Noto Sans SC" panose="020B0200000000000000" charset="-122"/>
                <a:sym typeface="Noto Sans SC" panose="020B0200000000000000" charset="-122"/>
              </a:rPr>
              <a:t>3. 权重正则化：添加权重衰减项约束参数规模。</a:t>
            </a:r>
            <a:endParaRPr lang="en-US" sz="11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LSTM 长短期记忆网络</a:t>
            </a:r>
            <a:endParaRPr lang="en-US" sz="1100"/>
          </a:p>
        </p:txBody>
      </p:sp>
      <p:sp>
        <p:nvSpPr>
          <p:cNvPr id="3" name="AutoShape 3"/>
          <p:cNvSpPr/>
          <p:nvPr/>
        </p:nvSpPr>
        <p:spPr>
          <a:xfrm>
            <a:off x="1016000" y="16510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LSTM 通过三个核心“门”结构精细控制信息的流入与流出，有效解决了传统循环神经网络的梯度消失问题，使其具备学习长距离时间依赖关系的能力。</a:t>
            </a:r>
            <a:endParaRPr lang="en-US" sz="1100"/>
          </a:p>
        </p:txBody>
      </p:sp>
      <p:sp>
        <p:nvSpPr>
          <p:cNvPr id="4" name="AutoShape 4"/>
          <p:cNvSpPr/>
          <p:nvPr/>
        </p:nvSpPr>
        <p:spPr>
          <a:xfrm>
            <a:off x="1016000" y="2794000"/>
            <a:ext cx="4826000" cy="8255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2895600"/>
            <a:ext cx="444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遗忘门 (Forget Gate) Γf</a:t>
            </a:r>
            <a:endParaRPr lang="en-US" sz="1100"/>
          </a:p>
        </p:txBody>
      </p:sp>
      <p:sp>
        <p:nvSpPr>
          <p:cNvPr id="6" name="AutoShape 6"/>
          <p:cNvSpPr/>
          <p:nvPr/>
        </p:nvSpPr>
        <p:spPr>
          <a:xfrm>
            <a:off x="1206500" y="32258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sigmoid 输出 0-1 之间的概率值，决定细胞状态中丢弃哪些无关的历史信息。</a:t>
            </a:r>
            <a:endParaRPr lang="en-US" sz="1100"/>
          </a:p>
        </p:txBody>
      </p:sp>
      <p:sp>
        <p:nvSpPr>
          <p:cNvPr id="7" name="AutoShape 7"/>
          <p:cNvSpPr/>
          <p:nvPr/>
        </p:nvSpPr>
        <p:spPr>
          <a:xfrm>
            <a:off x="1016000" y="3810000"/>
            <a:ext cx="4826000" cy="8255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206500" y="3911600"/>
            <a:ext cx="444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更新门 (Update Gate) Γu</a:t>
            </a:r>
            <a:endParaRPr lang="en-US" sz="1100"/>
          </a:p>
        </p:txBody>
      </p:sp>
      <p:sp>
        <p:nvSpPr>
          <p:cNvPr id="9" name="AutoShape 9"/>
          <p:cNvSpPr/>
          <p:nvPr/>
        </p:nvSpPr>
        <p:spPr>
          <a:xfrm>
            <a:off x="1206500" y="42418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 sigmoid 门控与 tanh 生成的候选值共同作用，决定将哪些新信息更新写入细胞状态。</a:t>
            </a:r>
            <a:endParaRPr lang="en-US" sz="1100"/>
          </a:p>
        </p:txBody>
      </p:sp>
      <p:sp>
        <p:nvSpPr>
          <p:cNvPr id="10" name="AutoShape 10"/>
          <p:cNvSpPr/>
          <p:nvPr/>
        </p:nvSpPr>
        <p:spPr>
          <a:xfrm>
            <a:off x="1016000" y="4826000"/>
            <a:ext cx="4826000" cy="8255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206500" y="4927600"/>
            <a:ext cx="4445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输出门 (Output Gate) Γo</a:t>
            </a:r>
            <a:endParaRPr lang="en-US" sz="1100"/>
          </a:p>
        </p:txBody>
      </p:sp>
      <p:sp>
        <p:nvSpPr>
          <p:cNvPr id="12" name="AutoShape 12"/>
          <p:cNvSpPr/>
          <p:nvPr/>
        </p:nvSpPr>
        <p:spPr>
          <a:xfrm>
            <a:off x="1206500" y="52578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控制最终的输出内容，基于当前细胞状态过滤信息，生成传递给下一个单元的隐藏状态。</a:t>
            </a:r>
            <a:endParaRPr lang="en-US" sz="1100"/>
          </a:p>
        </p:txBody>
      </p:sp>
      <p:sp>
        <p:nvSpPr>
          <p:cNvPr id="13" name="AutoShape 13"/>
          <p:cNvSpPr/>
          <p:nvPr/>
        </p:nvSpPr>
        <p:spPr>
          <a:xfrm>
            <a:off x="6350000" y="1651000"/>
            <a:ext cx="5080000" cy="40005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350000" y="1651000"/>
            <a:ext cx="5080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540500" y="1790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794500" y="1790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048500" y="1790700"/>
            <a:ext cx="127000" cy="1270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7493000" y="1727200"/>
            <a:ext cx="3175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lstm_cell_forward.py</a:t>
            </a:r>
            <a:endParaRPr lang="en-US" sz="1100"/>
          </a:p>
        </p:txBody>
      </p:sp>
      <p:sp>
        <p:nvSpPr>
          <p:cNvPr id="19" name="AutoShape 19"/>
          <p:cNvSpPr/>
          <p:nvPr/>
        </p:nvSpPr>
        <p:spPr>
          <a:xfrm>
            <a:off x="6540500" y="2286000"/>
            <a:ext cx="4699000" cy="311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计算遗忘门与更新门</a:t>
            </a:r>
            <a:endParaRPr lang="en-US" sz="1100"/>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Γf = sigmoid(Wf @ concat(a_prev, x) + bf)</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Γu = sigmoid(Wu @ concat(a_prev, x) + bu)</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生成候选记忆单元</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c_candidate = tanh(Wc @ concat(a_prev, x) + bc)</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更新细胞状态 (核心记忆)</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c_current = Γf * c_prev + Γu * c_candidate</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4. 计算输出门与最终隐藏状态</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Γo = sigmoid(Wo @ concat(a_prev, x) + bo)</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a_current = Γo * tanh(c_current)</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GRU 门控循环单元</a:t>
            </a:r>
            <a:endParaRPr lang="en-US" sz="1100"/>
          </a:p>
        </p:txBody>
      </p:sp>
      <p:sp>
        <p:nvSpPr>
          <p:cNvPr id="3" name="AutoShape 3"/>
          <p:cNvSpPr/>
          <p:nvPr/>
        </p:nvSpPr>
        <p:spPr>
          <a:xfrm>
            <a:off x="1016000" y="16510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GRU 是 LSTM 的简化版本，将细胞状态与隐藏状态合并，仅保留两个门控机制，大幅减少了参数数量，同时保持了优异的长序列记忆能力，训练效率更高。</a:t>
            </a:r>
            <a:endParaRPr lang="en-US" sz="1100"/>
          </a:p>
        </p:txBody>
      </p:sp>
      <p:sp>
        <p:nvSpPr>
          <p:cNvPr id="4" name="AutoShape 4"/>
          <p:cNvSpPr/>
          <p:nvPr/>
        </p:nvSpPr>
        <p:spPr>
          <a:xfrm>
            <a:off x="1016000" y="2921000"/>
            <a:ext cx="5080000" cy="88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206500" y="3048000"/>
            <a:ext cx="469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更新门 Γu (Update Gate)</a:t>
            </a:r>
            <a:endParaRPr lang="en-US" sz="1100"/>
          </a:p>
        </p:txBody>
      </p:sp>
      <p:sp>
        <p:nvSpPr>
          <p:cNvPr id="6" name="AutoShape 6"/>
          <p:cNvSpPr/>
          <p:nvPr/>
        </p:nvSpPr>
        <p:spPr>
          <a:xfrm>
            <a:off x="1206500" y="3365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sigmoid 输出 0~1 之间的值，同时决定“遗忘旧信息”和“保留新信息”的比例，替代了 LSTM 的输入门与遗忘门。</a:t>
            </a:r>
            <a:endParaRPr lang="en-US" sz="1100"/>
          </a:p>
        </p:txBody>
      </p:sp>
      <p:sp>
        <p:nvSpPr>
          <p:cNvPr id="7" name="AutoShape 7"/>
          <p:cNvSpPr/>
          <p:nvPr/>
        </p:nvSpPr>
        <p:spPr>
          <a:xfrm>
            <a:off x="1016000" y="4064000"/>
            <a:ext cx="5080000" cy="889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206500" y="4191000"/>
            <a:ext cx="4699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重置门 Γr (Reset Gate)</a:t>
            </a:r>
            <a:endParaRPr lang="en-US" sz="1100"/>
          </a:p>
        </p:txBody>
      </p:sp>
      <p:sp>
        <p:nvSpPr>
          <p:cNvPr id="9" name="AutoShape 9"/>
          <p:cNvSpPr/>
          <p:nvPr/>
        </p:nvSpPr>
        <p:spPr>
          <a:xfrm>
            <a:off x="1206500" y="4508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控制候选隐藏状态的计算中，对前一时刻隐藏状态的“记忆程度”，决定了要忽略多少过去的信息，帮助模型捕捉短期依赖。</a:t>
            </a:r>
            <a:endParaRPr lang="en-US" sz="1100"/>
          </a:p>
        </p:txBody>
      </p:sp>
      <p:sp>
        <p:nvSpPr>
          <p:cNvPr id="10" name="AutoShape 10"/>
          <p:cNvSpPr/>
          <p:nvPr/>
        </p:nvSpPr>
        <p:spPr>
          <a:xfrm>
            <a:off x="6604000" y="1651000"/>
            <a:ext cx="4826000" cy="2794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756400" y="1803400"/>
            <a:ext cx="127000" cy="127000"/>
          </a:xfrm>
          <a:prstGeom prst="ellipse">
            <a:avLst/>
          </a:prstGeom>
          <a:solidFill>
            <a:srgbClr val="FF5F5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985000" y="1803400"/>
            <a:ext cx="127000" cy="127000"/>
          </a:xfrm>
          <a:prstGeom prst="ellipse">
            <a:avLst/>
          </a:prstGeom>
          <a:solidFill>
            <a:srgbClr val="FFBD2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213600" y="1803400"/>
            <a:ext cx="127000" cy="127000"/>
          </a:xfrm>
          <a:prstGeom prst="ellipse">
            <a:avLst/>
          </a:prstGeom>
          <a:solidFill>
            <a:srgbClr val="28CA42">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5565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gru.py</a:t>
            </a:r>
            <a:endParaRPr lang="en-US" sz="1100"/>
          </a:p>
        </p:txBody>
      </p:sp>
      <p:sp>
        <p:nvSpPr>
          <p:cNvPr id="16" name="AutoShape 16"/>
          <p:cNvSpPr/>
          <p:nvPr/>
        </p:nvSpPr>
        <p:spPr>
          <a:xfrm>
            <a:off x="6858000" y="2222500"/>
            <a:ext cx="44450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计算更新门与重置门</a:t>
            </a:r>
            <a:endParaRPr lang="en-US" sz="1100"/>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z = σ(Wz·[hₜ₋₁, xₜ] + bz)</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r = σ(Wr·[hₜ₋₁, xₜ] + br)</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计算候选隐藏状态</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h̃ₜ = tanh(W·[r*hₜ₋₁, xₜ] + b)</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最终状态更新</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25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hₜ = z*hₜ₋₁ + (1-z)*h̃ₜ</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
        <p:nvSpPr>
          <p:cNvPr id="17" name="AutoShape 17"/>
          <p:cNvSpPr/>
          <p:nvPr/>
        </p:nvSpPr>
        <p:spPr>
          <a:xfrm>
            <a:off x="1016000" y="5080000"/>
            <a:ext cx="10414000" cy="762000"/>
          </a:xfrm>
          <a:prstGeom prst="roundRect">
            <a:avLst>
              <a:gd name="adj" fmla="val 0"/>
            </a:avLst>
          </a:prstGeom>
          <a:solidFill>
            <a:srgbClr val="F0FDF4">
              <a:alpha val="100000"/>
            </a:srgbClr>
          </a:solidFill>
          <a:ln cap="flat" cmpd="sng">
            <a:solidFill>
              <a:srgbClr val="C1E4CC">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270000" y="5232400"/>
            <a:ext cx="9906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核心差异：</a:t>
            </a:r>
            <a:r>
              <a:rPr lang="en-US" sz="1400" b="0"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LSTM 拥有输入门、遗忘门和输出门 3 个门控，参数较多但建模能力极强；GRU 简化为 2 个门，参数更少、收敛更快。两者均能有效解决 RNN 的梯度消失问题，在序列建模任务中可根据算力和精度需求灵活选择。</a:t>
            </a:r>
            <a:endParaRPr lang="en-US" sz="11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Bidirectional RNN 与 Deep RNNs</a:t>
            </a:r>
            <a:endParaRPr lang="en-US" sz="1100"/>
          </a:p>
        </p:txBody>
      </p:sp>
      <p:sp>
        <p:nvSpPr>
          <p:cNvPr id="3" name="AutoShape 3"/>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双向 RNN</a:t>
            </a:r>
            <a:endParaRPr lang="en-US" sz="1100"/>
          </a:p>
        </p:txBody>
      </p:sp>
      <p:sp>
        <p:nvSpPr>
          <p:cNvPr id="4" name="AutoShape 4"/>
          <p:cNvSpPr/>
          <p:nvPr/>
        </p:nvSpPr>
        <p:spPr>
          <a:xfrm>
            <a:off x="1016000" y="22225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通过并行运行前向和后向两个独立的 RNN，使模型在处理每个时间步时，既能利用过去的上下文信息，也能获取未来的序列内容，从而更全面地理解时序数据。</a:t>
            </a:r>
            <a:endParaRPr lang="en-US" sz="1100"/>
          </a:p>
        </p:txBody>
      </p:sp>
      <p:sp>
        <p:nvSpPr>
          <p:cNvPr id="5" name="AutoShape 5"/>
          <p:cNvSpPr/>
          <p:nvPr/>
        </p:nvSpPr>
        <p:spPr>
          <a:xfrm>
            <a:off x="1016000" y="3683000"/>
            <a:ext cx="4826000" cy="101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270000" y="3810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融合前后向隐状态</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ŷ^t = g(Wy · [a→^t, a←^t] + by)</a:t>
            </a:r>
            <a:endParaRPr lang="en-US" sz="1100"/>
          </a:p>
        </p:txBody>
      </p:sp>
      <p:sp>
        <p:nvSpPr>
          <p:cNvPr id="7" name="AutoShape 7"/>
          <p:cNvSpPr/>
          <p:nvPr/>
        </p:nvSpPr>
        <p:spPr>
          <a:xfrm>
            <a:off x="1016000" y="508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典型应用于输入序列完整可见的任务，如文本情感分析、静态序列标注；但由于依赖未来信息，不适合语音实时转录等流式处理场景。</a:t>
            </a:r>
            <a:endParaRPr lang="en-US" sz="1100"/>
          </a:p>
        </p:txBody>
      </p:sp>
      <p:sp>
        <p:nvSpPr>
          <p:cNvPr id="8" name="AutoShape 8"/>
          <p:cNvSpPr/>
          <p:nvPr/>
        </p:nvSpPr>
        <p:spPr>
          <a:xfrm>
            <a:off x="6604000" y="1651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深层 RNN</a:t>
            </a:r>
            <a:endParaRPr lang="en-US" sz="1100"/>
          </a:p>
        </p:txBody>
      </p:sp>
      <p:sp>
        <p:nvSpPr>
          <p:cNvPr id="9" name="AutoShape 9"/>
          <p:cNvSpPr/>
          <p:nvPr/>
        </p:nvSpPr>
        <p:spPr>
          <a:xfrm>
            <a:off x="6604000" y="2222500"/>
            <a:ext cx="4826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将多层 RNN 垂直堆叠，下层网络的隐藏状态序列作为上层的输入。这种层级结构能逐层提取从简单到复杂的特征，增强模型对长期依赖的捕捉能力。</a:t>
            </a:r>
            <a:endParaRPr lang="en-US" sz="1100"/>
          </a:p>
        </p:txBody>
      </p:sp>
      <p:sp>
        <p:nvSpPr>
          <p:cNvPr id="10" name="AutoShape 10"/>
          <p:cNvSpPr/>
          <p:nvPr/>
        </p:nvSpPr>
        <p:spPr>
          <a:xfrm>
            <a:off x="6604000" y="3683000"/>
            <a:ext cx="4826000" cy="101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858000" y="38100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6A9955"/>
                </a:solidFill>
                <a:latin typeface="Consolas" panose="020B0609020204030204"/>
                <a:ea typeface="Consolas" panose="020B0609020204030204"/>
                <a:cs typeface="Consolas" panose="020B0609020204030204"/>
                <a:sym typeface="Consolas" panose="020B0609020204030204"/>
              </a:rPr>
              <a:t># 第 l 层第 t 步的状态更新</a:t>
            </a:r>
            <a:br>
              <a:rPr lang="en-US" sz="14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400" b="0" i="0" u="none" strike="noStrike">
                <a:solidFill>
                  <a:srgbClr val="569CD6"/>
                </a:solidFill>
                <a:latin typeface="Consolas" panose="020B0609020204030204"/>
                <a:ea typeface="Consolas" panose="020B0609020204030204"/>
                <a:cs typeface="Consolas" panose="020B0609020204030204"/>
                <a:sym typeface="Consolas" panose="020B0609020204030204"/>
              </a:rPr>
              <a:t>a[l]^t = g(W[l] · [a[l]^(t-1), a[l-1]^t] + b[l])</a:t>
            </a:r>
            <a:endParaRPr lang="en-US" sz="1100"/>
          </a:p>
        </p:txBody>
      </p:sp>
      <p:sp>
        <p:nvSpPr>
          <p:cNvPr id="12" name="AutoShape 12"/>
          <p:cNvSpPr/>
          <p:nvPr/>
        </p:nvSpPr>
        <p:spPr>
          <a:xfrm>
            <a:off x="6604000" y="50800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实际应用中通常使用 2-3 层即可，层数过深会增加计算负担，并可能引发梯度消失问题。常用于处理具有复杂结构的时序数据，如语音合成与复杂语言模型。</a:t>
            </a:r>
            <a:endParaRPr lang="en-US" sz="11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Word Embeddings 词嵌入</a:t>
            </a:r>
            <a:endParaRPr lang="en-US" sz="1100"/>
          </a:p>
        </p:txBody>
      </p:sp>
      <p:sp>
        <p:nvSpPr>
          <p:cNvPr id="3" name="AutoShape 3"/>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词表示的演进与核心思想</a:t>
            </a:r>
            <a:endParaRPr lang="en-US" sz="1100"/>
          </a:p>
        </p:txBody>
      </p:sp>
      <p:sp>
        <p:nvSpPr>
          <p:cNvPr id="4" name="AutoShape 4"/>
          <p:cNvSpPr/>
          <p:nvPr/>
        </p:nvSpPr>
        <p:spPr>
          <a:xfrm>
            <a:off x="1016000" y="2286000"/>
            <a:ext cx="5080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One-hot 编码：</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高维稀疏的离散向量，仅能表示“存在与否”，无法刻画词汇间的语义关联与相似性。</a:t>
            </a:r>
            <a:endParaRPr lang="en-US" sz="1100"/>
          </a:p>
          <a:p>
            <a:pPr marL="0" indent="0" algn="l">
              <a:lnSpc>
                <a:spcPct val="167000"/>
              </a:lnSpc>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5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词嵌入 (Embedding)：</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将词汇映射为低维稠密的连续值向量，在向量空间中，语义相近的词拥有相似的向量表示。</a:t>
            </a:r>
            <a:endPar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016000" y="4699000"/>
            <a:ext cx="5080000" cy="1524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206500" y="4889500"/>
            <a:ext cx="4699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经典语义类比特性</a:t>
            </a:r>
            <a:endParaRPr lang="en-US" sz="1100"/>
          </a:p>
          <a:p>
            <a:pPr marL="0"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向量空间中蕴含着线性的语义关系：</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vec(男人) - vec(女人) ≈ vec(国王) - vec(王后)</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这使得模型能自动捕捉到性别、职业等抽象的语言规律。</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604000" y="1651000"/>
            <a:ext cx="4826000" cy="3175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756400" y="1790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985000" y="1790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213600" y="1790700"/>
            <a:ext cx="127000" cy="1270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76200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embedding_layer.py</a:t>
            </a:r>
            <a:endParaRPr lang="en-US" sz="1100"/>
          </a:p>
        </p:txBody>
      </p:sp>
      <p:sp>
        <p:nvSpPr>
          <p:cNvPr id="13" name="AutoShape 13"/>
          <p:cNvSpPr/>
          <p:nvPr/>
        </p:nvSpPr>
        <p:spPr>
          <a:xfrm>
            <a:off x="6794500" y="2222500"/>
            <a:ext cx="4572000" cy="254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定义词汇表大小与嵌入维度</a:t>
            </a:r>
            <a:endParaRPr lang="en-US" sz="1100"/>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vocab_size = 10000</a:t>
            </a: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唯一词汇总数</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embed_dim = 300</a:t>
            </a: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稠密向量维度</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44"/>
                </a:solidFill>
                <a:latin typeface="Consolas" panose="020B0609020204030204"/>
                <a:ea typeface="Consolas" panose="020B0609020204030204"/>
                <a:cs typeface="Consolas" panose="020B0609020204030204"/>
                <a:sym typeface="Consolas" panose="020B0609020204030204"/>
              </a:rPr>
              <a:t>embedding_layer</a:t>
            </a: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 Embedding(</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input_dim=vocab_size,</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output_dim=embed_dim</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a:p>
            <a:pPr marL="0" indent="0" algn="l">
              <a:lnSpc>
                <a:spcPct val="133000"/>
              </a:lnSpc>
            </a:pP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a:t>
            </a:r>
            <a:endPar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4" name="AutoShape 14"/>
          <p:cNvSpPr/>
          <p:nvPr/>
        </p:nvSpPr>
        <p:spPr>
          <a:xfrm>
            <a:off x="6604000" y="5080000"/>
            <a:ext cx="4826000" cy="1397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794500" y="5270500"/>
            <a:ext cx="457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技术价值</a:t>
            </a:r>
            <a:endParaRPr lang="en-US" sz="1100"/>
          </a:p>
          <a:p>
            <a:pPr marL="0" indent="0" algn="l">
              <a:lnSpc>
                <a:spcPct val="125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词嵌入解决了传统离散表示维度灾难和语义缺失的问题，是连接符号化语言与数值化计算的桥梁，为深度学习在NLP领域的成功奠定了基础。</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Word2Vec 与 Skip-gram</a:t>
            </a:r>
            <a:endParaRPr lang="en-US" sz="1100"/>
          </a:p>
        </p:txBody>
      </p:sp>
      <p:sp>
        <p:nvSpPr>
          <p:cNvPr id="3" name="AutoShape 3"/>
          <p:cNvSpPr/>
          <p:nvPr/>
        </p:nvSpPr>
        <p:spPr>
          <a:xfrm>
            <a:off x="1016000" y="1651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Word2Vec 核心模型</a:t>
            </a:r>
            <a:endParaRPr lang="en-US" sz="1100"/>
          </a:p>
        </p:txBody>
      </p:sp>
      <p:sp>
        <p:nvSpPr>
          <p:cNvPr id="4" name="AutoShape 4"/>
          <p:cNvSpPr/>
          <p:nvPr/>
        </p:nvSpPr>
        <p:spPr>
          <a:xfrm>
            <a:off x="1016000" y="22225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基于无监督学习的词嵌入技术，通过上下文环境来学习词语的分布式向量表示，将离散的符号转化为连续的稠密向量，捕捉语义关联。</a:t>
            </a:r>
            <a:endParaRPr lang="en-US" sz="1100"/>
          </a:p>
        </p:txBody>
      </p:sp>
      <p:sp>
        <p:nvSpPr>
          <p:cNvPr id="5" name="AutoShape 5"/>
          <p:cNvSpPr/>
          <p:nvPr/>
        </p:nvSpPr>
        <p:spPr>
          <a:xfrm>
            <a:off x="1016000" y="31115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Skip-gram：已知中心词，预测其上下文概率（擅长处理低频词）</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CBOW：已知上下文，预测中心词（训练速度快，适合高频词）</a:t>
            </a:r>
            <a:endParaRPr lang="en-US" sz="1100"/>
          </a:p>
        </p:txBody>
      </p:sp>
      <p:sp>
        <p:nvSpPr>
          <p:cNvPr id="6" name="AutoShape 6"/>
          <p:cNvSpPr/>
          <p:nvPr/>
        </p:nvSpPr>
        <p:spPr>
          <a:xfrm>
            <a:off x="1016000" y="4127500"/>
            <a:ext cx="5080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4318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Skip-gram 训练优化</a:t>
            </a:r>
            <a:endParaRPr lang="en-US" sz="1100"/>
          </a:p>
        </p:txBody>
      </p:sp>
      <p:sp>
        <p:nvSpPr>
          <p:cNvPr id="8" name="AutoShape 8"/>
          <p:cNvSpPr/>
          <p:nvPr/>
        </p:nvSpPr>
        <p:spPr>
          <a:xfrm>
            <a:off x="1016000" y="48895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核心在于构造“中心词-上下文词”的正负样本对。引入</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负采样（Negative Sampling）</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将多分类问题转化为二分类，仅更新少量负样本参数，替代昂贵的 Softmax 计算，显著降低复杂度并提升训练效率。</a:t>
            </a:r>
            <a:endParaRPr lang="en-US" sz="1100"/>
          </a:p>
        </p:txBody>
      </p:sp>
      <p:sp>
        <p:nvSpPr>
          <p:cNvPr id="9" name="AutoShape 9"/>
          <p:cNvSpPr/>
          <p:nvPr/>
        </p:nvSpPr>
        <p:spPr>
          <a:xfrm>
            <a:off x="6604000" y="1651000"/>
            <a:ext cx="4826000" cy="29845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604000" y="1651000"/>
            <a:ext cx="4826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756400" y="1790700"/>
            <a:ext cx="139700" cy="1397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010400" y="1790700"/>
            <a:ext cx="139700" cy="139700"/>
          </a:xfrm>
          <a:prstGeom prst="ellipse">
            <a:avLst/>
          </a:prstGeom>
          <a:solidFill>
            <a:srgbClr val="F59E0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264400" y="1790700"/>
            <a:ext cx="139700" cy="139700"/>
          </a:xfrm>
          <a:prstGeom prst="ellipse">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7620000" y="1727200"/>
            <a:ext cx="355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skipgram_demo.py — 样本生成逻辑</a:t>
            </a:r>
            <a:endParaRPr lang="en-US" sz="1100"/>
          </a:p>
        </p:txBody>
      </p:sp>
      <p:sp>
        <p:nvSpPr>
          <p:cNvPr id="15" name="AutoShape 15"/>
          <p:cNvSpPr/>
          <p:nvPr/>
        </p:nvSpPr>
        <p:spPr>
          <a:xfrm>
            <a:off x="6794500" y="2184400"/>
            <a:ext cx="4445000" cy="234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设定参数与输入序列</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seq = ["I", "love", "deep", "learning"]</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center, window = "deep", 1</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生成正样本 (Context预测)</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positive = [("deep", "love"), ("deep", "learning")]</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生成负样本 (随机采样噪声词)</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negative = [("deep", "banana"), ("deep", "tree")]</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目标: 最大化正样本概率</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loss = -log(P(context | center))</a:t>
            </a:r>
            <a:endParaRPr lang="en-US" sz="1100"/>
          </a:p>
        </p:txBody>
      </p:sp>
      <p:sp>
        <p:nvSpPr>
          <p:cNvPr id="16" name="AutoShape 16"/>
          <p:cNvSpPr/>
          <p:nvPr/>
        </p:nvSpPr>
        <p:spPr>
          <a:xfrm>
            <a:off x="6604000" y="4953000"/>
            <a:ext cx="4826000" cy="1270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794500" y="5143500"/>
            <a:ext cx="444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技术价值：</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Skip-gram 解决了传统独热编码的稀疏性问题，让计算机能够“理解”词语的语义相似度，是现代 NLP 模型（如 BERT, GPT）词向量预训练的基础。</a:t>
            </a:r>
            <a:endParaRPr lang="en-US" sz="11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Sequence to Sequence 模型</a:t>
            </a:r>
            <a:endParaRPr lang="en-US" sz="1100"/>
          </a:p>
        </p:txBody>
      </p:sp>
      <p:sp>
        <p:nvSpPr>
          <p:cNvPr id="3" name="AutoShape 3"/>
          <p:cNvSpPr/>
          <p:nvPr/>
        </p:nvSpPr>
        <p:spPr>
          <a:xfrm>
            <a:off x="1016000" y="1651000"/>
            <a:ext cx="5080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Seq2Seq 核心架构</a:t>
            </a:r>
            <a:endParaRPr lang="en-US" sz="1100"/>
          </a:p>
        </p:txBody>
      </p:sp>
      <p:sp>
        <p:nvSpPr>
          <p:cNvPr id="4" name="AutoShape 4"/>
          <p:cNvSpPr/>
          <p:nvPr/>
        </p:nvSpPr>
        <p:spPr>
          <a:xfrm>
            <a:off x="1016000" y="2286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由编码器（Encoder）与解码器（Decoder）两个独立的循环神经网络（RNN/LSTM/GRU）构成，打破了输入与输出序列长度必须一致的限制，是处理非对称序列映射任务的基石。</a:t>
            </a:r>
            <a:endParaRPr lang="en-US" sz="1100"/>
          </a:p>
        </p:txBody>
      </p:sp>
      <p:sp>
        <p:nvSpPr>
          <p:cNvPr id="5" name="AutoShape 5"/>
          <p:cNvSpPr/>
          <p:nvPr/>
        </p:nvSpPr>
        <p:spPr>
          <a:xfrm>
            <a:off x="1016000" y="3683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8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Encoder 端对输入序列进行编码，将全部信息压缩为固定维度的上下文向量（Context Vector）；</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Decoder 端基于该向量，以自回归的方式逐一生成目标输出序列的每个元素。</a:t>
            </a:r>
            <a:endParaRPr lang="en-US" sz="1100"/>
          </a:p>
        </p:txBody>
      </p:sp>
      <p:sp>
        <p:nvSpPr>
          <p:cNvPr id="6" name="AutoShape 6"/>
          <p:cNvSpPr/>
          <p:nvPr/>
        </p:nvSpPr>
        <p:spPr>
          <a:xfrm>
            <a:off x="1016000" y="5143500"/>
            <a:ext cx="508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跨语言机器翻译（如：英-中互译任务）</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长文本智能摘要与关键信息提取</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语音识别与对话生成系统的序列转换</a:t>
            </a:r>
            <a:endParaRPr lang="en-US" sz="1100"/>
          </a:p>
        </p:txBody>
      </p:sp>
      <p:sp>
        <p:nvSpPr>
          <p:cNvPr id="7" name="AutoShape 7"/>
          <p:cNvSpPr/>
          <p:nvPr/>
        </p:nvSpPr>
        <p:spPr>
          <a:xfrm>
            <a:off x="6604000" y="1651000"/>
            <a:ext cx="2286000" cy="3302000"/>
          </a:xfrm>
          <a:prstGeom prst="roundRect">
            <a:avLst>
              <a:gd name="adj" fmla="val 0"/>
            </a:avLst>
          </a:prstGeom>
          <a:solidFill>
            <a:srgbClr val="F0FDF4">
              <a:alpha val="100000"/>
            </a:srgbClr>
          </a:solidFill>
          <a:ln cap="flat" cmpd="sng">
            <a:solidFill>
              <a:srgbClr val="C1E4CC">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18415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Encoder (编码端)</a:t>
            </a:r>
            <a:endParaRPr lang="en-US" sz="1100"/>
          </a:p>
        </p:txBody>
      </p:sp>
      <p:sp>
        <p:nvSpPr>
          <p:cNvPr id="9" name="AutoShape 9"/>
          <p:cNvSpPr/>
          <p:nvPr/>
        </p:nvSpPr>
        <p:spPr>
          <a:xfrm>
            <a:off x="6858000" y="2413000"/>
            <a:ext cx="1778000" cy="457200"/>
          </a:xfrm>
          <a:prstGeom prst="roundRect">
            <a:avLst>
              <a:gd name="adj" fmla="val 0"/>
            </a:avLst>
          </a:prstGeom>
          <a:solidFill>
            <a:srgbClr val="D1FAE5">
              <a:alpha val="100000"/>
            </a:srgbClr>
          </a:solidFill>
          <a:ln cap="flat" cmpd="sng">
            <a:solidFill>
              <a:srgbClr val="A5E1C2">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858000" y="24892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65F46"/>
                </a:solidFill>
                <a:latin typeface="Consolas" panose="020B0609020204030204"/>
                <a:ea typeface="Consolas" panose="020B0609020204030204"/>
                <a:cs typeface="Consolas" panose="020B0609020204030204"/>
                <a:sym typeface="Consolas" panose="020B0609020204030204"/>
              </a:rPr>
              <a:t>x₁ : Input Word</a:t>
            </a:r>
            <a:endParaRPr lang="en-US" sz="1100"/>
          </a:p>
        </p:txBody>
      </p:sp>
      <p:sp>
        <p:nvSpPr>
          <p:cNvPr id="11" name="AutoShape 11"/>
          <p:cNvSpPr/>
          <p:nvPr/>
        </p:nvSpPr>
        <p:spPr>
          <a:xfrm>
            <a:off x="6858000" y="3048000"/>
            <a:ext cx="1778000" cy="457200"/>
          </a:xfrm>
          <a:prstGeom prst="roundRect">
            <a:avLst>
              <a:gd name="adj" fmla="val 0"/>
            </a:avLst>
          </a:prstGeom>
          <a:solidFill>
            <a:srgbClr val="D1FAE5">
              <a:alpha val="100000"/>
            </a:srgbClr>
          </a:solidFill>
          <a:ln cap="flat" cmpd="sng">
            <a:solidFill>
              <a:srgbClr val="A5E1C2">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858000" y="31242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065F46"/>
                </a:solidFill>
                <a:latin typeface="Consolas" panose="020B0609020204030204"/>
                <a:ea typeface="Consolas" panose="020B0609020204030204"/>
                <a:cs typeface="Consolas" panose="020B0609020204030204"/>
                <a:sym typeface="Consolas" panose="020B0609020204030204"/>
              </a:rPr>
              <a:t>x₂ : Input Word</a:t>
            </a:r>
            <a:endParaRPr lang="en-US" sz="1100"/>
          </a:p>
        </p:txBody>
      </p:sp>
      <p:sp>
        <p:nvSpPr>
          <p:cNvPr id="13" name="AutoShape 13"/>
          <p:cNvSpPr/>
          <p:nvPr/>
        </p:nvSpPr>
        <p:spPr>
          <a:xfrm>
            <a:off x="6858000" y="4127500"/>
            <a:ext cx="1778000" cy="584200"/>
          </a:xfrm>
          <a:prstGeom prst="roundRect">
            <a:avLst>
              <a:gd name="adj" fmla="val 0"/>
            </a:avLst>
          </a:prstGeom>
          <a:solidFill>
            <a:srgbClr val="059669">
              <a:alpha val="100000"/>
            </a:srgbClr>
          </a:solidFill>
          <a:ln cap="flat" cmpd="sng">
            <a:solidFill>
              <a:srgbClr val="007D56">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858000" y="4241800"/>
            <a:ext cx="1778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Consolas" panose="020B0609020204030204"/>
                <a:ea typeface="Consolas" panose="020B0609020204030204"/>
                <a:cs typeface="Consolas" panose="020B0609020204030204"/>
                <a:sym typeface="Consolas" panose="020B0609020204030204"/>
              </a:rPr>
              <a:t>Context Vector (c)</a:t>
            </a:r>
            <a:endParaRPr lang="en-US" sz="1100"/>
          </a:p>
        </p:txBody>
      </p:sp>
      <p:sp>
        <p:nvSpPr>
          <p:cNvPr id="15" name="AutoShape 15"/>
          <p:cNvSpPr/>
          <p:nvPr/>
        </p:nvSpPr>
        <p:spPr>
          <a:xfrm>
            <a:off x="9144000" y="1651000"/>
            <a:ext cx="2286000" cy="3302000"/>
          </a:xfrm>
          <a:prstGeom prst="roundRect">
            <a:avLst>
              <a:gd name="adj" fmla="val 0"/>
            </a:avLst>
          </a:prstGeom>
          <a:solidFill>
            <a:srgbClr val="EFF6FF">
              <a:alpha val="100000"/>
            </a:srgbClr>
          </a:solidFill>
          <a:ln cap="flat" cmpd="sng">
            <a:solidFill>
              <a:srgbClr val="C0D0E6">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9144000" y="1841500"/>
            <a:ext cx="2286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Decoder (解码端)</a:t>
            </a:r>
            <a:endParaRPr lang="en-US" sz="1100"/>
          </a:p>
        </p:txBody>
      </p:sp>
      <p:sp>
        <p:nvSpPr>
          <p:cNvPr id="17" name="AutoShape 17"/>
          <p:cNvSpPr/>
          <p:nvPr/>
        </p:nvSpPr>
        <p:spPr>
          <a:xfrm>
            <a:off x="9398000" y="2413000"/>
            <a:ext cx="1778000" cy="4572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9398000" y="24892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Consolas" panose="020B0609020204030204"/>
                <a:ea typeface="Consolas" panose="020B0609020204030204"/>
                <a:cs typeface="Consolas" panose="020B0609020204030204"/>
                <a:sym typeface="Consolas" panose="020B0609020204030204"/>
              </a:rPr>
              <a:t>y₁ : Output Word</a:t>
            </a:r>
            <a:endParaRPr lang="en-US" sz="1100"/>
          </a:p>
        </p:txBody>
      </p:sp>
      <p:sp>
        <p:nvSpPr>
          <p:cNvPr id="19" name="AutoShape 19"/>
          <p:cNvSpPr/>
          <p:nvPr/>
        </p:nvSpPr>
        <p:spPr>
          <a:xfrm>
            <a:off x="9398000" y="3048000"/>
            <a:ext cx="1778000" cy="457200"/>
          </a:xfrm>
          <a:prstGeom prst="roundRect">
            <a:avLst>
              <a:gd name="adj" fmla="val 0"/>
            </a:avLst>
          </a:prstGeom>
          <a:solidFill>
            <a:srgbClr val="DBEAFE">
              <a:alpha val="100000"/>
            </a:srgbClr>
          </a:solidFill>
          <a:ln cap="flat" cmpd="sng">
            <a:solidFill>
              <a:srgbClr val="AEC5E5">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398000" y="3124200"/>
            <a:ext cx="17780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1E40AF"/>
                </a:solidFill>
                <a:latin typeface="Consolas" panose="020B0609020204030204"/>
                <a:ea typeface="Consolas" panose="020B0609020204030204"/>
                <a:cs typeface="Consolas" panose="020B0609020204030204"/>
                <a:sym typeface="Consolas" panose="020B0609020204030204"/>
              </a:rPr>
              <a:t>y₂ : Output Word</a:t>
            </a:r>
            <a:endParaRPr lang="en-US" sz="1100"/>
          </a:p>
        </p:txBody>
      </p:sp>
      <p:sp>
        <p:nvSpPr>
          <p:cNvPr id="21" name="AutoShape 21"/>
          <p:cNvSpPr/>
          <p:nvPr/>
        </p:nvSpPr>
        <p:spPr>
          <a:xfrm>
            <a:off x="9398000" y="4127500"/>
            <a:ext cx="1778000" cy="584200"/>
          </a:xfrm>
          <a:prstGeom prst="roundRect">
            <a:avLst>
              <a:gd name="adj" fmla="val 0"/>
            </a:avLst>
          </a:prstGeom>
          <a:solidFill>
            <a:srgbClr val="2563EB">
              <a:alpha val="100000"/>
            </a:srgbClr>
          </a:solidFill>
          <a:ln cap="flat" cmpd="sng">
            <a:solidFill>
              <a:srgbClr val="0C4AD2">
                <a:alpha val="100000"/>
              </a:srgbClr>
            </a:solidFill>
            <a:prstDash val="solid"/>
            <a:round/>
          </a:ln>
        </p:spPr>
        <p:txBody>
          <a:bodyPr vert="horz" wrap="square" lIns="63500" tIns="63500" rIns="63500" bIns="63500" rtlCol="0" anchor="ctr"/>
          <a:lstStyle/>
          <a:p>
            <a:pPr algn="ctr">
              <a:defRPr/>
            </a:pPr>
          </a:p>
        </p:txBody>
      </p:sp>
      <p:sp>
        <p:nvSpPr>
          <p:cNvPr id="22" name="AutoShape 22"/>
          <p:cNvSpPr/>
          <p:nvPr/>
        </p:nvSpPr>
        <p:spPr>
          <a:xfrm>
            <a:off x="9398000" y="4241800"/>
            <a:ext cx="1778000" cy="3556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Consolas" panose="020B0609020204030204"/>
                <a:ea typeface="Consolas" panose="020B0609020204030204"/>
                <a:cs typeface="Consolas" panose="020B0609020204030204"/>
                <a:sym typeface="Consolas" panose="020B0609020204030204"/>
              </a:rPr>
              <a:t>Final Sequence</a:t>
            </a:r>
            <a:endParaRPr lang="en-US" sz="1100"/>
          </a:p>
        </p:txBody>
      </p:sp>
      <p:sp>
        <p:nvSpPr>
          <p:cNvPr id="23" name="AutoShape 23"/>
          <p:cNvSpPr/>
          <p:nvPr/>
        </p:nvSpPr>
        <p:spPr>
          <a:xfrm>
            <a:off x="6604000" y="5334000"/>
            <a:ext cx="4826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24" name="AutoShape 24"/>
          <p:cNvSpPr/>
          <p:nvPr/>
        </p:nvSpPr>
        <p:spPr>
          <a:xfrm>
            <a:off x="6731000" y="5486400"/>
            <a:ext cx="457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“将可变长度的输入序列映射为可变长度的输出序列”</a:t>
            </a:r>
            <a:endParaRPr lang="en-US" sz="11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F3F4F6">
              <a:alpha val="50000"/>
            </a:srgbClr>
          </a:solidFill>
          <a:ln cap="flat" cmpd="sng">
            <a:solidFill>
              <a:srgbClr val="C4CCDD">
                <a:alpha val="5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5080000"/>
            <a:ext cx="2540000" cy="2540000"/>
          </a:xfrm>
          <a:prstGeom prst="ellipse">
            <a:avLst/>
          </a:prstGeom>
          <a:solidFill>
            <a:srgbClr val="F3F4F6">
              <a:alpha val="50000"/>
            </a:srgbClr>
          </a:solidFill>
          <a:ln cap="flat" cmpd="sng">
            <a:solidFill>
              <a:srgbClr val="C4CCDD">
                <a:alpha val="5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Beam Search 集束搜索</a:t>
            </a:r>
            <a:endParaRPr lang="en-US" sz="1100"/>
          </a:p>
        </p:txBody>
      </p:sp>
      <p:sp>
        <p:nvSpPr>
          <p:cNvPr id="5" name="AutoShape 5"/>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为什么不用贪心搜索？</a:t>
            </a:r>
            <a:endParaRPr lang="en-US" sz="1100"/>
          </a:p>
        </p:txBody>
      </p:sp>
      <p:sp>
        <p:nvSpPr>
          <p:cNvPr id="6" name="AutoShape 6"/>
          <p:cNvSpPr/>
          <p:nvPr/>
        </p:nvSpPr>
        <p:spPr>
          <a:xfrm>
            <a:off x="1016000" y="21590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贪心搜索每步仅选概率最大的词，易陷入局部最优，无法保证生成句子的整体概率最大化。集束搜索通过保留 B 个最优候选序列，有效平衡了搜索质量与计算效率。</a:t>
            </a:r>
            <a:endParaRPr lang="en-US" sz="1100"/>
          </a:p>
        </p:txBody>
      </p:sp>
      <p:cxnSp>
        <p:nvCxnSpPr>
          <p:cNvPr id="7" name="Connector 7"/>
          <p:cNvCxnSpPr/>
          <p:nvPr/>
        </p:nvCxnSpPr>
        <p:spPr>
          <a:xfrm rot="-8594">
            <a:off x="1016008" y="3359150"/>
            <a:ext cx="5080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8" name="AutoShape 8"/>
          <p:cNvSpPr/>
          <p:nvPr/>
        </p:nvSpPr>
        <p:spPr>
          <a:xfrm>
            <a:off x="1016000" y="3556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核心执行逻辑</a:t>
            </a:r>
            <a:endParaRPr lang="en-US" sz="1100"/>
          </a:p>
        </p:txBody>
      </p:sp>
      <p:sp>
        <p:nvSpPr>
          <p:cNvPr id="9" name="AutoShape 9"/>
          <p:cNvSpPr/>
          <p:nvPr/>
        </p:nvSpPr>
        <p:spPr>
          <a:xfrm>
            <a:off x="1016000" y="4064000"/>
            <a:ext cx="5080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首步保留概率最高的 B 个词作为种子集束。</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迭代：</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对每个候选扩展所有可能的下一词，计算联合概率并重排筛选。</a:t>
            </a:r>
            <a:b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4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终止：</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生成结束符或达最大长度时，选概率最高的序列。</a:t>
            </a:r>
            <a:endParaRPr lang="en-US" sz="1100"/>
          </a:p>
        </p:txBody>
      </p:sp>
      <p:sp>
        <p:nvSpPr>
          <p:cNvPr id="10" name="AutoShape 10"/>
          <p:cNvSpPr/>
          <p:nvPr/>
        </p:nvSpPr>
        <p:spPr>
          <a:xfrm>
            <a:off x="1016000" y="5524500"/>
            <a:ext cx="5080000" cy="635000"/>
          </a:xfrm>
          <a:prstGeom prst="roundRect">
            <a:avLst>
              <a:gd name="adj" fmla="val 0"/>
            </a:avLst>
          </a:prstGeom>
          <a:solidFill>
            <a:srgbClr val="F9FAFB">
              <a:alpha val="100000"/>
            </a:srgbClr>
          </a:solidFill>
          <a:ln cap="flat" cmpd="sng">
            <a:solidFill>
              <a:srgbClr val="C9D5E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143000" y="56261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参数 B：</a:t>
            </a: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B=1 退化为贪心搜索；B 越大效果越好但越慢，工程上常用 B=3~10。</a:t>
            </a:r>
            <a:endParaRPr lang="en-US" sz="1100"/>
          </a:p>
        </p:txBody>
      </p:sp>
      <p:sp>
        <p:nvSpPr>
          <p:cNvPr id="12" name="AutoShape 12"/>
          <p:cNvSpPr/>
          <p:nvPr/>
        </p:nvSpPr>
        <p:spPr>
          <a:xfrm>
            <a:off x="6604000" y="1651000"/>
            <a:ext cx="4826000" cy="29845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56400" y="1790700"/>
            <a:ext cx="127000" cy="127000"/>
          </a:xfrm>
          <a:prstGeom prst="ellipse">
            <a:avLst/>
          </a:prstGeom>
          <a:solidFill>
            <a:srgbClr val="FF5F56">
              <a:alpha val="100000"/>
            </a:srgbClr>
          </a:solidFill>
          <a:ln cap="flat" cmpd="sng">
            <a:solidFill>
              <a:srgbClr val="E64036">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959600" y="1790700"/>
            <a:ext cx="127000" cy="127000"/>
          </a:xfrm>
          <a:prstGeom prst="ellipse">
            <a:avLst/>
          </a:prstGeom>
          <a:solidFill>
            <a:srgbClr val="FFBD2E">
              <a:alpha val="100000"/>
            </a:srgbClr>
          </a:solidFill>
          <a:ln cap="flat" cmpd="sng">
            <a:solidFill>
              <a:srgbClr val="E6A312">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7162800" y="1790700"/>
            <a:ext cx="127000" cy="127000"/>
          </a:xfrm>
          <a:prstGeom prst="ellipse">
            <a:avLst/>
          </a:prstGeom>
          <a:solidFill>
            <a:srgbClr val="27C93F">
              <a:alpha val="100000"/>
            </a:srgbClr>
          </a:solidFill>
          <a:ln cap="flat" cmpd="sng">
            <a:solidFill>
              <a:srgbClr val="11B028">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493000" y="17399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beam_search_core.py</a:t>
            </a:r>
            <a:endParaRPr lang="en-US" sz="1100"/>
          </a:p>
        </p:txBody>
      </p:sp>
      <p:sp>
        <p:nvSpPr>
          <p:cNvPr id="18" name="AutoShape 18"/>
          <p:cNvSpPr/>
          <p:nvPr/>
        </p:nvSpPr>
        <p:spPr>
          <a:xfrm>
            <a:off x="6731000" y="2222500"/>
            <a:ext cx="4572000" cy="234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设定集束宽度 (平衡质量与速度)</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B = 5 # 经验值：3~10</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长度归一化 (防止模型偏好短句)</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score = (1 / len(seq)**0.7) * sum(log_probs)</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核心：保留概率最高的 Top-B 候选</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candidates = sorted(all_hypo, key=lambda x: x['score'])[-B:]</a:t>
            </a:r>
            <a:endParaRPr lang="en-US" sz="1100"/>
          </a:p>
        </p:txBody>
      </p:sp>
      <p:sp>
        <p:nvSpPr>
          <p:cNvPr id="19" name="AutoShape 19"/>
          <p:cNvSpPr/>
          <p:nvPr/>
        </p:nvSpPr>
        <p:spPr>
          <a:xfrm>
            <a:off x="6604000" y="4889500"/>
            <a:ext cx="4826000" cy="14605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6794500" y="5054600"/>
            <a:ext cx="444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40AF"/>
                </a:solidFill>
                <a:latin typeface="Noto Sans SC" panose="020B0200000000000000" charset="-122"/>
                <a:ea typeface="Noto Sans SC" panose="020B0200000000000000" charset="-122"/>
                <a:cs typeface="Noto Sans SC" panose="020B0200000000000000" charset="-122"/>
                <a:sym typeface="Noto Sans SC" panose="020B0200000000000000" charset="-122"/>
              </a:rPr>
              <a:t>工业界标准范式</a:t>
            </a:r>
            <a:endParaRPr lang="en-US" sz="1100"/>
          </a:p>
        </p:txBody>
      </p:sp>
      <p:sp>
        <p:nvSpPr>
          <p:cNvPr id="21" name="AutoShape 21"/>
          <p:cNvSpPr/>
          <p:nvPr/>
        </p:nvSpPr>
        <p:spPr>
          <a:xfrm>
            <a:off x="6794500" y="5461000"/>
            <a:ext cx="444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在Transformer架构的大模型中，集束搜索是文本生成的首选解码策略。它在“计算成本”与“生成文本的流畅度、逻辑性”之间取得了最佳平衡，是实现高质量生成的基础。</a:t>
            </a:r>
            <a:endParaRPr lang="en-US" sz="11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F3F4F6">
              <a:alpha val="50000"/>
            </a:srgbClr>
          </a:solidFill>
          <a:ln cap="flat" cmpd="sng">
            <a:solidFill>
              <a:srgbClr val="C4CCDD">
                <a:alpha val="5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635000" y="5080000"/>
            <a:ext cx="2540000" cy="2540000"/>
          </a:xfrm>
          <a:prstGeom prst="ellipse">
            <a:avLst/>
          </a:prstGeom>
          <a:solidFill>
            <a:srgbClr val="F3F4F6">
              <a:alpha val="50000"/>
            </a:srgbClr>
          </a:solidFill>
          <a:ln cap="flat" cmpd="sng">
            <a:solidFill>
              <a:srgbClr val="C4CCDD">
                <a:alpha val="5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Attention 注意力机制</a:t>
            </a:r>
            <a:endParaRPr lang="en-US" sz="1100"/>
          </a:p>
        </p:txBody>
      </p:sp>
      <p:sp>
        <p:nvSpPr>
          <p:cNvPr id="5" name="AutoShape 5"/>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解决 Seq2Seq 的“信息瓶颈”</a:t>
            </a:r>
            <a:endParaRPr lang="en-US" sz="1100"/>
          </a:p>
        </p:txBody>
      </p:sp>
      <p:sp>
        <p:nvSpPr>
          <p:cNvPr id="6" name="AutoShape 6"/>
          <p:cNvSpPr/>
          <p:nvPr/>
        </p:nvSpPr>
        <p:spPr>
          <a:xfrm>
            <a:off x="1016000" y="2159000"/>
            <a:ext cx="508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 Seq2Seq 模型将整个输入序列压缩为一个固定长度的隐状态向量，导致长文本信息丢失严重。Attention 机制让解码器在生成每个词时，能够动态“回看”并聚焦到输入序列的关键位置，有效缓解了长距离依赖问题。</a:t>
            </a:r>
            <a:endParaRPr lang="en-US" sz="1100"/>
          </a:p>
        </p:txBody>
      </p:sp>
      <p:sp>
        <p:nvSpPr>
          <p:cNvPr id="7" name="AutoShape 7"/>
          <p:cNvSpPr/>
          <p:nvPr/>
        </p:nvSpPr>
        <p:spPr>
          <a:xfrm>
            <a:off x="1016000" y="3810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核心机制：动态加权求和</a:t>
            </a:r>
            <a:endParaRPr lang="en-US" sz="1100"/>
          </a:p>
        </p:txBody>
      </p:sp>
      <p:sp>
        <p:nvSpPr>
          <p:cNvPr id="8" name="AutoShape 8"/>
          <p:cNvSpPr/>
          <p:nvPr/>
        </p:nvSpPr>
        <p:spPr>
          <a:xfrm>
            <a:off x="1016000" y="4318000"/>
            <a:ext cx="5080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其本质是计算“注意力权重”并进行加权求和。解码器在第 t 步，会为编码器的每个时间步计算一个权重 α，权重越高代表该位置信息越重要；随后将编码器的输出按此权重加权，得到包含全局信息的上下文向量，作为解码器的输入。</a:t>
            </a:r>
            <a:endParaRPr lang="en-US" sz="1100"/>
          </a:p>
        </p:txBody>
      </p:sp>
      <p:sp>
        <p:nvSpPr>
          <p:cNvPr id="9" name="AutoShape 9"/>
          <p:cNvSpPr/>
          <p:nvPr/>
        </p:nvSpPr>
        <p:spPr>
          <a:xfrm>
            <a:off x="6604000" y="1651000"/>
            <a:ext cx="4826000" cy="3556000"/>
          </a:xfrm>
          <a:prstGeom prst="roundRect">
            <a:avLst>
              <a:gd name="adj" fmla="val 0"/>
            </a:avLst>
          </a:prstGeom>
          <a:solidFill>
            <a:srgbClr val="1E1E1E">
              <a:alpha val="100000"/>
            </a:srgbClr>
          </a:solidFill>
          <a:ln cap="flat" cmpd="sng">
            <a:solidFill>
              <a:srgbClr val="040404">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604000" y="1651000"/>
            <a:ext cx="4826000" cy="406400"/>
          </a:xfrm>
          <a:prstGeom prst="roundRect">
            <a:avLst>
              <a:gd name="adj" fmla="val 0"/>
            </a:avLst>
          </a:prstGeom>
          <a:solidFill>
            <a:srgbClr val="2D2D2D">
              <a:alpha val="100000"/>
            </a:srgbClr>
          </a:solidFill>
          <a:ln cap="flat" cmpd="sng">
            <a:solidFill>
              <a:srgbClr val="141212">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756400" y="1778000"/>
            <a:ext cx="152400" cy="152400"/>
          </a:xfrm>
          <a:prstGeom prst="ellipse">
            <a:avLst/>
          </a:prstGeom>
          <a:solidFill>
            <a:srgbClr val="EF4444">
              <a:alpha val="100000"/>
            </a:srgbClr>
          </a:solidFill>
          <a:ln cap="flat" cmpd="sng">
            <a:solidFill>
              <a:srgbClr val="D52727">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6985000" y="1778000"/>
            <a:ext cx="152400" cy="152400"/>
          </a:xfrm>
          <a:prstGeom prst="ellipse">
            <a:avLst/>
          </a:prstGeom>
          <a:solidFill>
            <a:srgbClr val="EAB308">
              <a:alpha val="100000"/>
            </a:srgbClr>
          </a:solidFill>
          <a:ln cap="flat" cmpd="sng">
            <a:solidFill>
              <a:srgbClr val="D19E00">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213600" y="1778000"/>
            <a:ext cx="152400" cy="152400"/>
          </a:xfrm>
          <a:prstGeom prst="ellipse">
            <a:avLst/>
          </a:prstGeom>
          <a:solidFill>
            <a:srgbClr val="22C55E">
              <a:alpha val="100000"/>
            </a:srgbClr>
          </a:solidFill>
          <a:ln cap="flat" cmpd="sng">
            <a:solidFill>
              <a:srgbClr val="0CAC47">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7620000" y="1727200"/>
            <a:ext cx="254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attention_core.py</a:t>
            </a:r>
            <a:endParaRPr lang="en-US" sz="1100"/>
          </a:p>
        </p:txBody>
      </p:sp>
      <p:sp>
        <p:nvSpPr>
          <p:cNvPr id="15" name="AutoShape 15"/>
          <p:cNvSpPr/>
          <p:nvPr/>
        </p:nvSpPr>
        <p:spPr>
          <a:xfrm>
            <a:off x="6794500" y="2222500"/>
            <a:ext cx="45720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1. 计算相似度得分 (Energy)</a:t>
            </a:r>
            <a:endParaRPr lang="en-US" sz="1100"/>
          </a:p>
          <a:p>
            <a:pPr marL="0" indent="0" algn="l">
              <a:lnSpc>
                <a:spcPct val="117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scores = torch.matmul(query, key.transpose(-2, -1))</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2. Softmax 归一化得到权重</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alpha = F.softmax(scores, dim=-1) # Σα = 1</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3. 加权求和生成上下文向量</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context = torch.matmul(alpha, value)</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4. 融合上下文更新状态</a:t>
            </a:r>
            <a:endPar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endParaRPr>
          </a:p>
          <a:p>
            <a:pPr marL="0" indent="0" algn="l">
              <a:lnSpc>
                <a:spcPct val="117000"/>
              </a:lnSpc>
            </a:pP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output = RNN(torch.cat([embedding, context], dim=-1))</a:t>
            </a:r>
            <a:endPar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endParaRPr>
          </a:p>
        </p:txBody>
      </p:sp>
      <p:sp>
        <p:nvSpPr>
          <p:cNvPr id="16" name="AutoShape 16"/>
          <p:cNvSpPr/>
          <p:nvPr/>
        </p:nvSpPr>
        <p:spPr>
          <a:xfrm>
            <a:off x="1016000" y="5842000"/>
            <a:ext cx="10160000" cy="635000"/>
          </a:xfrm>
          <a:prstGeom prst="roundRect">
            <a:avLst>
              <a:gd name="adj" fmla="val 0"/>
            </a:avLst>
          </a:prstGeom>
          <a:solidFill>
            <a:srgbClr val="F3F4F6">
              <a:alpha val="100000"/>
            </a:srgbClr>
          </a:solidFill>
          <a:ln cap="flat" cmpd="sng">
            <a:solidFill>
              <a:srgbClr val="C4CCDD">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1206500" y="5943600"/>
            <a:ext cx="977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关键价值：</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它是 Transformer、BERT、GPT 等现代预训练大模型的核心基石，实现了对输入序列的精准聚焦与全局信息整合。</a:t>
            </a:r>
            <a:endParaRPr lang="en-US" sz="11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与自注意力</a:t>
            </a:r>
            <a:endParaRPr lang="en-US" sz="1100"/>
          </a:p>
        </p:txBody>
      </p:sp>
      <p:sp>
        <p:nvSpPr>
          <p:cNvPr id="3" name="AutoShape 3"/>
          <p:cNvSpPr/>
          <p:nvPr/>
        </p:nvSpPr>
        <p:spPr>
          <a:xfrm>
            <a:off x="1016000" y="1651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a:t>
            </a:r>
            <a:endParaRPr lang="en-US" sz="1100"/>
          </a:p>
        </p:txBody>
      </p:sp>
      <p:sp>
        <p:nvSpPr>
          <p:cNvPr id="4" name="AutoShape 4"/>
          <p:cNvSpPr/>
          <p:nvPr/>
        </p:nvSpPr>
        <p:spPr>
          <a:xfrm>
            <a:off x="1016000" y="2159000"/>
            <a:ext cx="508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2017年由 Google 团队在论文《Attention Is All You Need》中提出。它完全抛弃了传统的 RNN/CNN 循环结构，仅基于自注意力机制（Self-Attention）构建，能够利用 GPU 实现高度并行化的训练，极大提升了模型训练效率。</a:t>
            </a:r>
            <a:endParaRPr lang="en-US" sz="1100"/>
          </a:p>
        </p:txBody>
      </p:sp>
      <p:sp>
        <p:nvSpPr>
          <p:cNvPr id="5" name="AutoShape 5"/>
          <p:cNvSpPr/>
          <p:nvPr/>
        </p:nvSpPr>
        <p:spPr>
          <a:xfrm>
            <a:off x="1016000" y="3429000"/>
            <a:ext cx="508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Self-Attention 核心机制</a:t>
            </a:r>
            <a:endParaRPr lang="en-US" sz="1100"/>
          </a:p>
        </p:txBody>
      </p:sp>
      <p:sp>
        <p:nvSpPr>
          <p:cNvPr id="6" name="AutoShape 6"/>
          <p:cNvSpPr/>
          <p:nvPr/>
        </p:nvSpPr>
        <p:spPr>
          <a:xfrm>
            <a:off x="1016000" y="3937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42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通过计算序列中每个位置与其他所有位置的关联权重，直接捕捉任意距离的依赖关系，解决了传统模型在长序列中信息丢失的问题。</a:t>
            </a:r>
            <a:endParaRPr lang="en-US" sz="1100"/>
          </a:p>
        </p:txBody>
      </p:sp>
      <p:sp>
        <p:nvSpPr>
          <p:cNvPr id="7" name="AutoShape 7"/>
          <p:cNvSpPr/>
          <p:nvPr/>
        </p:nvSpPr>
        <p:spPr>
          <a:xfrm>
            <a:off x="1016000" y="4953000"/>
            <a:ext cx="508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Multi-Head Attention（多头注意力机制，扩展子空间表达）</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Positional Encoding（位置编码，注入序列顺序信息）</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Add &amp; Norm（残差连接与层归一化，稳定训练）</a:t>
            </a:r>
            <a:b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Feed Forward Network（两层全连接前馈网络）</a:t>
            </a:r>
            <a:endParaRPr lang="en-US" sz="1100"/>
          </a:p>
        </p:txBody>
      </p:sp>
      <p:sp>
        <p:nvSpPr>
          <p:cNvPr id="8" name="AutoShape 8"/>
          <p:cNvSpPr/>
          <p:nvPr/>
        </p:nvSpPr>
        <p:spPr>
          <a:xfrm>
            <a:off x="6604000" y="1651000"/>
            <a:ext cx="4826000" cy="3302000"/>
          </a:xfrm>
          <a:prstGeom prst="roundRect">
            <a:avLst>
              <a:gd name="adj" fmla="val 0"/>
            </a:avLst>
          </a:prstGeom>
          <a:solidFill>
            <a:srgbClr val="1E1E1E">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604000" y="1651000"/>
            <a:ext cx="4826000" cy="406400"/>
          </a:xfrm>
          <a:prstGeom prst="roundRect">
            <a:avLst>
              <a:gd name="adj" fmla="val 0"/>
            </a:avLst>
          </a:prstGeom>
          <a:solidFill>
            <a:srgbClr val="2D2D2D">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794500" y="1803400"/>
            <a:ext cx="152400" cy="152400"/>
          </a:xfrm>
          <a:prstGeom prst="ellipse">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048500" y="1803400"/>
            <a:ext cx="152400" cy="152400"/>
          </a:xfrm>
          <a:prstGeom prst="ellipse">
            <a:avLst/>
          </a:prstGeom>
          <a:solidFill>
            <a:srgbClr val="EAB30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7302500" y="1803400"/>
            <a:ext cx="152400" cy="152400"/>
          </a:xfrm>
          <a:prstGeom prst="ellipse">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747000" y="1727200"/>
            <a:ext cx="3556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9CA3AF"/>
                </a:solidFill>
                <a:latin typeface="Consolas" panose="020B0609020204030204"/>
                <a:ea typeface="Consolas" panose="020B0609020204030204"/>
                <a:cs typeface="Consolas" panose="020B0609020204030204"/>
                <a:sym typeface="Consolas" panose="020B0609020204030204"/>
              </a:rPr>
              <a:t>self_attention_mechanism.py</a:t>
            </a:r>
            <a:endParaRPr lang="en-US" sz="1100"/>
          </a:p>
        </p:txBody>
      </p:sp>
      <p:sp>
        <p:nvSpPr>
          <p:cNvPr id="14" name="AutoShape 14"/>
          <p:cNvSpPr/>
          <p:nvPr/>
        </p:nvSpPr>
        <p:spPr>
          <a:xfrm>
            <a:off x="6858000" y="2222500"/>
            <a:ext cx="4318000" cy="260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Scaled Dot-Product Attention Core</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score = matmul(Q, K.transpose(-2, -1)) / sqrt(d_k)</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attn = softmax(score) @ V</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6A9955"/>
                </a:solidFill>
                <a:latin typeface="Consolas" panose="020B0609020204030204"/>
                <a:ea typeface="Consolas" panose="020B0609020204030204"/>
                <a:cs typeface="Consolas" panose="020B0609020204030204"/>
                <a:sym typeface="Consolas" panose="020B0609020204030204"/>
              </a:rPr>
              <a:t># Multi-Head Composition</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D4D4D4"/>
                </a:solidFill>
                <a:latin typeface="Consolas" panose="020B0609020204030204"/>
                <a:ea typeface="Consolas" panose="020B0609020204030204"/>
                <a:cs typeface="Consolas" panose="020B0609020204030204"/>
                <a:sym typeface="Consolas" panose="020B0609020204030204"/>
              </a:rPr>
              <a:t>heads = [scaled_dot_attn(Qi, Ki, Vi) for _ in range(h)]</a:t>
            </a:r>
            <a:br>
              <a:rPr lang="en-US" sz="1300" b="0" i="0" u="none" strike="noStrike">
                <a:solidFill>
                  <a:srgbClr val="1F2329"/>
                </a:solidFill>
                <a:latin typeface="Consolas" panose="020B0609020204030204"/>
                <a:ea typeface="Consolas" panose="020B0609020204030204"/>
                <a:cs typeface="Consolas" panose="020B0609020204030204"/>
                <a:sym typeface="Consolas" panose="020B0609020204030204"/>
              </a:rPr>
            </a:br>
            <a:r>
              <a:rPr lang="en-US" sz="1300" b="0" i="0" u="none" strike="noStrike">
                <a:solidFill>
                  <a:srgbClr val="569CD6"/>
                </a:solidFill>
                <a:latin typeface="Consolas" panose="020B0609020204030204"/>
                <a:ea typeface="Consolas" panose="020B0609020204030204"/>
                <a:cs typeface="Consolas" panose="020B0609020204030204"/>
                <a:sym typeface="Consolas" panose="020B0609020204030204"/>
              </a:rPr>
              <a:t>output = concat(heads, dim=-1) @ W_o</a:t>
            </a:r>
            <a:endParaRPr lang="en-US" sz="1100"/>
          </a:p>
        </p:txBody>
      </p:sp>
      <p:sp>
        <p:nvSpPr>
          <p:cNvPr id="15" name="AutoShape 15"/>
          <p:cNvSpPr/>
          <p:nvPr/>
        </p:nvSpPr>
        <p:spPr>
          <a:xfrm>
            <a:off x="6604000" y="5207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这一架构彻底改变了自然语言处理（NLP）的格局，成为了 BERT、GPT、T5 等现代大语言模型（LLM）的基础，也被广泛应用于计算机视觉、语音识别等领域。</a:t>
            </a:r>
            <a:endParaRPr lang="en-US" sz="11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635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 5 学习总结</a:t>
            </a:r>
            <a:endParaRPr lang="en-US" sz="1100"/>
          </a:p>
        </p:txBody>
      </p:sp>
      <p:sp>
        <p:nvSpPr>
          <p:cNvPr id="3" name="AutoShape 3"/>
          <p:cNvSpPr/>
          <p:nvPr/>
        </p:nvSpPr>
        <p:spPr>
          <a:xfrm>
            <a:off x="1016000" y="1778000"/>
            <a:ext cx="342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RNN 基础</a:t>
            </a:r>
            <a:endParaRPr lang="en-US" sz="1100"/>
          </a:p>
        </p:txBody>
      </p:sp>
      <p:sp>
        <p:nvSpPr>
          <p:cNvPr id="4" name="AutoShape 4"/>
          <p:cNvSpPr/>
          <p:nvPr/>
        </p:nvSpPr>
        <p:spPr>
          <a:xfrm>
            <a:off x="1016000" y="2413000"/>
            <a:ext cx="3429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2667000"/>
            <a:ext cx="3429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RNN 前向传播与反向传播机制</a:t>
            </a:r>
            <a:endParaRPr lang="en-US" sz="1100"/>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梯度消失与梯度爆炸的成因</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GRU 门控循环单元的简化设计</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LSTM 输入/遗忘/输出三门机制</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双向 RNN 与深层堆叠结构</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3683000" y="1778000"/>
            <a:ext cx="342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NLP 与词嵌入</a:t>
            </a:r>
            <a:endParaRPr lang="en-US" sz="1100"/>
          </a:p>
        </p:txBody>
      </p:sp>
      <p:sp>
        <p:nvSpPr>
          <p:cNvPr id="7" name="AutoShape 7"/>
          <p:cNvSpPr/>
          <p:nvPr/>
        </p:nvSpPr>
        <p:spPr>
          <a:xfrm>
            <a:off x="3683000" y="2413000"/>
            <a:ext cx="3429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3683000" y="2667000"/>
            <a:ext cx="3429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Word Embeddings 分布式词向量</a:t>
            </a:r>
            <a:endParaRPr lang="en-US" sz="1100"/>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Word2Vec 原理：CBOW 与 Skip-gram</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GloVe 基于全局统计的词向量</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命名实体识别 (NER) 任务流程</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基于序列模型的情感分析应用</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366000" y="1778000"/>
            <a:ext cx="342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序列模型进阶</a:t>
            </a:r>
            <a:endParaRPr lang="en-US" sz="1100"/>
          </a:p>
        </p:txBody>
      </p:sp>
      <p:sp>
        <p:nvSpPr>
          <p:cNvPr id="10" name="AutoShape 10"/>
          <p:cNvSpPr/>
          <p:nvPr/>
        </p:nvSpPr>
        <p:spPr>
          <a:xfrm>
            <a:off x="7366000" y="2413000"/>
            <a:ext cx="3429000" cy="12700"/>
          </a:xfrm>
          <a:prstGeom prst="roundRect">
            <a:avLst>
              <a:gd name="adj" fmla="val 0"/>
            </a:avLst>
          </a:prstGeom>
          <a:solidFill>
            <a:srgbClr val="E5E7EB">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366000" y="2667000"/>
            <a:ext cx="3429000" cy="2413000"/>
          </a:xfrm>
          <a:prstGeom prst="rect">
            <a:avLst/>
          </a:prstGeom>
          <a:noFill/>
          <a:ln w="12700" cap="flat" cmpd="sng">
            <a:noFill/>
            <a:prstDash val="solid"/>
            <a:round/>
          </a:ln>
        </p:spPr>
        <p:txBody>
          <a:bodyPr vert="horz" wrap="square" lIns="0" tIns="0" rIns="0" bIns="0" rtlCol="0" anchor="ctr" anchorCtr="0"/>
          <a:lstStyle/>
          <a:p>
            <a:pPr marL="0" indent="0" algn="l">
              <a:lnSpc>
                <a:spcPct val="16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Seq2Seq 编码器-解码器架构</a:t>
            </a:r>
            <a:endParaRPr lang="en-US" sz="1100"/>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Beam Search 束搜索优化策略</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Attention 注意力机制核心原理</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Transformer 自注意力网络架构</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67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语音识别与机器翻译的实际落地</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1016000" y="5334000"/>
            <a:ext cx="10414000" cy="1016000"/>
          </a:xfrm>
          <a:prstGeom prst="roundRect">
            <a:avLst>
              <a:gd name="adj" fmla="val 0"/>
            </a:avLst>
          </a:prstGeom>
          <a:solidFill>
            <a:srgbClr val="F0FDF4">
              <a:alpha val="100000"/>
            </a:srgbClr>
          </a:solidFill>
          <a:ln cap="flat" cmpd="sng">
            <a:solidFill>
              <a:srgbClr val="C1E4CC">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270000" y="5524500"/>
            <a:ext cx="990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500" b="0" i="0" u="none" strike="noStrike">
                <a:solidFill>
                  <a:srgbClr val="166534"/>
                </a:solidFill>
                <a:latin typeface="Noto Sans SC" panose="020B0200000000000000" charset="-122"/>
                <a:ea typeface="Noto Sans SC" panose="020B0200000000000000" charset="-122"/>
                <a:cs typeface="Noto Sans SC" panose="020B0200000000000000" charset="-122"/>
                <a:sym typeface="Noto Sans SC" panose="020B0200000000000000" charset="-122"/>
              </a:rPr>
              <a:t>从基础 RNN 的时序建模，到 LSTM/GRU 解决长依赖难题，再到 Attention 机制与 Transformer 架构彻底革新序列建模范式——本章节系统梳理了序列模型的演进脉络，掌握了处理时序数据与自然语言任务的核心思想与技术工具。</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20045</Words>
  <Application>WPS 演示</Application>
  <PresentationFormat/>
  <Paragraphs>938</Paragraphs>
  <Slides>45</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45</vt:i4>
      </vt:variant>
    </vt:vector>
  </HeadingPairs>
  <TitlesOfParts>
    <vt:vector size="55" baseType="lpstr">
      <vt:lpstr>Arial</vt:lpstr>
      <vt:lpstr>宋体</vt:lpstr>
      <vt:lpstr>Wingdings</vt:lpstr>
      <vt:lpstr>Arial</vt:lpstr>
      <vt:lpstr>Noto Sans SC</vt:lpstr>
      <vt:lpstr>Consolas</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WPS_1655447253</cp:lastModifiedBy>
  <cp:revision>1</cp:revision>
  <dcterms:created xsi:type="dcterms:W3CDTF">2026-08-13T23:40:33Z</dcterms:created>
  <dcterms:modified xsi:type="dcterms:W3CDTF">2026-08-13T23:40:33Z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{"Label":"1","ContentProducer":"001191110102MACQD9K64010000","ProduceID":"7673663333883464644","ReservedCode1":"","ContentPropagator":"","PropagateID":"","ReservedCode2":""}</vt:lpwstr>
  </property>
  <property fmtid="{D5CDD505-2E9C-101B-9397-08002B2CF9AE}" pid="3" name="ICV">
    <vt:lpwstr>A21BEA47184D4860B6CB02826F284C3C_12</vt:lpwstr>
  </property>
  <property fmtid="{D5CDD505-2E9C-101B-9397-08002B2CF9AE}" pid="4" name="KSOProductBuildVer">
    <vt:lpwstr>2052-12.1.0.28043</vt:lpwstr>
  </property>
</Properties>
</file>