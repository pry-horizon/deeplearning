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18.svg" ContentType="image/svg+xml"/>
  <Override PartName="/ppt/media/image12.svg" ContentType="image/svg+xml"/>
  <Override PartName="/ppt/media/image120.svg" ContentType="image/svg+xml"/>
  <Override PartName="/ppt/media/image122.svg" ContentType="image/svg+xml"/>
  <Override PartName="/ppt/media/image124.svg" ContentType="image/svg+xml"/>
  <Override PartName="/ppt/media/image126.svg" ContentType="image/svg+xml"/>
  <Override PartName="/ppt/media/image128.svg" ContentType="image/svg+xml"/>
  <Override PartName="/ppt/media/image130.svg" ContentType="image/svg+xml"/>
  <Override PartName="/ppt/media/image132.svg" ContentType="image/svg+xml"/>
  <Override PartName="/ppt/media/image134.svg" ContentType="image/svg+xml"/>
  <Override PartName="/ppt/media/image136.svg" ContentType="image/svg+xml"/>
  <Override PartName="/ppt/media/image138.svg" ContentType="image/svg+xml"/>
  <Override PartName="/ppt/media/image14.svg" ContentType="image/svg+xml"/>
  <Override PartName="/ppt/media/image140.svg" ContentType="image/svg+xml"/>
  <Override PartName="/ppt/media/image142.svg" ContentType="image/svg+xml"/>
  <Override PartName="/ppt/media/image144.svg" ContentType="image/svg+xml"/>
  <Override PartName="/ppt/media/image146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5" r:id="rId33"/>
    <p:sldId id="286" r:id="rId34"/>
    <p:sldId id="287" r:id="rId35"/>
    <p:sldId id="288" r:id="rId36"/>
    <p:sldId id="291" r:id="rId37"/>
    <p:sldId id="292" r:id="rId38"/>
    <p:sldId id="294" r:id="rId39"/>
    <p:sldId id="299" r:id="rId4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92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92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各位同学大家好，欢迎来到本次深度学习课程。今天我们的课程将分为四个核心模块进行。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首先，我们将从基础入手，探讨深度学习的起源，理清AI、机器学习与深度学习的关系，并深入到逻辑回归的细节，这是理解后续复杂模型的基石。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第二部分，我们将正式进入神经网络的世界，了解其基本结构、神经元的计算方式，以及如何利用向量化来加速计算，这也是我们实现高效模型的关键。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第三部分，我们将进阶到浅层神经网络，学习如何搭建一个完整的两层网络，以及激活函数如何赋予网络非线性表达能力。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最后，我们将挑战深层神经网络，理解多层网络的运作机制，并探讨其在实际工程中的应用以及与主流框架的对应关系。让我们开始今天的学习之旅！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各位好，我们正式进入第一部分的学习。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这一部分，我们将从深度学习的基础概念入手，逐步建立对神经网络的认知，并深入探讨逻辑回归这一经典的分类算法。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作为Week 1的核心内容，我们将重点关注入门概念与核心基础理论，为后续深入学习打下坚实的基础。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这一页我们来厘清一个常被混淆的概念：AI、机器学习和深度学习的关系。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大家看左边的图，这三者其实是一个从外到内、范围逐渐缩小的包含关系。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首先，最外层是人工智能（AI），它是一个宏大的愿景，指的是让机器拥有像人一样的智能，这包括了所有的技术和方法。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中间层是机器学习（Machine Learning），它是实现人工智能的一种核心手段。与传统编程不同，它不需要我们一行行写规则，而是让机器自己从数据中去学习规律。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最内层，也是目前最火的，就是深度学习（Deep Learning）。它是机器学习的一个分支，核心是利用深层的神经网络来处理复杂数据。因为它在图像识别、语音识别等领域表现卓越，所以成为了当前AI领域最成功、应用最广泛的技术。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大家好，这一页我们来探讨一个关键问题：为什么深度学习直到现在才取得巨大的成功？这背后主要有三个核心驱动力。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首先是数据规模的爆发。深度学习是一种数据驱动的模型，它需要海量的数据来学习规律。随着互联网的普及，我们产生了前所未有的图像、视频和文本数据，这为深度学习提供了充足的“养料”。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其次是计算能力的提升。深度学习的训练涉及大量的矩阵运算，而GPU的并行计算能力正好解决了这一问题，使得模型训练速度大幅提升，从原来的数月缩短到数天。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最后是算法的不断改进。从ReLU激活函数解决梯度消失，到残差网络让更深的网络成为可能，这些算法上的突破让模型的性能得到了质的飞跃。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正是这“三驾马车”的共同作用，才让深度学习迎来了今天的繁荣。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这一页我们来深入了解一下监督学习，这是目前深度学习中应用最广泛的一种类型。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可以把监督学习想象成我们小时候学习认字。老师给我们看一张图片（输入），然后告诉我们这是“猫”（正确答案/标签）。通过大量这样的练习，我们学会了看到图片就能认出这是猫。机器也是一样，通过学习带有标签的数据，建立输入和输出的联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监督学习主要分为两大类任务：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第一类是回归问题，它主要用来预测一个连续的数值，比如预测房价、明天的温度，或者股票的走势。它解决的是“多少”的问题。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第二类是分类问题，它用来判断一个事物属于哪个类别，比如判断一封邮件是不是垃圾邮件，或者识别图片里的数字是0到9中的哪一个。它解决的是“是什么”的问题。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在接下来的课程中，我们会从最简单的二分类问题入手，这是所有复杂模型的基础。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这一页我们深入单个神经元的内部，以房价预测为例来理解它的工作原理。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首先看上半部分，这是神经元的核心计算逻辑：z = w乘以x加上b。这里的x代表输入，比如房子的面积；w是权重，代表这个特征对房价的重要程度，比如每平米的单价；b是偏置，用来调整基础值，比如地段带来的溢价。这三者结合，得出一个初步的线性计算结果z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看下半部分，仅仅有线性计算是不够的，因为现实中的房价受非常复杂的因素影响。所以我们需要引入激活函数，也就是公式中的g(z)。它的作用是引入非线性，让模型能够处理更复杂的关系。比如Sigmoid函数，可以把结果限制在0到1之间，这非常适合用来预测概率，比如房价上涨的可能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大家好，这页PPT我们来深入理解逻辑回归在图片分类问题中的具体应用。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首先看左边，我们的输入是什么？对于一张64x64的彩色图片，它由12288个像素值组成。在输入模型之前，我们需要将这张二维的图片“拉平”成一个一维的长向量，这个向量就是模型的输入x。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看右边，这是逻辑回归的核心公式。它由几个部分组成：首先是线性加权部分，权重w和输入x的点积，加上偏置项b，这给了我们一个初步的分数。然后通过Sigmoid函数σ，将这个分数压缩到0到1之间，最终得到的a就是模型预测的概率。比如a等于0.99，就意味着模型有99%的把握认为这张图片是一只猫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大家好，今天我们来深入理解一下损失函数，它其实就是用来衡量模型预测“错了多少”的尺子。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大家看屏幕上方的这个公式，它是逻辑回归中最常用的对数损失函数。这里的 y 代表真实的答案，是 0 或 1；而 a 代表模型预测的概率，是一个 0 到 1 之间的数。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为了让大家更直观地理解，我们来看下面这三种情况：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第一种，如果模型预测得很准，比如真实是猫，模型说有90%的把握是猫，那么损失就很小，说明模型做得不错。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第二种，如果模型预测完全正确，也就是预测概率是1，那么损失就为0，这是我们最想要的结果。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第三种，如果模型预测错得很离谱，明明是猫，模型却认为只有10%的概率，这时候损失值就会变得非常大，相当于给模型一个很重的“惩罚”。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所以，损失函数的核心作用就是量化预测的偏差，我们训练模型的目标，其实就是让这个损失函数的值尽可能地小。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这一页我们来深入理解一下成本函数。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大家看上面的公式，这是一个非常经典的成本函数表达式。简单来说，它就是计算模型在所有训练数据上的平均损失。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公式里的 m 代表我们有多少个训练样本，比如我们有1万张图片，m就是1万。Sigma符号是求和，把每一张图片的损失加起来。最后除以m，得到平均损失J。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我们训练神经网络的目标非常纯粹：就是找到最合适的参数w和b，使得这个平均损失J尽可能的小。J越小，说明我们的模型在训练数据上犯的错误越少，模型的整体表现也就越好。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大家好，这一页我们来深入理解一下梯度下降的核心机制。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左边展示了它的核心思想，非常直观，就像下山。想象你在大雾中，看不到山谷的全貌，你唯一能做的就是感受脚下的路，然后向着最陡峭的下坡方向迈出一步。不断重复这个过程，你总能走到山脚，也就是损失函数的最小值点。这就是一种贪心的、局部最优的策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右边是它的数学表达，也就是参数更新的公式。我们来看这个公式的三个关键部分：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首先是“:=”，这表示赋值，意味着我们要用右边的新值去覆盖左边的旧值，这是一个迭代的过程。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然后是“α”，也就是学习率，它决定了我们每一步迈多大。步子太大容易跨过最低点，步子太小又走得太慢，所以它是一个需要我们精心调试的超参数。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最后是梯度“∂J/∂w”，它告诉我们当前位置的坡度方向。我们取它的负值，就是向着损失减小的方向走。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正是这个简单的公式，赋予了机器学习模型自我优化和自我学习的能力。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这一页是我们的第二部分过渡页。在这一部分，我们将深入探讨神经网络的基础架构，包括网络的层级结构、激活函数的作用，以及如何通过向量化运算来高效地实现这些模型。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这一页我们来探讨为什么我们需要神经网络，而不仅仅是传统的逻辑回归模型。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左边，逻辑回归非常擅长处理简单的、线性可分的二分类问题，比如判断一张图片是不是猫。但是，当我们面对现实世界中更复杂的场景时，它就显得力不从心了。比如在自动驾驶中，系统需要同时识别行人、车辆、红绿灯等数十种不同的物体；再比如人脸识别，需要区分成千上万张不同的脸。这些任务的特征极其复杂，简单的线性模型无法捕捉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时候，神经网络的优势就体现出来了，请看右边。神经网络就像人类的大脑一样，具有层级结构。它能自动地从数据中学习特征：第一层可能只学习简单的边缘和线条，第二层就能把这些线条组合成眼睛、耳朵等具体的部件，到了第三层，就能识别出完整的猫脸或者人脸。网络的层数越多，它能学习到的特征就越复杂、越抽象，这就是我们常说的“深度学习”的由来。这种自动学习特征的能力，让神经网络能够轻松应对那些复杂的现实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大家好，今天我们来深入了解一下神经网络的基本架构。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大家看中间的示意图，一个典型的神经网络主要由三部分组成：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首先是左边的输入层，它就像是神经网络的“眼睛”和“耳朵”，负责接收外部的原始数据，比如我们输入的一张图片的像素点。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中间是核心的隐藏层，这是神经网络的“大脑”，负责对输入的数据进行复杂的数学运算，自动提取特征。网络的深度通常就取决于隐藏层的数量。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最后是右边的输出层，它负责给出最终的结果，比如告诉我们这张图片里的动物是猫还是狗。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特别要注意的是，我们平时说一个网络有多少层，通常是不把输入层算进去的，只算隐藏层和输出层。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大家好，这一页我们来深入了解单隐藏层神经网络的数学表示。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首先，我们需要明确几个关键的符号定义：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我们用方括号上标 [l] 来表示神经网络的层数。其中，a⁽¹⁾ 代表隐藏层的输出，它是连接输入与输出的桥梁；a⁽²⁾ 是输出层的最终结果；而输入层 x，我们也记作 a⁽⁰⁾，它是整个网络的起点。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接下来看具体的计算流程，它分为两步走：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第一步是隐藏层的计算。我们首先进行线性变换，得到 z⁽¹⁾，它等于权重矩阵 W⁽¹⁾ 乘以输入 x，再加上偏置项 b⁽¹⁾。随后，这个结果会经过一个激活函数 g 的处理，得到激活值 a⁽¹⁾，这一步引入了非线性，让网络具备处理复杂问题的能力。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第二步是输出层的计算。它与第一步类似，但是输入变成了上一层的输出 a⁽¹⁾。经过线性变换和激活函数后，我们就得到了最终的预测结果 a⁽²⁾。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简单来说，神经网络的计算就是这样一层一层的“线性变换+非线性激活”的过程。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这一页我们来深入了解深度学习中至关重要的概念——向量化。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为什么我们需要它？大家想象一下，如果我们要处理一万张图片，使用传统的for循环，计算机需要一张一张地计算，这不仅速度慢，而且无法利用GPU强大的并行计算能力。这就好比让一个拥有千手的巨人，每次只允许他用一根手指干活，效率极其低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向量化解决的就是这个问题。它将所有数据打包成矩阵，利用底层的并行架构一次性完成所有计算。这就像是让巨人同时用一千根手指干活，速度可以提升几百甚至上千倍。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看右边的代码对比，上面是普通的循环写法，简单但效率低；下面是向量化写法，利用Numpy的矩阵运算，一行代码就完成了，背后是极致的并行计算。这也是为什么在深度学习框架如TensorFlow或PyTorch中，所有的运算都是基于张量（多维数组）进行的根本原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大家好，这一页我们来深入理解深度学习中的批量计算。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上面的部分，我们不再像传统编程那样，用for循环一个个地去处理样本。我们把所有的样本，比如这里的m个样本，按列排成一个大的矩阵X。这就像是把所有的数据打包成一个快递包裹，而不是一个个地去寄送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然后看下面的核心公式，Z等于W乘以X加上b。这里的Z就是我们计算出来的结果，它也是一个矩阵，每一列对应一个样本的输出。W是权重，b是偏置。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这里有一个非常关键的概念叫“广播机制”，就是说b虽然是一个向量，但它会自动匹配矩阵的维度，加到每一列上。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为什么要这么做呢？因为这种矩阵运算可以被GPU完美地并行处理，这也就是为什么深度学习训练那么快的原因。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这一页我们来深入了解Python中的向量化实现，这是高效计算的基础。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首先看上半部分，我们使用NumPy库。它的核心优势在于简洁和高效。通过np.dot函数，我们可以用一行代码完成复杂的矩阵乘法，这背后是底层优化的C语言实现，比我们自己写Python循环要快上百倍。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下半部分是PyTorch的实现，这是深度学习领域的利器。它不仅提供了向量化运算，更重要的是能自动利用GPU进行硬件加速，极大地提升了大规模数据的处理速度。同时，它还支持自动微分，这对于神经网络的训练至关重要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总结来说，掌握向量化是Python科学计算和AI开发的必修课。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大家好，这一页我们来深入了解一下“广播机制”。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简单来说，广播机制是 NumPy 和 PyTorch 等科学计算库中非常核心的特性。它解决了一个关键问题：当两个形状不同的数组（比如一个矩阵和一个向量）进行运算时，如何让它们能够“对齐”进行计算。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看左边，它的核心在于“逻辑扩展”。系统不会真的去复制数据，而是在计算时虚拟地将小的数组扩展成与大数组兼容的形状，这样既节省了内存，又简化了我们的代码。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看右边的例子，一个 2x2 的矩阵加上一个 1x2 的向量。实际上，向量 [10, 20] 被“广播”到了两行，变成了 [[10,20],[10,20]]，然后再和原矩阵相加，得到了结果。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这个机制在深度学习中无处不在，比如我们计算神经网络的输出 Z=WX+b 时，偏置项 b 就是一个向量，它通过广播机制加到了矩阵 WX 的每一列上。理解这一点，对于我们编写高效的数值计算代码至关重要。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这一页我们来详细拆解神经网络的完整训练流程，这是深度学习的核心基石。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整个过程可以概括为六个关键步骤：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首先是输入数据，这是训练的起点。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然后进行前向传播，数据像水流一样穿过网络的每一层，得到初步的预测结果。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3. 接下来是计算损失，也就是衡量预测结果和真实答案之间的差距，这是我们优化的目标。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4. 然后是反向传播，这是训练中最巧妙的一步，我们从后往前计算误差对每个参数的影响。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5. 接着利用梯度下降算法，根据计算出的梯度来更新网络的参数，让模型变得更准确。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6. 最后，我们不断重复这个循环，直到模型的预测足够准确，也就是损失足够小为止。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理解这个闭环过程，是掌握深度学习训练机制的关键。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这一页我们来深入理解深度学习中最核心的两个概念：前向传播和反向传播。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左边是前向传播，它的核心是“计算预测”。就像我们做题时，根据题目条件一步步算出答案，不管答案对不对，先算出来。在神经网络中，就是数据从输入层进入，经过一层层的计算，最后得到输出结果。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是反向传播，它的核心是“修正错误”。就像老师批改作业，发现答案错了，会倒着看是哪一步出错了，然后告诉你怎么改。在网络中，就是从输出的误差开始，倒着计算每个参数对错误的影响，从而指导参数的更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这两者结合起来，就是神经网络不断学习和优化的过程：先算结果，再看哪里错了，然后修正，如此循环。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各位同学，欢迎来到第三部分的学习。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在这一周，我们将深入探讨浅层神经网络的核心机制。我们将重点关注两层网络的结构设计，以及激活函数在网络中所扮演的关键角色。这是理解深度学习基础的重要一步。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大家好，今天我们来聊聊什么是两层神经网络。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大家看左边的结构，两层神经网络，顾名思义，包含一个隐藏层和一个输出层。请注意，输入层是不计入层数的，它只是负责接收数据。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为了让大家更好地理解，我们看右边的例子。假设我们要让计算机识别一张图片是不是猫。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首先，输入层就像是计算机的眼睛，它把图片的像素点变成数字信号输入进去。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然后，隐藏层是核心，它会从这些像素中提取出有用的特征，比如猫的耳朵形状、眼睛的轮廓等。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最后，输出层根据这些特征，给出一个最终的判断：这到底是不是一只猫。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这就是两层神经网络的基本工作原理，它是深度学习中最基础的结构。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大家好，这一页我们深入探讨隐藏层神经元的具体计算过程。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上半部分，这是单个神经元的线性加权公式。这里的上标1代表第一层，也就是隐藏层；下标1代表该层的第一个神经元。公式中的w是权重，决定了输入信号的影响力；b是偏置，用来调节神经元的激活门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着看下半部分，线性计算的结果z，必须经过激活函数g的处理，才能得到最终的输出a。这个激活函数非常关键，它引入了非线性，让神经网络能够处理复杂的问题。如果隐藏层有4个神经元，我们就需要同时进行4次这样的计算，得到4个输出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大家好，这一页我们来探讨一个核心问题：为什么神经网络必须要有激活函数？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做一个简单的数学推导。假设我们没有激活函数，第一层的计算是线性的，第二层的计算也是线性的。如果我们把它们代入化简，你会发现，不管你堆叠多少层，最终的结果依然可以合并成一个简单的线性模型 z = Wx + b。这意味着，多层网络退化成了单层网络，深度失去了意义。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这就带来了一个严重的问题：线性模型只能处理线性可分的问题，而现实世界中的数据（如图像、语音）都是高度非线性的。没有激活函数，神经网络就像一把只能画直线的尺子，无法拟合复杂的曲线。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因此，激活函数的核心价值在于引入非线性。它赋予了神经网络拟合任意复杂函数的能力，这正是深度学习能够解决复杂问题的关键所在。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这一页我们来解决一个非常实用的问题：激活函数到底该怎么选？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其实规则非常简单，我们可以分成两部分来看：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首先是隐藏层，这里我给大家的建议是“无脑选 ReLU”。为什么呢？因为它训练速度快，计算成本低，而且能有效解决深层网络的梯度消失问题，是目前工业界的标准选择。当然，如果遇到了“神经元死亡”的问题，你可以尝试它的变体，比如 Leaky ReLU 或者 GELU，但在绝大多数情况下，ReLU 就足够了。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然后是输出层，这里的选择完全取决于你的任务类型：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如果是二分类任务，比如判断一封邮件是不是垃圾邮件，或者预测用户会不会点击广告，我们就用 Sigmoid 函数，它能输出一个 0 到 1 之间的概率值。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如果是多分类任务，比如识别图片里是猫、狗还是鸟，我们就用 Softmax 函数，它能输出每个类别的概率，并且这些概率加起来正好等于 1。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记住这个黄金法则：隐藏层用 ReLU，输出层看任务。这能帮你快速搭建起正确的模型结构。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这一页我们来详细拆解两层神经网络的数学公式，这是理解深度学习前向传播的基础。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第一层，也就是隐藏层。我们首先进行线性加权求和，得到Z1，这一步是对输入特征的加权组合。然后通过一个非线性激活函数g，得到A1。这一步非常关键，引入了非线性，让网络具备了拟合复杂函数的能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着看第二层，也就是输出层。我们将第一层的输出A1作为输入，再次进行线性加权求和得到Z2。然后根据任务的不同（比如分类或回归），选择合适的激活函数，比如分类任务常用的Softmax，得到A2。这个A2就是我们模型最终的预测值Y帽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整个过程就是输入数据不断经过线性变换和非线性激活，最终输出结果的过程，也就是我们常说的前向传播。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大家好，这一页我们来深入探讨一个看似基础但至关重要的问题：为什么神经网络的参数需要随机初始化？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左边的反例。如果我们将所有权重都初始化为0，会发生什么？假设我们有一个包含3个神经元的隐藏层，那么每个神经元的输入计算结果将完全一样，它们的梯度也完全一样。这意味着，在反向传播的每一次更新中，这三个神经元的权重变化都是同步的，永远保持一致。这就导致了一个严重的问题：无论网络有多深，这个隐藏层实际上只相当于一个神经元在工作，因为它们学到的特征完全相同，网络失去了深度带来的表达能力。这被称为“权重对称问题”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正确的做法是什么呢？请看右边。我们需要对权重W进行“小范围的随机初始化”。通过给每个神经元赋予微小的、不同的初始权重，我们打破了这种对称性，使得每个神经元可以学习到数据中不同的特征维度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需要注意的是，偏置项b通常是可以安全地初始化为0的，因为它不会像权重那样导致神经元之间的对称性竞争。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总结来说，随机初始化不仅仅是一个步骤，它是打破对称性、让神经网络真正具备学习能力的前提条件。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这一页我们来详细拆解神经网络的完整训练步骤，这是深度学习中最核心的流程。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首先是参数初始化，我们需要给权重和偏置一个随机的起点，这是训练的基础。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第二步是前向传播，把数据输入网络，算出预测结果。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第三步计算损失，看看预测结果和真实答案差多少，这是衡量模型好坏的标准。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第四步是反向传播，这是关键，我们要算出每个参数对损失的影响，也就是梯度。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第五步用梯度下降来更新参数，让模型变得更准确。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最后，不断重复这个过程，直到模型的误差足够小，这就是训练的完整闭环。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我们进入了课程的第四部分：深层神经网络。在这一周，我们将深入探讨深度网络的架构设计、训练技巧以及工程落地的关键实践。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大家好，今天我们来深入了解一下“深层神经网络”。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从结构上看，深层神经网络（DNN）与浅层网络的区别在于它拥有多个隐藏层。大家看左边的示意图，信息从输入层进入，经过一层又一层的隐藏层处理，最后到达输出层。我们通常把隐藏层加上输出层的数量作为网络的总层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为什么要让网络这么“深”呢？这就要看右边的内容了。深度带来的是一种“特征抽象”的能力。就像人类认识世界一样，从最基础的线条、边缘开始，逐步组合成纹理、形状，再到具体的部件，最后形成对完整物体的认知。层数越多，网络能学习到的特征就越复杂，越本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正是这种层层递进的特征提取能力，让深层神经网络在处理图像、语音等复杂数据时表现出了惊人的智能。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大家好，这一页我们来深入理解神经网络中参数矩阵的尺寸规则，这是构建网络时最容易出错的地方。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首先看上面的理论部分：权重矩阵 W 的尺寸，永远是“当前层的神经元数量”乘以“上一层的神经元数量”。这是因为每一个输出神经元都需要与所有的输入神经元进行连接。而偏置 b 就简单得多，它只和当前层的神经元数量有关，每个神经元对应一个偏置值。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我们来看下面的具体例子：如果输入层有3个特征，要映射到有4个神经元的隐藏层，那么权重矩阵 W 的维度就是 4 行 3 列。这意味着对于隐藏层的每一个神经元，都有3个权重参数来连接输入。而偏置 b 则是一个 4 行 1 列的向量，给每个隐藏层神经元一个独立的偏移量。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记住这个规则，在写代码定义 Linear 层的时候就不会再搞混 in_features 和 out_features 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大家好，这页PPT展示了深层网络的完整训练流程。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这个流程其实和我们之前讲的浅层网络是一脉相承的，核心思想并没有改变，只是因为层数变多了，计算量和复杂性增加了。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我们来看这六个关键步骤：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第一步是参数初始化，我们需要给所有层的权重和偏置赋予随机初始值，这里要特别注意打破对称性。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第二步是前向传播，数据从输入层进入，经过每一层的线性变换和非线性激活，最终在输出层得到预测值。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第三步，我们用损失函数来衡量预测值和真实值之间的差距，这是我们优化的目标。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第四步是反向传播，这是训练的核心，我们从输出层开始，利用链式法则，把误差反向传递回去，计算出每个参数对误差的贡献度，也就是梯度。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第五步，根据计算出的梯度，我们使用梯度下降算法来更新所有的参数，让模型变得更准确。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最后一步，我们不断重复这个过程，直到模型的性能不再提升，也就是收敛为止。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理解这个闭环流程，是掌握深度学习训练机制的基础。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这一页我们深入到神经网络的核心：参数更新的通用公式。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大家看屏幕中间的两个公式，它们分别对应了权重 W 和偏置 b 的更新规则。这两个公式非常相似，都遵循梯度下降的基本原理。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首先看左边的权重更新公式：新的权重等于旧的权重减去学习率乘以权重的梯度。这里的 α 是学习率，它是一个超参数，控制我们每一步走多大。dW 是损失函数对权重的导数，它告诉我们应该往哪个方向走才能让损失变小。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右边的偏置更新公式同理。这两个公式在神经网络的每一层中都是通用的，无论是在隐藏层还是输出层，我们都用同样的规则来更新参数。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理解这个公式是理解深度学习训练过程的关键，它是反向传播算法的数学基础。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这一页我们来探讨理论知识与PyTorch代码的具体对应关系。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首先看上半部分，神经网络中最基础的线性层，在数学上表达为 Z=WX+b，这代表了输入特征的线性变换。在PyTorch中，我们直接使用 nn.Linear 类来实现，只需要指定输入特征数和输出特征数，底层就会自动帮我们处理矩阵运算。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再看下半部分，除了线性变换，我们还需要激活函数来引入非线性。比如常用的ReLU和Sigmoid，在代码中分别对应 nn.ReLU() 和 nn.Sigmoid()。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最后，我们通过 nn.Sequential() 将这些层按顺序堆叠起来，就构建了一个完整的神经网络。大家可以看到，代码的结构和我们画的神经网络结构图是完全一致的，这就是理论指导实践的过程。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svg"/><Relationship Id="rId7" Type="http://schemas.openxmlformats.org/officeDocument/2006/relationships/image" Target="../media/image25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4" Type="http://schemas.openxmlformats.org/officeDocument/2006/relationships/notesSlide" Target="../notesSlides/notesSlide8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30.svg"/><Relationship Id="rId11" Type="http://schemas.openxmlformats.org/officeDocument/2006/relationships/image" Target="../media/image29.png"/><Relationship Id="rId10" Type="http://schemas.openxmlformats.org/officeDocument/2006/relationships/image" Target="../media/image28.svg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image" Target="../media/image32.sv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image" Target="../media/image40.svg"/><Relationship Id="rId7" Type="http://schemas.openxmlformats.org/officeDocument/2006/relationships/image" Target="../media/image39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4" Type="http://schemas.openxmlformats.org/officeDocument/2006/relationships/notesSlide" Target="../notesSlides/notesSlide13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43.svg"/><Relationship Id="rId11" Type="http://schemas.openxmlformats.org/officeDocument/2006/relationships/image" Target="../media/image42.png"/><Relationship Id="rId10" Type="http://schemas.openxmlformats.org/officeDocument/2006/relationships/image" Target="../media/image16.svg"/><Relationship Id="rId1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Relationship Id="rId3" Type="http://schemas.openxmlformats.org/officeDocument/2006/relationships/image" Target="../media/image52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4" Type="http://schemas.openxmlformats.org/officeDocument/2006/relationships/image" Target="../media/image59.svg"/><Relationship Id="rId3" Type="http://schemas.openxmlformats.org/officeDocument/2006/relationships/image" Target="../media/image58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image" Target="../media/image57.svg"/><Relationship Id="rId3" Type="http://schemas.openxmlformats.org/officeDocument/2006/relationships/image" Target="../media/image56.png"/><Relationship Id="rId2" Type="http://schemas.openxmlformats.org/officeDocument/2006/relationships/tags" Target="../tags/tag20.xml"/><Relationship Id="rId18" Type="http://schemas.openxmlformats.org/officeDocument/2006/relationships/notesSlide" Target="../notesSlides/notesSlide18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image" Target="../media/image63.svg"/><Relationship Id="rId11" Type="http://schemas.openxmlformats.org/officeDocument/2006/relationships/image" Target="../media/image62.png"/><Relationship Id="rId10" Type="http://schemas.openxmlformats.org/officeDocument/2006/relationships/tags" Target="../tags/tag26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4.svg"/><Relationship Id="rId1" Type="http://schemas.openxmlformats.org/officeDocument/2006/relationships/image" Target="../media/image64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3.png"/><Relationship Id="rId8" Type="http://schemas.openxmlformats.org/officeDocument/2006/relationships/image" Target="../media/image72.svg"/><Relationship Id="rId7" Type="http://schemas.openxmlformats.org/officeDocument/2006/relationships/image" Target="../media/image71.png"/><Relationship Id="rId6" Type="http://schemas.openxmlformats.org/officeDocument/2006/relationships/image" Target="../media/image70.svg"/><Relationship Id="rId5" Type="http://schemas.openxmlformats.org/officeDocument/2006/relationships/image" Target="../media/image69.png"/><Relationship Id="rId4" Type="http://schemas.openxmlformats.org/officeDocument/2006/relationships/image" Target="../media/image68.svg"/><Relationship Id="rId3" Type="http://schemas.openxmlformats.org/officeDocument/2006/relationships/image" Target="../media/image67.png"/><Relationship Id="rId2" Type="http://schemas.openxmlformats.org/officeDocument/2006/relationships/image" Target="../media/image66.svg"/><Relationship Id="rId14" Type="http://schemas.openxmlformats.org/officeDocument/2006/relationships/notesSlide" Target="../notesSlides/notesSlide20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76.svg"/><Relationship Id="rId11" Type="http://schemas.openxmlformats.org/officeDocument/2006/relationships/image" Target="../media/image75.png"/><Relationship Id="rId10" Type="http://schemas.openxmlformats.org/officeDocument/2006/relationships/image" Target="../media/image74.svg"/><Relationship Id="rId1" Type="http://schemas.openxmlformats.org/officeDocument/2006/relationships/image" Target="../media/image65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9.png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image" Target="../media/image78.svg"/><Relationship Id="rId5" Type="http://schemas.openxmlformats.org/officeDocument/2006/relationships/image" Target="../media/image77.png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4" Type="http://schemas.openxmlformats.org/officeDocument/2006/relationships/notesSlide" Target="../notesSlides/notesSlide21.x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44.xml"/><Relationship Id="rId21" Type="http://schemas.openxmlformats.org/officeDocument/2006/relationships/image" Target="../media/image84.svg"/><Relationship Id="rId20" Type="http://schemas.openxmlformats.org/officeDocument/2006/relationships/image" Target="../media/image83.png"/><Relationship Id="rId2" Type="http://schemas.openxmlformats.org/officeDocument/2006/relationships/tags" Target="../tags/tag32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image" Target="../media/image82.svg"/><Relationship Id="rId16" Type="http://schemas.openxmlformats.org/officeDocument/2006/relationships/image" Target="../media/image81.png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image" Target="../media/image80.svg"/><Relationship Id="rId1" Type="http://schemas.openxmlformats.org/officeDocument/2006/relationships/tags" Target="../tags/tag3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90.svg"/><Relationship Id="rId5" Type="http://schemas.openxmlformats.org/officeDocument/2006/relationships/image" Target="../media/image89.png"/><Relationship Id="rId4" Type="http://schemas.openxmlformats.org/officeDocument/2006/relationships/image" Target="../media/image88.svg"/><Relationship Id="rId3" Type="http://schemas.openxmlformats.org/officeDocument/2006/relationships/image" Target="../media/image87.png"/><Relationship Id="rId2" Type="http://schemas.openxmlformats.org/officeDocument/2006/relationships/image" Target="../media/image86.svg"/><Relationship Id="rId1" Type="http://schemas.openxmlformats.org/officeDocument/2006/relationships/image" Target="../media/image85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8.svg"/><Relationship Id="rId7" Type="http://schemas.openxmlformats.org/officeDocument/2006/relationships/image" Target="../media/image97.png"/><Relationship Id="rId6" Type="http://schemas.openxmlformats.org/officeDocument/2006/relationships/image" Target="../media/image96.svg"/><Relationship Id="rId5" Type="http://schemas.openxmlformats.org/officeDocument/2006/relationships/image" Target="../media/image95.png"/><Relationship Id="rId4" Type="http://schemas.openxmlformats.org/officeDocument/2006/relationships/image" Target="../media/image94.svg"/><Relationship Id="rId3" Type="http://schemas.openxmlformats.org/officeDocument/2006/relationships/image" Target="../media/image93.png"/><Relationship Id="rId2" Type="http://schemas.openxmlformats.org/officeDocument/2006/relationships/image" Target="../media/image92.svg"/><Relationship Id="rId10" Type="http://schemas.openxmlformats.org/officeDocument/2006/relationships/notesSlide" Target="../notesSlides/notesSlide24.xml"/><Relationship Id="rId1" Type="http://schemas.openxmlformats.org/officeDocument/2006/relationships/image" Target="../media/image91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1.png"/><Relationship Id="rId8" Type="http://schemas.openxmlformats.org/officeDocument/2006/relationships/image" Target="../media/image100.svg"/><Relationship Id="rId7" Type="http://schemas.openxmlformats.org/officeDocument/2006/relationships/image" Target="../media/image99.png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2" Type="http://schemas.openxmlformats.org/officeDocument/2006/relationships/notesSlide" Target="../notesSlides/notesSlide25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02.svg"/><Relationship Id="rId1" Type="http://schemas.openxmlformats.org/officeDocument/2006/relationships/tags" Target="../tags/tag45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06.svg"/><Relationship Id="rId3" Type="http://schemas.openxmlformats.org/officeDocument/2006/relationships/image" Target="../media/image105.png"/><Relationship Id="rId2" Type="http://schemas.openxmlformats.org/officeDocument/2006/relationships/image" Target="../media/image104.svg"/><Relationship Id="rId1" Type="http://schemas.openxmlformats.org/officeDocument/2006/relationships/image" Target="../media/image10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5.png"/><Relationship Id="rId8" Type="http://schemas.openxmlformats.org/officeDocument/2006/relationships/image" Target="../media/image114.svg"/><Relationship Id="rId7" Type="http://schemas.openxmlformats.org/officeDocument/2006/relationships/image" Target="../media/image113.png"/><Relationship Id="rId6" Type="http://schemas.openxmlformats.org/officeDocument/2006/relationships/image" Target="../media/image112.svg"/><Relationship Id="rId5" Type="http://schemas.openxmlformats.org/officeDocument/2006/relationships/image" Target="../media/image111.png"/><Relationship Id="rId4" Type="http://schemas.openxmlformats.org/officeDocument/2006/relationships/image" Target="../media/image110.svg"/><Relationship Id="rId3" Type="http://schemas.openxmlformats.org/officeDocument/2006/relationships/image" Target="../media/image109.png"/><Relationship Id="rId2" Type="http://schemas.openxmlformats.org/officeDocument/2006/relationships/image" Target="../media/image108.svg"/><Relationship Id="rId14" Type="http://schemas.openxmlformats.org/officeDocument/2006/relationships/notesSlide" Target="../notesSlides/notesSlide28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18.svg"/><Relationship Id="rId11" Type="http://schemas.openxmlformats.org/officeDocument/2006/relationships/image" Target="../media/image117.png"/><Relationship Id="rId10" Type="http://schemas.openxmlformats.org/officeDocument/2006/relationships/image" Target="../media/image116.svg"/><Relationship Id="rId1" Type="http://schemas.openxmlformats.org/officeDocument/2006/relationships/image" Target="../media/image10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5.png"/><Relationship Id="rId8" Type="http://schemas.openxmlformats.org/officeDocument/2006/relationships/image" Target="../media/image124.svg"/><Relationship Id="rId7" Type="http://schemas.openxmlformats.org/officeDocument/2006/relationships/image" Target="../media/image123.png"/><Relationship Id="rId6" Type="http://schemas.openxmlformats.org/officeDocument/2006/relationships/image" Target="../media/image122.svg"/><Relationship Id="rId5" Type="http://schemas.openxmlformats.org/officeDocument/2006/relationships/image" Target="../media/image121.png"/><Relationship Id="rId4" Type="http://schemas.openxmlformats.org/officeDocument/2006/relationships/image" Target="../media/image40.svg"/><Relationship Id="rId3" Type="http://schemas.openxmlformats.org/officeDocument/2006/relationships/image" Target="../media/image39.png"/><Relationship Id="rId2" Type="http://schemas.openxmlformats.org/officeDocument/2006/relationships/image" Target="../media/image120.svg"/><Relationship Id="rId12" Type="http://schemas.openxmlformats.org/officeDocument/2006/relationships/notesSlide" Target="../notesSlides/notesSlide31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26.svg"/><Relationship Id="rId1" Type="http://schemas.openxmlformats.org/officeDocument/2006/relationships/image" Target="../media/image119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32.svg"/><Relationship Id="rId7" Type="http://schemas.openxmlformats.org/officeDocument/2006/relationships/image" Target="../media/image131.png"/><Relationship Id="rId6" Type="http://schemas.openxmlformats.org/officeDocument/2006/relationships/image" Target="../media/image130.svg"/><Relationship Id="rId5" Type="http://schemas.openxmlformats.org/officeDocument/2006/relationships/image" Target="../media/image129.png"/><Relationship Id="rId4" Type="http://schemas.openxmlformats.org/officeDocument/2006/relationships/image" Target="../media/image55.svg"/><Relationship Id="rId3" Type="http://schemas.openxmlformats.org/officeDocument/2006/relationships/image" Target="../media/image54.png"/><Relationship Id="rId2" Type="http://schemas.openxmlformats.org/officeDocument/2006/relationships/image" Target="../media/image128.svg"/><Relationship Id="rId10" Type="http://schemas.openxmlformats.org/officeDocument/2006/relationships/notesSlide" Target="../notesSlides/notesSlide32.xml"/><Relationship Id="rId1" Type="http://schemas.openxmlformats.org/officeDocument/2006/relationships/image" Target="../media/image127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7.png"/><Relationship Id="rId8" Type="http://schemas.openxmlformats.org/officeDocument/2006/relationships/image" Target="../media/image136.svg"/><Relationship Id="rId7" Type="http://schemas.openxmlformats.org/officeDocument/2006/relationships/image" Target="../media/image135.png"/><Relationship Id="rId6" Type="http://schemas.openxmlformats.org/officeDocument/2006/relationships/image" Target="../media/image70.svg"/><Relationship Id="rId5" Type="http://schemas.openxmlformats.org/officeDocument/2006/relationships/image" Target="../media/image69.png"/><Relationship Id="rId4" Type="http://schemas.openxmlformats.org/officeDocument/2006/relationships/image" Target="../media/image134.svg"/><Relationship Id="rId3" Type="http://schemas.openxmlformats.org/officeDocument/2006/relationships/image" Target="../media/image133.png"/><Relationship Id="rId2" Type="http://schemas.openxmlformats.org/officeDocument/2006/relationships/image" Target="../media/image74.svg"/><Relationship Id="rId14" Type="http://schemas.openxmlformats.org/officeDocument/2006/relationships/notesSlide" Target="../notesSlides/notesSlide33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76.svg"/><Relationship Id="rId11" Type="http://schemas.openxmlformats.org/officeDocument/2006/relationships/image" Target="../media/image75.png"/><Relationship Id="rId10" Type="http://schemas.openxmlformats.org/officeDocument/2006/relationships/image" Target="../media/image138.svg"/><Relationship Id="rId1" Type="http://schemas.openxmlformats.org/officeDocument/2006/relationships/image" Target="../media/image73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2.svg"/><Relationship Id="rId8" Type="http://schemas.openxmlformats.org/officeDocument/2006/relationships/image" Target="../media/image141.png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image" Target="../media/image140.svg"/><Relationship Id="rId3" Type="http://schemas.openxmlformats.org/officeDocument/2006/relationships/image" Target="../media/image139.png"/><Relationship Id="rId22" Type="http://schemas.openxmlformats.org/officeDocument/2006/relationships/notesSlide" Target="../notesSlides/notesSlide34.xml"/><Relationship Id="rId21" Type="http://schemas.openxmlformats.org/officeDocument/2006/relationships/slideLayout" Target="../slideLayouts/slideLayout12.xml"/><Relationship Id="rId20" Type="http://schemas.openxmlformats.org/officeDocument/2006/relationships/tags" Target="../tags/tag62.xml"/><Relationship Id="rId2" Type="http://schemas.openxmlformats.org/officeDocument/2006/relationships/tags" Target="../tags/tag52.xml"/><Relationship Id="rId19" Type="http://schemas.openxmlformats.org/officeDocument/2006/relationships/image" Target="../media/image146.svg"/><Relationship Id="rId18" Type="http://schemas.openxmlformats.org/officeDocument/2006/relationships/image" Target="../media/image145.png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image" Target="../media/image144.svg"/><Relationship Id="rId13" Type="http://schemas.openxmlformats.org/officeDocument/2006/relationships/image" Target="../media/image143.png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tags" Target="../tags/tag51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48.png"/><Relationship Id="rId1" Type="http://schemas.openxmlformats.org/officeDocument/2006/relationships/image" Target="../media/image1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B5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0" y="-1524000"/>
            <a:ext cx="4064000" cy="4064000"/>
          </a:xfrm>
          <a:prstGeom prst="ellipse">
            <a:avLst/>
          </a:prstGeom>
          <a:solidFill>
            <a:srgbClr val="D9E9F3">
              <a:alpha val="8000"/>
            </a:srgbClr>
          </a:solidFill>
          <a:ln cap="flat" cmpd="sng">
            <a:solidFill>
              <a:srgbClr val="ACC8D9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2032000" y="4318000"/>
            <a:ext cx="5334000" cy="5334000"/>
          </a:xfrm>
          <a:prstGeom prst="ellipse">
            <a:avLst/>
          </a:prstGeom>
          <a:solidFill>
            <a:srgbClr val="D9E9F3">
              <a:alpha val="8000"/>
            </a:srgbClr>
          </a:solidFill>
          <a:ln cap="flat" cmpd="sng">
            <a:solidFill>
              <a:srgbClr val="ACC8D9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816600" y="1016000"/>
            <a:ext cx="558800" cy="558800"/>
          </a:xfrm>
          <a:prstGeom prst="hexagon">
            <a:avLst/>
          </a:prstGeom>
          <a:solidFill>
            <a:srgbClr val="D9E9F3">
              <a:alpha val="18000"/>
            </a:srgbClr>
          </a:solidFill>
          <a:ln cap="flat" cmpd="sng">
            <a:solidFill>
              <a:srgbClr val="ACC8D9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381000" y="2286000"/>
            <a:ext cx="1143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吴恩达深度学习</a:t>
            </a:r>
            <a:r>
              <a:rPr lang="zh-CN" altLang="en-US" sz="4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第一</a:t>
            </a:r>
            <a:r>
              <a:rPr lang="zh-CN" altLang="en-US" sz="4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课</a:t>
            </a:r>
            <a:endParaRPr lang="zh-CN" altLang="en-US" sz="4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81000" y="3937000"/>
            <a:ext cx="1143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200" b="0" i="0" u="none" strike="noStrike">
                <a:solidFill>
                  <a:srgbClr val="D9E9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学习</a:t>
            </a:r>
            <a:r>
              <a:rPr lang="zh-CN" altLang="en-US" sz="2200" b="0" i="0" u="none" strike="noStrike">
                <a:solidFill>
                  <a:srgbClr val="D9E9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记录</a:t>
            </a:r>
            <a:endParaRPr lang="zh-CN" altLang="en-US" sz="2200" b="0" i="0" u="none" strike="noStrike">
              <a:solidFill>
                <a:srgbClr val="D9E9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5729">
            <a:off x="2286005" y="5073650"/>
            <a:ext cx="762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FCBDD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381000" y="5461000"/>
            <a:ext cx="1143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FCB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学习笔记 · 核心公式 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762000"/>
            <a:ext cx="2540000" cy="254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715000"/>
            <a:ext cx="1905000" cy="1905000"/>
          </a:xfrm>
          <a:prstGeom prst="ellipse">
            <a:avLst/>
          </a:prstGeom>
          <a:solidFill>
            <a:srgbClr val="243447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4445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课程目录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397000"/>
            <a:ext cx="5397500" cy="2349500"/>
          </a:xfrm>
          <a:prstGeom prst="roundRect">
            <a:avLst>
              <a:gd name="adj" fmla="val 0"/>
            </a:avLst>
          </a:prstGeom>
          <a:solidFill>
            <a:srgbClr val="2F6F9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1397000"/>
            <a:ext cx="50800" cy="2349500"/>
          </a:xfrm>
          <a:prstGeom prst="roundRect">
            <a:avLst>
              <a:gd name="adj" fmla="val 0"/>
            </a:avLst>
          </a:prstGeom>
          <a:solidFill>
            <a:srgbClr val="2F6F9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36600" y="1587500"/>
            <a:ext cx="5016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深度学习基础与逻辑回归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8883">
            <a:off x="736608" y="2089150"/>
            <a:ext cx="4914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736600" y="2222500"/>
            <a:ext cx="5016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梳理人工智能、机器学习与深度学习的演进关系与范畴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解析监督学习的基本范式与人工神经网络的底层逻辑</a:t>
            </a:r>
            <a:endParaRPr lang="en-US" sz="1400" b="0" i="0" u="none" strike="noStrike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掌握逻辑回归模型原理、损失函数定义及梯度下降优化算法</a:t>
            </a:r>
            <a:endParaRPr lang="en-US" sz="1400" b="0" i="0" u="none" strike="noStrike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86500" y="1397000"/>
            <a:ext cx="5397500" cy="2349500"/>
          </a:xfrm>
          <a:prstGeom prst="roundRect">
            <a:avLst>
              <a:gd name="adj" fmla="val 0"/>
            </a:avLst>
          </a:prstGeom>
          <a:solidFill>
            <a:srgbClr val="2F6F9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86500" y="1397000"/>
            <a:ext cx="50800" cy="2349500"/>
          </a:xfrm>
          <a:prstGeom prst="roundRect">
            <a:avLst>
              <a:gd name="adj" fmla="val 0"/>
            </a:avLst>
          </a:prstGeom>
          <a:solidFill>
            <a:srgbClr val="2F6F9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515100" y="1587500"/>
            <a:ext cx="5016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神经网络核心原理与实现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8883">
            <a:off x="6515108" y="2089150"/>
            <a:ext cx="4914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515100" y="2222500"/>
            <a:ext cx="5016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解构神经元计算单元，理解全连接网络的基础架构组成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掌握向量化运算与矩阵操作，提升模型计算效率</a:t>
            </a:r>
            <a:endParaRPr lang="en-US" sz="1400" b="0" i="0" u="none" strike="noStrike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初探前向传播与反向传播机制，学习Python/Numpy的实现思路</a:t>
            </a:r>
            <a:endParaRPr lang="en-US" sz="1400" b="0" i="0" u="none" strike="noStrike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08000" y="3937000"/>
            <a:ext cx="5397500" cy="2349500"/>
          </a:xfrm>
          <a:prstGeom prst="roundRect">
            <a:avLst>
              <a:gd name="adj" fmla="val 0"/>
            </a:avLst>
          </a:prstGeom>
          <a:solidFill>
            <a:srgbClr val="2F6F9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08000" y="3937000"/>
            <a:ext cx="50800" cy="2349500"/>
          </a:xfrm>
          <a:prstGeom prst="roundRect">
            <a:avLst>
              <a:gd name="adj" fmla="val 0"/>
            </a:avLst>
          </a:prstGeom>
          <a:solidFill>
            <a:srgbClr val="2F6F9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36600" y="4127500"/>
            <a:ext cx="5016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浅层神经网络构建与训练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8883">
            <a:off x="736608" y="4629150"/>
            <a:ext cx="4914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736600" y="4762500"/>
            <a:ext cx="5016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搭建完整的两层神经网络，深入理解隐藏层的特征提取作用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对比Sigmoid、ReLU、Tanh等激活函数的特性与适用场景</a:t>
            </a:r>
            <a:endParaRPr lang="en-US" sz="1400" b="0" i="0" u="none" strike="noStrike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掌握参数初始化策略、完整训练流程及正向传播公式推导</a:t>
            </a:r>
            <a:endParaRPr lang="en-US" sz="1400" b="0" i="0" u="none" strike="noStrike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286500" y="3937000"/>
            <a:ext cx="5397500" cy="2349500"/>
          </a:xfrm>
          <a:prstGeom prst="roundRect">
            <a:avLst>
              <a:gd name="adj" fmla="val 0"/>
            </a:avLst>
          </a:prstGeom>
          <a:solidFill>
            <a:srgbClr val="2F6F9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286500" y="3937000"/>
            <a:ext cx="50800" cy="2349500"/>
          </a:xfrm>
          <a:prstGeom prst="roundRect">
            <a:avLst>
              <a:gd name="adj" fmla="val 0"/>
            </a:avLst>
          </a:prstGeom>
          <a:solidFill>
            <a:srgbClr val="2F6F9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515100" y="4127500"/>
            <a:ext cx="5016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 深层网络架构与工程实践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8883">
            <a:off x="6515108" y="4629150"/>
            <a:ext cx="4914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515100" y="4762500"/>
            <a:ext cx="5016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构建通用的L层深度神经网络，掌握深层网络的统一表示方法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深入剖析深层网络的前向传播与反向传播的数学逻辑</a:t>
            </a:r>
            <a:endParaRPr lang="en-US" sz="1400" b="0" i="0" u="none" strike="noStrike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掌握参数矩阵尺寸规则，理解深度学习工程化与PyTorch映射</a:t>
            </a:r>
            <a:endParaRPr lang="en-US" sz="1400" b="0" i="0" u="none" strike="noStrike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62000" cy="6858000"/>
          </a:xfrm>
          <a:prstGeom prst="roundRect">
            <a:avLst>
              <a:gd name="adj" fmla="val 0"/>
            </a:avLst>
          </a:prstGeom>
          <a:solidFill>
            <a:srgbClr val="193B5A">
              <a:alpha val="100000"/>
            </a:srgbClr>
          </a:solidFill>
          <a:ln cap="flat" cmpd="sng">
            <a:solidFill>
              <a:srgbClr val="0B274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524000" y="2794000"/>
            <a:ext cx="990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Part 1 深度学习基础与逻辑回归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0" y="5080000"/>
            <a:ext cx="2286000" cy="2286000"/>
          </a:xfrm>
          <a:prstGeom prst="ellipse">
            <a:avLst/>
          </a:prstGeom>
          <a:solidFill>
            <a:srgbClr val="2F6F9F">
              <a:alpha val="8000"/>
            </a:srgbClr>
          </a:solidFill>
          <a:ln cap="flat" cmpd="sng">
            <a:solidFill>
              <a:srgbClr val="1A5786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43447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2563EB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AI、机器学习、深度学习的关系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4064000" cy="359283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solidFill>
              <a:srgbClr val="3B82F6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968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人工智能 (AI) · 宏观范畴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79500" y="2603500"/>
            <a:ext cx="3429000" cy="2349500"/>
          </a:xfrm>
          <a:prstGeom prst="roundRect">
            <a:avLst>
              <a:gd name="adj" fmla="val 0"/>
            </a:avLst>
          </a:prstGeom>
          <a:solidFill>
            <a:srgbClr val="2563EB">
              <a:alpha val="12000"/>
            </a:srgbClr>
          </a:solidFill>
          <a:ln w="25400" cap="flat" cmpd="sng">
            <a:solidFill>
              <a:srgbClr val="2563EB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206500" y="2794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机器学习 (ML) · 核心手段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397000" y="3556000"/>
            <a:ext cx="2794000" cy="1143000"/>
          </a:xfrm>
          <a:prstGeom prst="roundRect">
            <a:avLst>
              <a:gd name="adj" fmla="val 0"/>
            </a:avLst>
          </a:prstGeom>
          <a:solidFill>
            <a:srgbClr val="1D4ED8">
              <a:alpha val="18000"/>
            </a:srgbClr>
          </a:solidFill>
          <a:ln w="25400" cap="flat" cmpd="sng">
            <a:solidFill>
              <a:srgbClr val="1D4ED8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524000" y="37846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深度学习 (DL)</a:t>
            </a:r>
            <a:br>
              <a:rPr lang="en-US" sz="1500" b="1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500" b="1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前沿实现技术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334000" y="1778000"/>
            <a:ext cx="6350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434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24500" y="19304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969000" y="1930400"/>
            <a:ext cx="558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人工智能 (AI)：智能的顶层愿景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524500" y="2349500"/>
            <a:ext cx="590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它是一个宽泛的概念，指所有让机器模拟、延伸和扩展人类智能的技术。不仅包含数据驱动的机器学习，也涵盖了早期的专家系统、逻辑推理等，是整个领域的统称。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334000" y="3111500"/>
            <a:ext cx="6350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434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4500" y="32639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969000" y="3263900"/>
            <a:ext cx="558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机器学习 (ML)：AI 的核心实现路径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524500" y="3683000"/>
            <a:ext cx="590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作为AI的子集，它摒弃了“人工编写规则”的传统方式。通过统计学算法，让计算机直接从海量数据中自动发现规律、学习模式，是实现智能化的关键技术。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334000" y="4445000"/>
            <a:ext cx="6350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434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4500" y="45974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969000" y="4597400"/>
            <a:ext cx="558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深度学习 (DL)：机器学习的前沿突破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524500" y="5016500"/>
            <a:ext cx="590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机器学习的一个分支，以多层人工神经网络为核心。因网络层数多（“深度”深）而得名，能高效处理图像、语音等复杂数据，是目前AI爆发的核心驱动力。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635000"/>
            <a:ext cx="2540000" cy="2540000"/>
          </a:xfrm>
          <a:prstGeom prst="ellipse">
            <a:avLst/>
          </a:prstGeom>
          <a:solidFill>
            <a:srgbClr val="2563E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1905000" cy="1905000"/>
          </a:xfrm>
          <a:prstGeom prst="ellipse">
            <a:avLst/>
          </a:prstGeom>
          <a:solidFill>
            <a:srgbClr val="F59E0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81000" y="508000"/>
            <a:ext cx="1143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为什么深度学习现在才成功？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651000"/>
            <a:ext cx="3556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cap="flat" cmpd="sng">
            <a:solidFill>
              <a:srgbClr val="E6CFC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1651000"/>
            <a:ext cx="3556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98500" y="18415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98500" y="26035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数据规模爆发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3750">
            <a:off x="698513" y="3168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98500" y="3365500"/>
            <a:ext cx="3175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互联网与移动设备的普及产生了海量的图像、视频、文本与语音数据。深度学习是数据驱动的模型，海量数据为其提供了充足的“燃料”，数据量越大，模型对特征的学习越充分，预测准确性也就越高。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18000" y="1651000"/>
            <a:ext cx="3556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cap="flat" cmpd="sng">
            <a:solidFill>
              <a:srgbClr val="E6CFC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18000" y="1651000"/>
            <a:ext cx="3556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508500" y="18415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08500" y="26035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计算能力提升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3750">
            <a:off x="4508513" y="3168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508500" y="3365500"/>
            <a:ext cx="3175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GPU（图形处理器）的并行计算能力完美适配了神经网络中大量的矩阵运算需求。相比传统CPU，GPU将模型训练速度提升了数十倍，让深层网络的训练从“耗时数年”变为“数日完成”，大幅降低了研发门槛。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0" y="1651000"/>
            <a:ext cx="3556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cap="flat" cmpd="sng">
            <a:solidFill>
              <a:srgbClr val="E6CFC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128000" y="1651000"/>
            <a:ext cx="3556000" cy="508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318500" y="18415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18500" y="26035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算法不断改进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3750">
            <a:off x="8318513" y="3168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9E0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318500" y="3365500"/>
            <a:ext cx="3175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ReLU激活函数解决了深层网络的梯度消失问题，Adam优化器加速了收敛，ResNet等残差结构让超深网络训练成为可能。这些算法突破消除了技术瓶颈，显著提升了模型的特征提取与表达能力。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81000" y="381000"/>
            <a:ext cx="1143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监督学习 Supervised Learning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1524000"/>
            <a:ext cx="546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什么是监督学习？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1000" y="2159000"/>
            <a:ext cx="546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监督学习就像“老师辅导学生”：给机器提供带</a:t>
            </a:r>
            <a:r>
              <a:rPr lang="en-US" sz="1400" b="1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“正确答案（标签）”</a:t>
            </a:r>
            <a:r>
              <a:rPr lang="en-US" sz="14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的训练数据，让模型学习输入特征与输出结果之间的映射规律。这是目前工业界应用最广泛、最成熟的机器学习方式。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81000" y="3556000"/>
            <a:ext cx="5461000" cy="12065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cap="flat" cmpd="sng">
            <a:solidFill>
              <a:srgbClr val="1A5786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37465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43000" y="3683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图像识别：从“看图识物”开始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输入：一张动物图片（像素数据）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300" b="0" i="0" u="none" strike="noStrike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标签：“这是一只猫”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300" b="0" i="0" u="none" strike="noStrike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目标：让机器学会自己判断新图片里有没有猫。</a:t>
            </a:r>
            <a:endParaRPr lang="en-US" sz="1300" b="0" i="0" u="none" strike="noStrike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81000" y="4953000"/>
            <a:ext cx="5461000" cy="12065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cap="flat" cmpd="sng">
            <a:solidFill>
              <a:srgbClr val="1A5786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" y="51435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143000" y="5080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房价预测：给房子“估值”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输入：面积、地段、房龄等特征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300" b="0" i="0" u="none" strike="noStrike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标签：该房屋的真实市场价格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300" b="0" i="0" u="none" strike="noStrike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目标：根据新房源信息，预测其合理售价。</a:t>
            </a:r>
            <a:endParaRPr lang="en-US" sz="1300" b="0" i="0" u="none" strike="noStrike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1524000"/>
            <a:ext cx="546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两大核心任务类型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2159000"/>
            <a:ext cx="5461000" cy="1460500"/>
          </a:xfrm>
          <a:prstGeom prst="roundRect">
            <a:avLst>
              <a:gd name="adj" fmla="val 0"/>
            </a:avLst>
          </a:prstGeom>
          <a:solidFill>
            <a:srgbClr val="E67E22">
              <a:alpha val="8000"/>
            </a:srgbClr>
          </a:solidFill>
          <a:ln cap="flat" cmpd="sng">
            <a:solidFill>
              <a:srgbClr val="CD650A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23495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2286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354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回归问题 (Regression) —— 预测“多少”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输出结果是</a:t>
            </a:r>
            <a:r>
              <a:rPr lang="en-US" sz="1300" b="1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连续的数值</a:t>
            </a:r>
            <a:r>
              <a:rPr lang="en-US" sz="13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。比如：预测未来的气温（25℃）、股票的价格（150元）、下个月的销售额等。它关注的是“数量”的预测。</a:t>
            </a:r>
            <a:endParaRPr lang="en-US" sz="13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3000" y="3810000"/>
            <a:ext cx="5461000" cy="1460500"/>
          </a:xfrm>
          <a:prstGeom prst="roundRect">
            <a:avLst>
              <a:gd name="adj" fmla="val 0"/>
            </a:avLst>
          </a:prstGeom>
          <a:solidFill>
            <a:srgbClr val="27AE60">
              <a:alpha val="8000"/>
            </a:srgbClr>
          </a:solidFill>
          <a:ln cap="flat" cmpd="sng">
            <a:solidFill>
              <a:srgbClr val="129549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500" y="40005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85000" y="3937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分类问题 (Classification) —— 判断“是什么”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输出结果是</a:t>
            </a:r>
            <a:r>
              <a:rPr lang="en-US" sz="1300" b="1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离散的类别</a:t>
            </a:r>
            <a:r>
              <a:rPr lang="en-US" sz="13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。比如：判断邮件是否为垃圾邮件（是/否）、识别手写数字（0-9）、判断肿瘤是良性还是恶性。</a:t>
            </a:r>
            <a:endParaRPr lang="en-US" sz="13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508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单个神经元：房价预测案例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524000"/>
            <a:ext cx="1117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神经元核心公式：线性加权计算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2032000"/>
            <a:ext cx="11176000" cy="9525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08000" y="2032000"/>
            <a:ext cx="1117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z = w · x + b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" y="3111500"/>
            <a:ext cx="266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F6F9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35000" y="3200400"/>
            <a:ext cx="241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F6F9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 x：特征值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5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代表房屋的基础属性，如面积 x=100㎡，是模型的输入数据。</a:t>
            </a:r>
            <a:endParaRPr lang="en-US" sz="1300" b="0" i="0" u="none" strike="noStrike">
              <a:solidFill>
                <a:srgbClr val="555A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340100" y="3111500"/>
            <a:ext cx="266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F6F9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467100" y="3200400"/>
            <a:ext cx="241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F6F9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权重 w：重要度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5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衡量特征对房价的影响，如 w=5000 代表每平米价值5000元。</a:t>
            </a:r>
            <a:endParaRPr lang="en-US" sz="1300" b="0" i="0" u="none" strike="noStrike">
              <a:solidFill>
                <a:srgbClr val="555A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172200" y="3111500"/>
            <a:ext cx="266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F6F9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299200" y="3200400"/>
            <a:ext cx="241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F6F9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偏置 b：基础值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5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调整结果的常数项，如 b=20万，代表地段等固定价值。</a:t>
            </a:r>
            <a:endParaRPr lang="en-US" sz="1300" b="0" i="0" u="none" strike="noStrike">
              <a:solidFill>
                <a:srgbClr val="555A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9017000" y="3111500"/>
            <a:ext cx="266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F6F9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144000" y="3200400"/>
            <a:ext cx="241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F6F9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 z：初步预测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5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线性计算总和：z = 5000×100 + 200000 = 70万。</a:t>
            </a:r>
            <a:endParaRPr lang="en-US" sz="1300" b="0" i="0" u="none" strike="noStrike">
              <a:solidFill>
                <a:srgbClr val="555A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-3906">
            <a:off x="508004" y="45021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508000" y="4699000"/>
            <a:ext cx="1117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激活函数：赋予模型非线性能力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08000" y="5207000"/>
            <a:ext cx="3556000" cy="13335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508000" y="5207000"/>
            <a:ext cx="3556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 = g(z)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g(·) 为激活函数（如 Sigmoid）</a:t>
            </a:r>
            <a:endParaRPr lang="en-US" sz="1400" b="0" i="0" u="none" strike="noStrike">
              <a:solidFill>
                <a:srgbClr val="555A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4254500" y="5207000"/>
            <a:ext cx="3746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81500" y="5334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4762500" y="5308600"/>
            <a:ext cx="3238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为什么需要它？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线性计算只能处理简单的直线关系，而现实中房价受多种复杂因素影响。激活函数引入“非线性”，让神经网络能拟合复杂的市场规律。</a:t>
            </a:r>
            <a:endParaRPr lang="en-US" sz="1300" b="0" i="0" u="none" strike="noStrike">
              <a:solidFill>
                <a:srgbClr val="555A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128000" y="5207000"/>
            <a:ext cx="3746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5000" y="53340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636000" y="5308600"/>
            <a:ext cx="3238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Sigmoid 函数应用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如果我们预测“房价上涨概率”，它能将计算结果压缩到 0~1 之间。数值越接近 1，代表上涨的可能性越大，输出结果直观易懂。</a:t>
            </a:r>
            <a:endParaRPr lang="en-US" sz="1300" b="0" i="0" u="none" strike="noStrike">
              <a:solidFill>
                <a:srgbClr val="555A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243447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逻辑回归：图片分类问题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651000"/>
            <a:ext cx="5334000" cy="4572000"/>
          </a:xfrm>
          <a:prstGeom prst="roundRect">
            <a:avLst>
              <a:gd name="adj" fmla="val 0"/>
            </a:avLst>
          </a:prstGeom>
          <a:solidFill>
            <a:srgbClr val="2F6F9F">
              <a:alpha val="5000"/>
            </a:srgbClr>
          </a:solidFill>
          <a:ln cap="flat" cmpd="sng">
            <a:solidFill>
              <a:srgbClr val="1A5786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905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19200" y="1879600"/>
            <a:ext cx="444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输入是什么？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667000"/>
            <a:ext cx="4826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我们以一张</a:t>
            </a:r>
            <a:r>
              <a:rPr lang="en-US" sz="15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64×64 分辨率的RGB彩色图片</a:t>
            </a:r>
            <a:r>
              <a:rPr lang="en-US" sz="1500" b="0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为例：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500" b="0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</a:t>
            </a:r>
            <a:r>
              <a:rPr lang="en-US" sz="1500" b="1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像素总量：</a:t>
            </a:r>
            <a:r>
              <a:rPr lang="en-US" sz="1500" b="0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每个像素由红、绿、蓝三个颜色通道组成，因此总共有 64×64×3 =</a:t>
            </a:r>
            <a:r>
              <a:rPr lang="en-US" sz="1500" b="1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12,288 个数值</a:t>
            </a:r>
            <a:r>
              <a:rPr lang="en-US" sz="1500" b="0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en-US" sz="1500" b="0" i="0" u="none" strike="noStrike">
              <a:solidFill>
                <a:srgbClr val="3C46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500" b="0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</a:t>
            </a:r>
            <a:r>
              <a:rPr lang="en-US" sz="1500" b="1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向量化处理：</a:t>
            </a:r>
            <a:r>
              <a:rPr lang="en-US" sz="1500" b="0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将原本三维的图片矩阵（高×宽×通道）“拉平”展开，转化为一个长度为12,288的一维长向量。</a:t>
            </a:r>
            <a:endParaRPr lang="en-US" sz="1500" b="0" i="0" u="none" strike="noStrike">
              <a:solidFill>
                <a:srgbClr val="3C46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500" b="0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3.</a:t>
            </a:r>
            <a:r>
              <a:rPr lang="en-US" sz="1500" b="1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模型输入：</a:t>
            </a:r>
            <a:r>
              <a:rPr lang="en-US" sz="1500" b="0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这个一维长向量，就是送入逻辑回归模型的原始输入特征</a:t>
            </a:r>
            <a:r>
              <a:rPr lang="en-US" sz="1500" b="1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x</a:t>
            </a:r>
            <a:r>
              <a:rPr lang="en-US" sz="1500" b="0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en-US" sz="1500" b="0" i="0" u="none" strike="noStrike">
              <a:solidFill>
                <a:srgbClr val="3C46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000" y="1905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680200" y="1879600"/>
            <a:ext cx="444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逻辑回归完整公式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2603500"/>
            <a:ext cx="5461000" cy="952500"/>
          </a:xfrm>
          <a:prstGeom prst="roundRect">
            <a:avLst>
              <a:gd name="adj" fmla="val 0"/>
            </a:avLst>
          </a:prstGeom>
          <a:solidFill>
            <a:srgbClr val="243447">
              <a:alpha val="8000"/>
            </a:srgbClr>
          </a:solidFill>
          <a:ln w="12700" cap="flat" cmpd="sng">
            <a:solidFill>
              <a:srgbClr val="2F6F9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350000" y="2794000"/>
            <a:ext cx="520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 = σ(wᵀx + b)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37465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38735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667500" y="38481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线性加权 (wᵀx)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42926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A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权重与输入的点积，为每个像素的“证据”赋予权重并求和，计算出初步分数。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080500" y="37465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07500" y="38735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525000" y="38481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偏置项 (b)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207500" y="42926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A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模型的“基础门槛”，用于微调预测结果，确保模型不被输入的绝对大小过度影响。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5270500"/>
            <a:ext cx="2603500" cy="128651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0" y="5397500"/>
            <a:ext cx="254000" cy="254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667500" y="53721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Sigmoid 激活 (σ)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58166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A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将线性分数压缩至 0~1 区间，把数值转化为直观的概率值，决定是否分类为“是”。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080500" y="5270500"/>
            <a:ext cx="2603500" cy="128651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07500" y="5397500"/>
            <a:ext cx="254000" cy="254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525000" y="53721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预测概率 (a)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207500" y="58166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A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模型的最终输出，数值越接近1，代表图片属于目标类别（如“猫”）的概率越高。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81000" y="508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损失函数：判断预测错了多少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397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/ 单个样本的损失函数（对数损失）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968500"/>
            <a:ext cx="11176000" cy="8890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35000" y="21336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4344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L(a, y) = - [ y · log(a) + (1 - y) · log(1 - a) ]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" y="3111500"/>
            <a:ext cx="5461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434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98500" y="3213100"/>
            <a:ext cx="520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F6F9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 (真实标签)：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代表样本的真实答案。例如：判断图片是猫，y=1；不是猫，y=0。这是一个非黑即白的事实。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3111500"/>
            <a:ext cx="5461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434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413500" y="3213100"/>
            <a:ext cx="520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F6F9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 (预测概率)：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代表模型的预测结果。是一个介于 0 到 1 之间的小数，例如 a=0.9 表示模型有90%的把握认为是猫。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08000" y="4191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/ 直观理解：损失值的变化逻辑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08000" y="4699000"/>
            <a:ext cx="3556000" cy="1270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35000" y="4800600"/>
            <a:ext cx="330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情况一：预测很准 (a=0.9)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真实 y=1，模型说有90%把握是猫。虽然不是100%，但猜得很接近，所以计算出来的损失值很小。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318000" y="4699000"/>
            <a:ext cx="3556000" cy="1270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445000" y="4800600"/>
            <a:ext cx="330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✨ 情况二：完全正确 (a=1)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真实 y=1，模型也预测 a=1。判断完全一致，此时损失函数计算结果为 0，意味着模型在这个样本上没有犯错。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128000" y="4699000"/>
            <a:ext cx="3556000" cy="1270000"/>
          </a:xfrm>
          <a:prstGeom prst="roundRect">
            <a:avLst>
              <a:gd name="adj" fmla="val 0"/>
            </a:avLst>
          </a:prstGeom>
          <a:solidFill>
            <a:srgbClr val="EF4444">
              <a:alpha val="8000"/>
            </a:srgbClr>
          </a:solidFill>
          <a:ln w="12700" cap="flat" cmpd="sng">
            <a:solidFill>
              <a:srgbClr val="EF444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255000" y="4800600"/>
            <a:ext cx="330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🚫 情况三：错得离谱 (a=0.1)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真实是猫(y=1)，模型却认为只有10%的概率(a=0.1)。这是严重的误判，损失函数值会变得非常大，用来惩罚模型的错误。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508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成本函数：整体模型好不好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524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成本函数公式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2032000"/>
            <a:ext cx="11176000" cy="9525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cap="flat" cmpd="sng">
            <a:solidFill>
              <a:srgbClr val="1A5786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08000" y="2032000"/>
            <a:ext cx="1117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J(w, b) = (1/m) · Σ</a:t>
            </a:r>
            <a:r>
              <a:rPr lang="en-US" sz="2400" b="1" i="0" u="none" strike="noStrike" baseline="-25000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i=1</a:t>
            </a:r>
            <a:r>
              <a:rPr lang="en-US" sz="2400" b="1" i="0" u="none" strike="noStrike" baseline="30000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</a:t>
            </a:r>
            <a:r>
              <a:rPr lang="en-US" sz="24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L(a ⁽ⁱ⁾, y ⁽ⁱ⁾)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1"/>
            </p:custDataLst>
          </p:nvPr>
        </p:nvSpPr>
        <p:spPr>
          <a:xfrm>
            <a:off x="508000" y="3175000"/>
            <a:ext cx="3556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2"/>
            </p:custDataLst>
          </p:nvPr>
        </p:nvSpPr>
        <p:spPr>
          <a:xfrm>
            <a:off x="635000" y="3276600"/>
            <a:ext cx="330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F6F9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m：训练样本总数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代表数据量的规模（如1万张图片），它决定了我们要计算多少个样本的损失值。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3"/>
            </p:custDataLst>
          </p:nvPr>
        </p:nvSpPr>
        <p:spPr>
          <a:xfrm>
            <a:off x="4318000" y="3175000"/>
            <a:ext cx="3556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4"/>
            </p:custDataLst>
          </p:nvPr>
        </p:nvSpPr>
        <p:spPr>
          <a:xfrm>
            <a:off x="4445000" y="3276600"/>
            <a:ext cx="330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F6F9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Σ：求和运算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将每一个样本的损失值 L(a, y) 累加起来，得到所有样本的总损失，反映整体误差。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5"/>
            </p:custDataLst>
          </p:nvPr>
        </p:nvSpPr>
        <p:spPr>
          <a:xfrm>
            <a:off x="8128000" y="3175000"/>
            <a:ext cx="3556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6"/>
            </p:custDataLst>
          </p:nvPr>
        </p:nvSpPr>
        <p:spPr>
          <a:xfrm>
            <a:off x="8255000" y="3276600"/>
            <a:ext cx="330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F6F9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J：总成本/代价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总损失除以样本数 m，得到平均损失。它是衡量模型整体表现的核心指标。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 rot="-3906">
            <a:off x="508004" y="46291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508000" y="4826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核心训练目标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08000" y="5270500"/>
            <a:ext cx="635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我们的核心任务，就是通过不断调整神经网络的参数</a:t>
            </a:r>
            <a:r>
              <a:rPr lang="en-US" sz="1400" b="1" i="0" u="none" strike="noStrike">
                <a:solidFill>
                  <a:srgbClr val="2F6F9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 (权重)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1400" b="1" i="0" u="none" strike="noStrike">
                <a:solidFill>
                  <a:srgbClr val="2F6F9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 (偏置)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，去寻找让成本函数 J 达到最小值的那一组参数。这意味着模型在训练数据上的平均预测错误率降到最低，从而具备更强的泛化能力。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81000" y="381000"/>
            <a:ext cx="1143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梯度下降：怎么找到最优参数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1651000"/>
            <a:ext cx="5524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核心思想：下山的智慧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2413000"/>
            <a:ext cx="762000" cy="762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2413000"/>
            <a:ext cx="4635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想象你被困在大雾笼罩的山谷里，看不见山脚。唯一的办法是：感受脚下的坡度，每次都向</a:t>
            </a:r>
            <a:r>
              <a:rPr lang="en-US" sz="15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最陡峭的下坡方向</a:t>
            </a:r>
            <a:r>
              <a:rPr lang="en-US" sz="15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迈出一小步。不断重复，你终将抵达山谷的最低点——也就是模型损失函数最小的地方。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81000" y="4381500"/>
            <a:ext cx="5524500" cy="17145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08000" y="4508500"/>
            <a:ext cx="5270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14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这是一种“贪心”的迭代策略。不需要全局视野，只需要每一步都做局部最优的选择。梯度就是“坡度的方向”，下降就是“沿着方向移动”。它是机器学习中最基础也最强大的优化引擎。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86500" y="1651000"/>
            <a:ext cx="5524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参数更新公式与解析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86500" y="2413000"/>
            <a:ext cx="5524500" cy="1079500"/>
          </a:xfrm>
          <a:prstGeom prst="roundRect">
            <a:avLst>
              <a:gd name="adj" fmla="val 0"/>
            </a:avLst>
          </a:prstGeom>
          <a:solidFill>
            <a:srgbClr val="2434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286500" y="2413000"/>
            <a:ext cx="552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w := w - α · (∂J/∂w)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3"/>
            </p:custDataLst>
          </p:nvPr>
        </p:nvSpPr>
        <p:spPr>
          <a:xfrm>
            <a:off x="6286500" y="3683000"/>
            <a:ext cx="1752600" cy="14605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4"/>
            </p:custDataLst>
          </p:nvPr>
        </p:nvSpPr>
        <p:spPr>
          <a:xfrm>
            <a:off x="6350000" y="3746500"/>
            <a:ext cx="16256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:= 赋值更新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这不是数学等式，而是计算机的赋值操作。将右侧计算出的新权重，覆盖掉左边的旧权重，实现参数的迭代进化。</a:t>
            </a:r>
            <a:endParaRPr lang="en-US" sz="13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5"/>
            </p:custDataLst>
          </p:nvPr>
        </p:nvSpPr>
        <p:spPr>
          <a:xfrm>
            <a:off x="8140700" y="3683000"/>
            <a:ext cx="1752600" cy="14605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6"/>
            </p:custDataLst>
          </p:nvPr>
        </p:nvSpPr>
        <p:spPr>
          <a:xfrm>
            <a:off x="8204200" y="3746500"/>
            <a:ext cx="16256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α 学习率 (步长)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决定每一步迈多大。步长太大容易跨过最低点（震荡不收敛），太小则下山太慢（训练耗时）。是需要精心调试的超参数。</a:t>
            </a:r>
            <a:endParaRPr lang="en-US" sz="13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7"/>
            </p:custDataLst>
          </p:nvPr>
        </p:nvSpPr>
        <p:spPr>
          <a:xfrm>
            <a:off x="9994900" y="3683000"/>
            <a:ext cx="1752600" cy="14605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8"/>
            </p:custDataLst>
          </p:nvPr>
        </p:nvSpPr>
        <p:spPr>
          <a:xfrm>
            <a:off x="10058400" y="3746500"/>
            <a:ext cx="16256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∂J/∂w 梯度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损失函数J关于参数w的导数。它告诉我们“当前位置哪个方向最陡峭”。取负号，就是让我们沿着损失减小的方向走。</a:t>
            </a:r>
            <a:endParaRPr lang="en-US" sz="13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86500" y="5397500"/>
            <a:ext cx="552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核心价值：</a:t>
            </a:r>
            <a:r>
              <a:rPr lang="en-US" sz="14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这个简单的公式让机器具备了“自我修正”的能力。通过不断地计算梯度并更新参数，模型能自动从数据中学习规律，最终达到预测最准的状态。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906000" y="4572000"/>
            <a:ext cx="2794000" cy="2794000"/>
          </a:xfrm>
          <a:prstGeom prst="ellipse">
            <a:avLst/>
          </a:prstGeom>
          <a:solidFill>
            <a:srgbClr val="2F6F9F">
              <a:alpha val="8000"/>
            </a:srgbClr>
          </a:solidFill>
          <a:ln cap="flat" cmpd="sng">
            <a:solidFill>
              <a:srgbClr val="1A5786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508000" y="-508000"/>
            <a:ext cx="1524000" cy="1524000"/>
          </a:xfrm>
          <a:prstGeom prst="ellipse">
            <a:avLst/>
          </a:prstGeom>
          <a:solidFill>
            <a:srgbClr val="193B5A">
              <a:alpha val="6000"/>
            </a:srgbClr>
          </a:solidFill>
          <a:ln cap="flat" cmpd="sng">
            <a:solidFill>
              <a:srgbClr val="0B2741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762000" cy="6858000"/>
          </a:xfrm>
          <a:prstGeom prst="roundRect">
            <a:avLst>
              <a:gd name="adj" fmla="val 0"/>
            </a:avLst>
          </a:prstGeom>
          <a:solidFill>
            <a:srgbClr val="193B5A">
              <a:alpha val="100000"/>
            </a:srgbClr>
          </a:solidFill>
          <a:ln cap="flat" cmpd="sng">
            <a:solidFill>
              <a:srgbClr val="0B274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43000" y="1016000"/>
            <a:ext cx="304800" cy="304800"/>
          </a:xfrm>
          <a:prstGeom prst="roundRect">
            <a:avLst>
              <a:gd name="adj" fmla="val 0"/>
            </a:avLst>
          </a:prstGeom>
          <a:solidFill>
            <a:srgbClr val="2F6F9F">
              <a:alpha val="30000"/>
            </a:srgbClr>
          </a:solidFill>
          <a:ln cap="flat" cmpd="sng">
            <a:solidFill>
              <a:srgbClr val="1A578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270000" y="2413000"/>
            <a:ext cx="1016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Part 2 神经网络基础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为什么需要神经网络？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651000"/>
            <a:ext cx="5397500" cy="4445000"/>
          </a:xfrm>
          <a:prstGeom prst="roundRect">
            <a:avLst>
              <a:gd name="adj" fmla="val 0"/>
            </a:avLst>
          </a:prstGeom>
          <a:solidFill>
            <a:srgbClr val="2F6F9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传统模型的局限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540000"/>
            <a:ext cx="488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逻辑回归等传统模型擅长处理简单的线性二分类问题（如“是猫/不是猫”），但面对现实世界的复杂场景，其线性模型的表达能力存在明显的天花板。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3556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93800" y="35306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多类别识别的困境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自动驾驶需同时区分行人、车辆、信号灯等数十类目标，简单的二分类逻辑无法覆盖。</a:t>
            </a:r>
            <a:endParaRPr lang="en-US" sz="1300" b="0" i="0" u="none" strike="noStrike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4381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193800" y="43561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难以捕捉复杂特征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人脸识别需要区分千万张面孔的细微差异，传统模型难以理解这种非线性的复杂关系。</a:t>
            </a:r>
            <a:endParaRPr lang="en-US" sz="1300" b="0" i="0" u="none" strike="noStrike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5207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193800" y="51816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非结构化数据的挑战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语音、图像等非结构化数据的特征难以人工定义，线性模型无法有效提取深层语义。</a:t>
            </a:r>
            <a:endParaRPr lang="en-US" sz="1300" b="0" i="0" u="none" strike="noStrike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86500" y="1651000"/>
            <a:ext cx="5397500" cy="4445000"/>
          </a:xfrm>
          <a:prstGeom prst="roundRect">
            <a:avLst>
              <a:gd name="adj" fmla="val 0"/>
            </a:avLst>
          </a:prstGeom>
          <a:solidFill>
            <a:srgbClr val="2F6F9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540500" y="19050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神经网络的核心优势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40500" y="2540000"/>
            <a:ext cx="488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神经网络模拟人类大脑的层级结构，通过多层非线性变换自动从数据中提取特征，像拼图一样由浅入深地理解信息，完美解决传统模型的瓶颈。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3556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72300" y="35306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自动提取层级特征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第一层识别边缘和线条，第二层组合成眼睛、耳朵等部件，第三层形成完整的物体概念。</a:t>
            </a:r>
            <a:endParaRPr lang="en-US" sz="1300" b="0" i="0" u="none" strike="noStrike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40500" y="4381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72300" y="43561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深度带来的表现力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网络层数越深，能学习的特征越抽象、越复杂，这正是“深度学习”能够处理复杂任务的关键。</a:t>
            </a:r>
            <a:endParaRPr lang="en-US" sz="1300" b="0" i="0" u="none" strike="noStrike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40500" y="5207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72300" y="51816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端到端的智能决策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无需人工干预设计特征，输入原始数据，输出精准结果，极大地降低了建模的难度。</a:t>
            </a:r>
            <a:endParaRPr lang="en-US" sz="1300" b="0" i="0" u="none" strike="noStrike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43447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243447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50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神经网络的三层结构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778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输入层 Input Layer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5500" y="2413000"/>
            <a:ext cx="571500" cy="571500"/>
          </a:xfrm>
          <a:prstGeom prst="ellipse">
            <a:avLst/>
          </a:prstGeom>
          <a:solidFill>
            <a:srgbClr val="8DA9C4">
              <a:alpha val="100000"/>
            </a:srgbClr>
          </a:solidFill>
          <a:ln cap="flat" cmpd="sng">
            <a:solidFill>
              <a:srgbClr val="6A8BA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739900" y="2413000"/>
            <a:ext cx="571500" cy="571500"/>
          </a:xfrm>
          <a:prstGeom prst="ellipse">
            <a:avLst/>
          </a:prstGeom>
          <a:solidFill>
            <a:srgbClr val="8DA9C4">
              <a:alpha val="100000"/>
            </a:srgbClr>
          </a:solidFill>
          <a:ln cap="flat" cmpd="sng">
            <a:solidFill>
              <a:srgbClr val="6A8BA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2667000" y="2413000"/>
            <a:ext cx="571500" cy="571500"/>
          </a:xfrm>
          <a:prstGeom prst="ellipse">
            <a:avLst/>
          </a:prstGeom>
          <a:solidFill>
            <a:srgbClr val="8DA9C4">
              <a:alpha val="100000"/>
            </a:srgbClr>
          </a:solidFill>
          <a:ln cap="flat" cmpd="sng">
            <a:solidFill>
              <a:srgbClr val="6A8BA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127500" y="2565400"/>
            <a:ext cx="381000" cy="254000"/>
          </a:xfrm>
          <a:prstGeom prst="rightArrow">
            <a:avLst/>
          </a:prstGeom>
          <a:solidFill>
            <a:srgbClr val="A0A0A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572000" y="1778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隐藏层 Hidden Layer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762500" y="2413000"/>
            <a:ext cx="571500" cy="571500"/>
          </a:xfrm>
          <a:prstGeom prst="ellipse">
            <a:avLst/>
          </a:prstGeom>
          <a:solidFill>
            <a:srgbClr val="F5B700">
              <a:alpha val="100000"/>
            </a:srgbClr>
          </a:solidFill>
          <a:ln cap="flat" cmpd="sng">
            <a:solidFill>
              <a:srgbClr val="DCA4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626100" y="2413000"/>
            <a:ext cx="571500" cy="571500"/>
          </a:xfrm>
          <a:prstGeom prst="ellipse">
            <a:avLst/>
          </a:prstGeom>
          <a:solidFill>
            <a:srgbClr val="F5B700">
              <a:alpha val="100000"/>
            </a:srgbClr>
          </a:solidFill>
          <a:ln cap="flat" cmpd="sng">
            <a:solidFill>
              <a:srgbClr val="DCA4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89700" y="2413000"/>
            <a:ext cx="571500" cy="571500"/>
          </a:xfrm>
          <a:prstGeom prst="ellipse">
            <a:avLst/>
          </a:prstGeom>
          <a:solidFill>
            <a:srgbClr val="F5B700">
              <a:alpha val="100000"/>
            </a:srgbClr>
          </a:solidFill>
          <a:ln cap="flat" cmpd="sng">
            <a:solidFill>
              <a:srgbClr val="DCA4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353300" y="2413000"/>
            <a:ext cx="571500" cy="571500"/>
          </a:xfrm>
          <a:prstGeom prst="ellipse">
            <a:avLst/>
          </a:prstGeom>
          <a:solidFill>
            <a:srgbClr val="F5B700">
              <a:alpha val="100000"/>
            </a:srgbClr>
          </a:solidFill>
          <a:ln cap="flat" cmpd="sng">
            <a:solidFill>
              <a:srgbClr val="DCA4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91500" y="2565400"/>
            <a:ext cx="381000" cy="254000"/>
          </a:xfrm>
          <a:prstGeom prst="rightArrow">
            <a:avLst/>
          </a:prstGeom>
          <a:solidFill>
            <a:srgbClr val="A0A0A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636000" y="1778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输出层 Output Layer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334500" y="2413000"/>
            <a:ext cx="571500" cy="571500"/>
          </a:xfrm>
          <a:prstGeom prst="ellipse">
            <a:avLst/>
          </a:prstGeom>
          <a:solidFill>
            <a:srgbClr val="76C893">
              <a:alpha val="100000"/>
            </a:srgbClr>
          </a:solidFill>
          <a:ln cap="flat" cmpd="sng">
            <a:solidFill>
              <a:srgbClr val="56AF7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350500" y="2413000"/>
            <a:ext cx="571500" cy="571500"/>
          </a:xfrm>
          <a:prstGeom prst="ellipse">
            <a:avLst/>
          </a:prstGeom>
          <a:solidFill>
            <a:srgbClr val="76C893">
              <a:alpha val="100000"/>
            </a:srgbClr>
          </a:solidFill>
          <a:ln cap="flat" cmpd="sng">
            <a:solidFill>
              <a:srgbClr val="56AF7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508000" y="3937000"/>
            <a:ext cx="3556000" cy="1460500"/>
          </a:xfrm>
          <a:prstGeom prst="roundRect">
            <a:avLst>
              <a:gd name="adj" fmla="val 0"/>
            </a:avLst>
          </a:prstGeom>
          <a:solidFill>
            <a:srgbClr val="8DA9C4">
              <a:alpha val="12000"/>
            </a:srgbClr>
          </a:solidFill>
          <a:ln cap="flat" cmpd="sng">
            <a:solidFill>
              <a:srgbClr val="6A8BAB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4127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079500" y="41275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数据的“接收器”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98500" y="4546600"/>
            <a:ext cx="317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负责接收外部原始数据，例如图片的像素矩阵、语音的声波信号或文本的向量表示，是网络感知世界的起点。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318000" y="3937000"/>
            <a:ext cx="3556000" cy="1460500"/>
          </a:xfrm>
          <a:prstGeom prst="roundRect">
            <a:avLst>
              <a:gd name="adj" fmla="val 0"/>
            </a:avLst>
          </a:prstGeom>
          <a:solidFill>
            <a:srgbClr val="F5B700">
              <a:alpha val="12000"/>
            </a:srgbClr>
          </a:solidFill>
          <a:ln cap="flat" cmpd="sng">
            <a:solidFill>
              <a:srgbClr val="DCA400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8500" y="4127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4889500" y="41275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特征的“加工厂”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508500" y="4546600"/>
            <a:ext cx="317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神经网络的核心引擎，通过复杂的数学运算自动提取数据特征。隐藏层越多，网络处理复杂模式的能力越强。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128000" y="3937000"/>
            <a:ext cx="3556000" cy="1460500"/>
          </a:xfrm>
          <a:prstGeom prst="roundRect">
            <a:avLst>
              <a:gd name="adj" fmla="val 0"/>
            </a:avLst>
          </a:prstGeom>
          <a:solidFill>
            <a:srgbClr val="76C893">
              <a:alpha val="12000"/>
            </a:srgbClr>
          </a:solidFill>
          <a:ln cap="flat" cmpd="sng">
            <a:solidFill>
              <a:srgbClr val="56AF75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41275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8699500" y="41275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结果的“展示台”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318500" y="4546600"/>
            <a:ext cx="317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将处理后的信息转化为最终答案。例如在分类任务中输出各类别的概率，在回归任务中输出具体的预测数值。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243447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单隐藏层神经网络的表示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5875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符号规则定义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508000" y="2095500"/>
            <a:ext cx="3556000" cy="13970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w="12700" cap="flat" cmpd="sng">
            <a:solidFill>
              <a:srgbClr val="2F6F9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635000" y="2222500"/>
            <a:ext cx="330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</a:t>
            </a:r>
            <a:r>
              <a:rPr lang="en-US" sz="1600" b="1" i="0" u="none" strike="noStrike" baseline="3000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[1]</a:t>
            </a: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｜ 隐藏层输出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对应神经网络的第一层（隐藏层），是输入层经过变换后的特征表示，承载着数据的关键信息。</a:t>
            </a:r>
            <a:endParaRPr lang="en-US" sz="1300" b="0" i="0" u="none" strike="noStrike">
              <a:solidFill>
                <a:srgbClr val="555F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AutoShape 8"/>
          <p:cNvSpPr/>
          <p:nvPr>
            <p:custDataLst>
              <p:tags r:id="rId3"/>
            </p:custDataLst>
          </p:nvPr>
        </p:nvSpPr>
        <p:spPr>
          <a:xfrm>
            <a:off x="4318000" y="2095500"/>
            <a:ext cx="3556000" cy="13970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w="12700" cap="flat" cmpd="sng">
            <a:solidFill>
              <a:srgbClr val="2F6F9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4"/>
            </p:custDataLst>
          </p:nvPr>
        </p:nvSpPr>
        <p:spPr>
          <a:xfrm>
            <a:off x="4445000" y="2222500"/>
            <a:ext cx="330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</a:t>
            </a:r>
            <a:r>
              <a:rPr lang="en-US" sz="1600" b="1" i="0" u="none" strike="noStrike" baseline="3000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[2]</a:t>
            </a: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｜ 输出层输出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对应第二层（输出层），通常代表模型的最终预测结果，如分类任务的概率分布或回归任务的预测值。</a:t>
            </a:r>
            <a:endParaRPr lang="en-US" sz="1300" b="0" i="0" u="none" strike="noStrike">
              <a:solidFill>
                <a:srgbClr val="555F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5"/>
            </p:custDataLst>
          </p:nvPr>
        </p:nvSpPr>
        <p:spPr>
          <a:xfrm>
            <a:off x="8128000" y="2095500"/>
            <a:ext cx="3556000" cy="13970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w="12700" cap="flat" cmpd="sng">
            <a:solidFill>
              <a:srgbClr val="2F6F9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6"/>
            </p:custDataLst>
          </p:nvPr>
        </p:nvSpPr>
        <p:spPr>
          <a:xfrm>
            <a:off x="8255000" y="2222500"/>
            <a:ext cx="330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</a:t>
            </a:r>
            <a:r>
              <a:rPr lang="en-US" sz="1600" b="1" i="0" u="none" strike="noStrike" baseline="3000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[0]   </a:t>
            </a: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(x)｜ 输入层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网络的起点，即原始输入数据向量。它是未经任何处理的初始信息，也是整个计算流程的基石。</a:t>
            </a:r>
            <a:endParaRPr lang="en-US" sz="1300" b="0" i="0" u="none" strike="noStrike">
              <a:solidFill>
                <a:srgbClr val="555F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08000" y="37465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逐层计算流程详解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08000" y="4254500"/>
            <a:ext cx="5461000" cy="1460500"/>
          </a:xfrm>
          <a:prstGeom prst="roundRect">
            <a:avLst>
              <a:gd name="adj" fmla="val 0"/>
            </a:avLst>
          </a:prstGeom>
          <a:solidFill>
            <a:srgbClr val="243447">
              <a:alpha val="4000"/>
            </a:srgbClr>
          </a:solidFill>
          <a:ln w="12700" cap="flat" cmpd="sng">
            <a:solidFill>
              <a:srgbClr val="2434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35000" y="4381500"/>
            <a:ext cx="520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第一步：隐藏层的线性与非线性变换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① 线性计算：z</a:t>
            </a:r>
            <a:r>
              <a:rPr lang="en-US" sz="1400" b="0" i="0" u="none" strike="noStrike" baseline="30000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[1]</a:t>
            </a:r>
            <a:r>
              <a:rPr lang="en-US" sz="1400" b="0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= W</a:t>
            </a:r>
            <a:r>
              <a:rPr lang="en-US" sz="1400" b="0" i="0" u="none" strike="noStrike" baseline="30000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[1]</a:t>
            </a:r>
            <a:r>
              <a:rPr lang="en-US" sz="1400" b="0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x + b</a:t>
            </a:r>
            <a:r>
              <a:rPr lang="en-US" sz="1400" b="0" i="0" u="none" strike="noStrike" baseline="30000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[1]</a:t>
            </a:r>
            <a:r>
              <a:rPr lang="en-US" sz="1400" b="0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（权重加权求和）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400" b="0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② 激活处理：a</a:t>
            </a:r>
            <a:r>
              <a:rPr lang="en-US" sz="1400" b="0" i="0" u="none" strike="noStrike" baseline="30000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[1]</a:t>
            </a:r>
            <a:r>
              <a:rPr lang="en-US" sz="1400" b="0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= g(z</a:t>
            </a:r>
            <a:r>
              <a:rPr lang="en-US" sz="1400" b="0" i="0" u="none" strike="noStrike" baseline="30000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[1]</a:t>
            </a:r>
            <a:r>
              <a:rPr lang="en-US" sz="1400" b="0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) （引入非线性，如ReLU）</a:t>
            </a:r>
            <a:endParaRPr lang="en-US" sz="1400" b="0" i="0" u="none" strike="noStrike">
              <a:solidFill>
                <a:srgbClr val="3C46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254500"/>
            <a:ext cx="5461000" cy="1460500"/>
          </a:xfrm>
          <a:prstGeom prst="roundRect">
            <a:avLst>
              <a:gd name="adj" fmla="val 0"/>
            </a:avLst>
          </a:prstGeom>
          <a:solidFill>
            <a:srgbClr val="243447">
              <a:alpha val="4000"/>
            </a:srgbClr>
          </a:solidFill>
          <a:ln w="12700" cap="flat" cmpd="sng">
            <a:solidFill>
              <a:srgbClr val="2434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350000" y="4381500"/>
            <a:ext cx="520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第二步：输出层的结果生成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① 线性计算：z</a:t>
            </a:r>
            <a:r>
              <a:rPr lang="en-US" sz="1400" b="0" i="0" u="none" strike="noStrike" baseline="30000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[2]</a:t>
            </a:r>
            <a:r>
              <a:rPr lang="en-US" sz="1400" b="0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= W</a:t>
            </a:r>
            <a:r>
              <a:rPr lang="en-US" sz="1400" b="0" i="0" u="none" strike="noStrike" baseline="30000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[2] </a:t>
            </a:r>
            <a:r>
              <a:rPr lang="en-US" sz="1400" b="0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a</a:t>
            </a:r>
            <a:r>
              <a:rPr lang="en-US" sz="1400" b="0" i="0" u="none" strike="noStrike" baseline="30000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[1] </a:t>
            </a:r>
            <a:r>
              <a:rPr lang="en-US" sz="1400" b="0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+ b</a:t>
            </a:r>
            <a:r>
              <a:rPr lang="en-US" sz="1400" b="0" i="0" u="none" strike="noStrike" baseline="30000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[2] </a:t>
            </a:r>
            <a:r>
              <a:rPr lang="en-US" sz="1400" b="0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（基于隐藏层输出）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400" b="0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② 激活处理：a</a:t>
            </a:r>
            <a:r>
              <a:rPr lang="en-US" sz="1400" b="0" i="0" u="none" strike="noStrike" baseline="30000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[2]</a:t>
            </a:r>
            <a:r>
              <a:rPr lang="en-US" sz="1400" b="0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= g(z</a:t>
            </a:r>
            <a:r>
              <a:rPr lang="en-US" sz="1400" b="0" i="0" u="none" strike="noStrike" baseline="30000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[2]</a:t>
            </a:r>
            <a:r>
              <a:rPr lang="en-US" sz="1400" b="0" i="0" u="none" strike="noStrike">
                <a:solidFill>
                  <a:srgbClr val="3C4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) （如Softmax用于分类）</a:t>
            </a:r>
            <a:endParaRPr lang="en-US" sz="1400" b="0" i="0" u="none" strike="noStrike">
              <a:solidFill>
                <a:srgbClr val="3C46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508000" y="5842000"/>
            <a:ext cx="11176000" cy="571500"/>
          </a:xfrm>
          <a:prstGeom prst="roundRect">
            <a:avLst>
              <a:gd name="adj" fmla="val 0"/>
            </a:avLst>
          </a:prstGeom>
          <a:solidFill>
            <a:srgbClr val="2F6F9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35000" y="5943600"/>
            <a:ext cx="1092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💡 核心本质：</a:t>
            </a:r>
            <a:r>
              <a:rPr lang="en-US" sz="1400" b="0" i="0" u="none" strike="noStrike">
                <a:solidFill>
                  <a:srgbClr val="323C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每一层的计算都是“线性加权（W和b）”与“非线性激活（g）”的结合，信息像水流一样逐层传递，最终得到输出。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762000"/>
            <a:ext cx="2540000" cy="254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334000"/>
            <a:ext cx="1905000" cy="1905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81000" y="381000"/>
            <a:ext cx="1143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向量化 Vectorization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1397000"/>
            <a:ext cx="546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为什么需要向量化？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1000" y="2095500"/>
            <a:ext cx="5461000" cy="1460500"/>
          </a:xfrm>
          <a:prstGeom prst="roundRect">
            <a:avLst>
              <a:gd name="adj" fmla="val 0"/>
            </a:avLst>
          </a:prstGeom>
          <a:solidFill>
            <a:srgbClr val="EF4444">
              <a:alpha val="5000"/>
            </a:srgbClr>
          </a:solidFill>
          <a:ln cap="flat" cmpd="sng">
            <a:solidFill>
              <a:srgbClr val="D52727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2286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079500" y="22225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传统循环的性能瓶颈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如果对10000张图片进行逐一枚举的for循环计算，不仅CPU会陷入低效的串行处理，更会让强大的GPU并行算力完全闲置，导致训练时间被无意义地拉长数倍。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81000" y="3810000"/>
            <a:ext cx="5461000" cy="1460500"/>
          </a:xfrm>
          <a:prstGeom prst="roundRect">
            <a:avLst>
              <a:gd name="adj" fmla="val 0"/>
            </a:avLst>
          </a:prstGeom>
          <a:solidFill>
            <a:srgbClr val="2563EB">
              <a:alpha val="5000"/>
            </a:srgbClr>
          </a:solidFill>
          <a:ln cap="flat" cmpd="sng">
            <a:solidFill>
              <a:srgbClr val="0C4AD2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" y="4000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079500" y="3937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并行计算的极致加速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将海量数据打包为矩阵形式，利用底层硬件的并行架构一次性完成批量运算。这不仅避免了循环的开销，更能充分压榨GPU的计算潜能，速度提升可达百倍甚至千倍。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23000" y="1397000"/>
            <a:ext cx="558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代码层面的直观对比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2095500"/>
            <a:ext cx="5588000" cy="1460500"/>
          </a:xfrm>
          <a:prstGeom prst="roundRect">
            <a:avLst>
              <a:gd name="adj" fmla="val 0"/>
            </a:avLst>
          </a:prstGeom>
          <a:solidFill>
            <a:srgbClr val="6B7280">
              <a:alpha val="8000"/>
            </a:srgbClr>
          </a:solidFill>
          <a:ln w="12700" cap="flat" cmpd="sng">
            <a:solidFill>
              <a:srgbClr val="6B728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13500" y="2222500"/>
            <a:ext cx="533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📉 普通循环（串行/低效）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13500" y="2603500"/>
            <a:ext cx="520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z = 0</a:t>
            </a:r>
            <a:br>
              <a:rPr lang="en-US" sz="14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for i in range(10000):</a:t>
            </a:r>
            <a:br>
              <a:rPr lang="en-US" sz="14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z += w[i] * x[i] + b # 逐元素累加，耗时严重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3810000"/>
            <a:ext cx="55880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13500" y="3937000"/>
            <a:ext cx="533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🚀 向量计算（并行/高效）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13500" y="4318000"/>
            <a:ext cx="520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import numpy as np</a:t>
            </a:r>
            <a:br>
              <a:rPr lang="en-US" sz="14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z = np.dot(w, x) + b</a:t>
            </a:r>
            <a:br>
              <a:rPr lang="en-US" sz="14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底层并行指令，无显式循环，瞬间完成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81000" y="5524500"/>
            <a:ext cx="11430000" cy="825500"/>
          </a:xfrm>
          <a:prstGeom prst="roundRect">
            <a:avLst>
              <a:gd name="adj" fmla="val 0"/>
            </a:avLst>
          </a:prstGeom>
          <a:solidFill>
            <a:srgbClr val="243447">
              <a:alpha val="6000"/>
            </a:srgbClr>
          </a:solidFill>
          <a:ln cap="flat" cmpd="sng">
            <a:solidFill>
              <a:srgbClr val="131F2E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500" y="5778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016000" y="5613400"/>
            <a:ext cx="1066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深度学习的核心就是向量化矩阵运算。无论是卷积神经网络的特征提取，还是全连接层的分类计算，本质上都是大规模的矩阵乘法。掌握向量化，是理解深度学习高效运行机制的关键钥匙。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243447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批量计算：一次处理多个样本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524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/ 输入矩阵 X 的构建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2032000"/>
            <a:ext cx="11176000" cy="13970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w="12700" cap="flat" cmpd="sng">
            <a:solidFill>
              <a:srgbClr val="2F6F9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159000"/>
            <a:ext cx="584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C46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不再对单个样本进行循环计算，而是将</a:t>
            </a:r>
            <a:r>
              <a:rPr lang="en-US" sz="1400" b="1" i="0" u="none" strike="noStrike">
                <a:solidFill>
                  <a:srgbClr val="3C46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 个训练样本</a:t>
            </a:r>
            <a:r>
              <a:rPr lang="en-US" sz="1400" b="0" i="0" u="none" strike="noStrike">
                <a:solidFill>
                  <a:srgbClr val="3C46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按列堆叠成一个矩阵。这种结构使得我们可以利用线性代数的特性，一次性完成所有样本的前向传播计算，极大地提升了效率。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858000" y="2222500"/>
            <a:ext cx="4572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F6F9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985000" y="24130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X = [ x⁽¹⁾ x⁽²⁾ ... x⁽ᵐ⁾ ]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E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每一列代表一个独立的训练样本特征向量</a:t>
            </a:r>
            <a:endParaRPr lang="en-US" sz="1200" b="0" i="0" u="none" strike="noStrike">
              <a:solidFill>
                <a:srgbClr val="646E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08000" y="3683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/ 批量计算核心公式解析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08000" y="4191000"/>
            <a:ext cx="11176000" cy="635000"/>
          </a:xfrm>
          <a:prstGeom prst="roundRect">
            <a:avLst>
              <a:gd name="adj" fmla="val 0"/>
            </a:avLst>
          </a:prstGeom>
          <a:solidFill>
            <a:srgbClr val="2434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08000" y="42926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Z = W · X + b —— 向量化并行计算的数学表达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08000" y="4953000"/>
            <a:ext cx="3556000" cy="1079500"/>
          </a:xfrm>
          <a:prstGeom prst="roundRect">
            <a:avLst>
              <a:gd name="adj" fmla="val 0"/>
            </a:avLst>
          </a:prstGeom>
          <a:solidFill>
            <a:srgbClr val="2F6F9F">
              <a:alpha val="5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5080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079500" y="5016500"/>
            <a:ext cx="292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输出矩阵 Z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05A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所有样本的线性变换结果集，矩阵的每一列对应一个样本的计算输出，保留了样本的独立性。</a:t>
            </a:r>
            <a:endParaRPr lang="en-US" sz="1200" b="0" i="0" u="none" strike="noStrike">
              <a:solidFill>
                <a:srgbClr val="505A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318000" y="4953000"/>
            <a:ext cx="3556000" cy="1079500"/>
          </a:xfrm>
          <a:prstGeom prst="roundRect">
            <a:avLst>
              <a:gd name="adj" fmla="val 0"/>
            </a:avLst>
          </a:prstGeom>
          <a:solidFill>
            <a:srgbClr val="2F6F9F">
              <a:alpha val="5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8500" y="5080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889500" y="5016500"/>
            <a:ext cx="292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权重矩阵 W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05A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连接输入层与隐藏层的核心参数，存储了特征的重要程度。它的维度决定了输出特征的维度。</a:t>
            </a:r>
            <a:endParaRPr lang="en-US" sz="1200" b="0" i="0" u="none" strike="noStrike">
              <a:solidFill>
                <a:srgbClr val="505A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128000" y="4953000"/>
            <a:ext cx="3556000" cy="1079500"/>
          </a:xfrm>
          <a:prstGeom prst="roundRect">
            <a:avLst>
              <a:gd name="adj" fmla="val 0"/>
            </a:avLst>
          </a:prstGeom>
          <a:solidFill>
            <a:srgbClr val="2F6F9F">
              <a:alpha val="5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5080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699500" y="5016500"/>
            <a:ext cx="292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偏置向量 b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05A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利用广播机制自动适配矩阵维度，为每个神经元提供额外的偏移量，增强模型的拟合能力。</a:t>
            </a:r>
            <a:endParaRPr lang="en-US" sz="1200" b="0" i="0" u="none" strike="noStrike">
              <a:solidFill>
                <a:srgbClr val="505A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D9770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Python中的向量化实现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508000" y="1524000"/>
            <a:ext cx="11176000" cy="18415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17526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1193800" y="1714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01. NumPy 基础向量化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762000" y="2159000"/>
            <a:ext cx="4826000" cy="1079500"/>
          </a:xfrm>
          <a:prstGeom prst="roundRect">
            <a:avLst>
              <a:gd name="adj" fmla="val 0"/>
            </a:avLst>
          </a:prstGeom>
          <a:solidFill>
            <a:srgbClr val="2D37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889000" y="2260600"/>
            <a:ext cx="457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A3F7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import numpy as np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E6E6E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一行实现矩阵乘法与广播机制</a:t>
            </a:r>
            <a:endParaRPr lang="en-US" sz="1400" b="0" i="0" u="none" strike="noStrike">
              <a:solidFill>
                <a:srgbClr val="E6E6E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CB6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z = np.dot(weights, inputs) + bias</a:t>
            </a:r>
            <a:endParaRPr lang="en-US" sz="1400" b="0" i="0" u="none" strike="noStrike">
              <a:solidFill>
                <a:srgbClr val="FFCB6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5842000" y="2159000"/>
            <a:ext cx="546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核心优势：简洁与效率的统一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566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利用底层优化的C语言实现矩阵运算。这不仅大幅提升了代码的可读性，更将计算速度提升至原生Python循环的百倍以上，是科学计算的基石。</a:t>
            </a:r>
            <a:endParaRPr lang="en-US" sz="1400" b="0" i="0" u="none" strike="noStrike">
              <a:solidFill>
                <a:srgbClr val="5566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508000" y="3619500"/>
            <a:ext cx="11176000" cy="1841500"/>
          </a:xfrm>
          <a:prstGeom prst="roundRect">
            <a:avLst>
              <a:gd name="adj" fmla="val 0"/>
            </a:avLst>
          </a:prstGeom>
          <a:solidFill>
            <a:srgbClr val="D97706">
              <a:alpha val="8000"/>
            </a:srgbClr>
          </a:solidFill>
          <a:ln w="12700" cap="flat" cmpd="sng">
            <a:solidFill>
              <a:srgbClr val="D9770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2000" y="38481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1193800" y="3810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02. PyTorch 硬件加速计算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762000" y="4254500"/>
            <a:ext cx="4826000" cy="1079500"/>
          </a:xfrm>
          <a:prstGeom prst="roundRect">
            <a:avLst>
              <a:gd name="adj" fmla="val 0"/>
            </a:avLst>
          </a:prstGeom>
          <a:solidFill>
            <a:srgbClr val="2D37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889000" y="4356100"/>
            <a:ext cx="457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8A4D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import torch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E6E6E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自动利用GPU进行并行加速运算</a:t>
            </a:r>
            <a:endParaRPr lang="en-US" sz="1400" b="0" i="0" u="none" strike="noStrike">
              <a:solidFill>
                <a:srgbClr val="E6E6E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3F7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z = torch.matmul(W, X) + b # 支持CUDA</a:t>
            </a:r>
            <a:endParaRPr lang="en-US" sz="1400" b="0" i="0" u="none" strike="noStrike">
              <a:solidFill>
                <a:srgbClr val="A3F7B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5842000" y="4254500"/>
            <a:ext cx="546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566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底层自动调度GPU算力进行大规模并行计算。除了高效的矩阵运算外，还提供自动微分机制，为神经网络的反向传播和模型训练提供了必不可少的底层支持。</a:t>
            </a:r>
            <a:endParaRPr lang="en-US" sz="1400" b="0" i="0" u="none" strike="noStrike">
              <a:solidFill>
                <a:srgbClr val="5566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广播机制 Broadcasting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651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什么是广播机制？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8000" y="2413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79500" y="24130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在 NumPy 与 PyTorch 中，广播是一种隐式的形状适配规则。当对形状不同的数组（矩阵/向量）进行算术运算时，系统会自动将较小的数组在逻辑上“扩展”成与较大数组兼容的形状，从而实现高效的逐元素运算，无需显式复制数据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" y="4699000"/>
            <a:ext cx="5334000" cy="12700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w="12700" cap="flat" cmpd="sng">
            <a:solidFill>
              <a:srgbClr val="2F6F9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98500" y="48895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💡 核心优势：</a:t>
            </a:r>
            <a:r>
              <a:rPr lang="en-US" sz="14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这是一种“虚拟扩展”，不占用额外的内存空间，既简化了代码书写，又保证了计算的高效性，是数值计算库的基石特性。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直观案例：矩阵与向量的加法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2413000"/>
            <a:ext cx="1714500" cy="1397000"/>
          </a:xfrm>
          <a:prstGeom prst="roundRect">
            <a:avLst>
              <a:gd name="adj" fmla="val 0"/>
            </a:avLst>
          </a:prstGeom>
          <a:solidFill>
            <a:srgbClr val="2F6F9F">
              <a:alpha val="10000"/>
            </a:srgbClr>
          </a:solidFill>
          <a:ln w="12700" cap="flat" cmpd="sng">
            <a:solidFill>
              <a:srgbClr val="2F6F9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286500" y="2540000"/>
            <a:ext cx="1587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初始矩阵 A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2323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[[1, 2],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2323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[3, 4]]</a:t>
            </a:r>
            <a:endParaRPr lang="en-US" sz="1400" b="0" i="0" u="none" strike="noStrike">
              <a:solidFill>
                <a:srgbClr val="323232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937500" y="2921000"/>
            <a:ext cx="38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7878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2413000"/>
            <a:ext cx="1714500" cy="1397000"/>
          </a:xfrm>
          <a:prstGeom prst="roundRect">
            <a:avLst>
              <a:gd name="adj" fmla="val 0"/>
            </a:avLst>
          </a:prstGeom>
          <a:solidFill>
            <a:srgbClr val="646464">
              <a:alpha val="8000"/>
            </a:srgbClr>
          </a:solidFill>
          <a:ln w="12700" cap="flat" cmpd="sng">
            <a:solidFill>
              <a:srgbClr val="64646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382000" y="2540000"/>
            <a:ext cx="1587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向量 b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2323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[10, 20]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2323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↓ 自动复制</a:t>
            </a:r>
            <a:endParaRPr lang="en-US" sz="1400" b="0" i="0" u="none" strike="noStrike">
              <a:solidFill>
                <a:srgbClr val="323232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0160000" y="2413000"/>
            <a:ext cx="16510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223500" y="2540000"/>
            <a:ext cx="152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最终结果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2323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[[11, 22],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2323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[13, 24]]</a:t>
            </a:r>
            <a:endParaRPr lang="en-US" sz="1400" b="0" i="0" u="none" strike="noStrike">
              <a:solidFill>
                <a:srgbClr val="323232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4699000"/>
            <a:ext cx="5588000" cy="1397000"/>
          </a:xfrm>
          <a:prstGeom prst="roundRect">
            <a:avLst>
              <a:gd name="adj" fmla="val 0"/>
            </a:avLst>
          </a:prstGeom>
          <a:solidFill>
            <a:srgbClr val="F59E0B">
              <a:alpha val="8000"/>
            </a:srgbClr>
          </a:solidFill>
          <a:ln w="12700" cap="flat" cmpd="sng">
            <a:solidFill>
              <a:srgbClr val="F59E0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350000" y="4889500"/>
            <a:ext cx="533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🚀 深度学习中的应用：</a:t>
            </a:r>
            <a:r>
              <a:rPr lang="en-US" sz="14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经典公式</a:t>
            </a:r>
            <a:r>
              <a:rPr lang="en-US" sz="1400" b="0" i="0" u="none" strike="noStrike">
                <a:solidFill>
                  <a:srgbClr val="3C3C3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Z = WX + b</a:t>
            </a:r>
            <a:r>
              <a:rPr lang="en-US" sz="14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正是广播机制的体现。权重矩阵 W 与输入 X 相乘得到矩阵 Z，而偏置项 b 作为一维向量，通过广播机制自动对齐矩阵的列维度，实现全局偏置的高效添加。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43447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243447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38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神经网络完整训练流程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5270500" cy="1168400"/>
          </a:xfrm>
          <a:prstGeom prst="roundRect">
            <a:avLst>
              <a:gd name="adj" fmla="val 0"/>
            </a:avLst>
          </a:prstGeom>
          <a:solidFill>
            <a:srgbClr val="243447">
              <a:alpha val="5000"/>
            </a:srgbClr>
          </a:solidFill>
          <a:ln w="12700" cap="flat" cmpd="sng">
            <a:solidFill>
              <a:srgbClr val="2434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524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1422400"/>
            <a:ext cx="438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01. 输入训练数据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25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载入预处理后的特征数据与真实标签，为网络提供初始输入信号，开启单次训练循环的第一步。</a:t>
            </a:r>
            <a:endParaRPr lang="en-US" sz="1300" b="0" i="0" u="none" strike="noStrike">
              <a:solidFill>
                <a:srgbClr val="525A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159500" y="1333500"/>
            <a:ext cx="5270500" cy="1168400"/>
          </a:xfrm>
          <a:prstGeom prst="roundRect">
            <a:avLst>
              <a:gd name="adj" fmla="val 0"/>
            </a:avLst>
          </a:prstGeom>
          <a:solidFill>
            <a:srgbClr val="243447">
              <a:alpha val="5000"/>
            </a:srgbClr>
          </a:solidFill>
          <a:ln w="12700" cap="flat" cmpd="sng">
            <a:solidFill>
              <a:srgbClr val="2434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0" y="1524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858000" y="1422400"/>
            <a:ext cx="438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02. 前向传播 (Forward Propagation)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25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数据流经各层神经元，通过权重计算与激活函数处理，逐层传递直至输出层，生成模型的预测结果。</a:t>
            </a:r>
            <a:endParaRPr lang="en-US" sz="1300" b="0" i="0" u="none" strike="noStrike">
              <a:solidFill>
                <a:srgbClr val="525A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2730500"/>
            <a:ext cx="5270500" cy="1168400"/>
          </a:xfrm>
          <a:prstGeom prst="roundRect">
            <a:avLst>
              <a:gd name="adj" fmla="val 0"/>
            </a:avLst>
          </a:prstGeom>
          <a:solidFill>
            <a:srgbClr val="243447">
              <a:alpha val="5000"/>
            </a:srgbClr>
          </a:solidFill>
          <a:ln w="12700" cap="flat" cmpd="sng">
            <a:solidFill>
              <a:srgbClr val="2434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2921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460500" y="2819400"/>
            <a:ext cx="438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03. 计算损失 (Loss Calculation)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25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利用损失函数（如交叉熵、均方误差），量化模型预测值与真实标签之间的差异，评估预测误差。</a:t>
            </a:r>
            <a:endParaRPr lang="en-US" sz="1300" b="0" i="0" u="none" strike="noStrike">
              <a:solidFill>
                <a:srgbClr val="525A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159500" y="2730500"/>
            <a:ext cx="5270500" cy="1168400"/>
          </a:xfrm>
          <a:prstGeom prst="roundRect">
            <a:avLst>
              <a:gd name="adj" fmla="val 0"/>
            </a:avLst>
          </a:prstGeom>
          <a:solidFill>
            <a:srgbClr val="243447">
              <a:alpha val="5000"/>
            </a:srgbClr>
          </a:solidFill>
          <a:ln w="12700" cap="flat" cmpd="sng">
            <a:solidFill>
              <a:srgbClr val="2434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000" y="2921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858000" y="2819400"/>
            <a:ext cx="438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04. 反向传播 (Back Propagation)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25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从输出层向输入层逆向计算，通过链式法则求出每个网络参数对总损失的梯度，定位误差来源。</a:t>
            </a:r>
            <a:endParaRPr lang="en-US" sz="1300" b="0" i="0" u="none" strike="noStrike">
              <a:solidFill>
                <a:srgbClr val="525A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4127500"/>
            <a:ext cx="5270500" cy="1168400"/>
          </a:xfrm>
          <a:prstGeom prst="roundRect">
            <a:avLst>
              <a:gd name="adj" fmla="val 0"/>
            </a:avLst>
          </a:prstGeom>
          <a:solidFill>
            <a:srgbClr val="243447">
              <a:alpha val="5000"/>
            </a:srgbClr>
          </a:solidFill>
          <a:ln w="12700" cap="flat" cmpd="sng">
            <a:solidFill>
              <a:srgbClr val="2434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4318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460500" y="4216400"/>
            <a:ext cx="438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05. 梯度下降优化 (Optimization)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25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优化器（SGD/Adam等）根据梯度方向，按学习率微调权重和偏置，逐步降低模型的整体损失。</a:t>
            </a:r>
            <a:endParaRPr lang="en-US" sz="1300" b="0" i="0" u="none" strike="noStrike">
              <a:solidFill>
                <a:srgbClr val="525A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159500" y="4127500"/>
            <a:ext cx="5270500" cy="1168400"/>
          </a:xfrm>
          <a:prstGeom prst="roundRect">
            <a:avLst>
              <a:gd name="adj" fmla="val 0"/>
            </a:avLst>
          </a:prstGeom>
          <a:solidFill>
            <a:srgbClr val="243447">
              <a:alpha val="5000"/>
            </a:srgbClr>
          </a:solidFill>
          <a:ln w="12700" cap="flat" cmpd="sng">
            <a:solidFill>
              <a:srgbClr val="2434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50000" y="43180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858000" y="4216400"/>
            <a:ext cx="438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06. 循环迭代与收敛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25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重复执行上述1-5步，不断优化参数。当损失值趋于稳定或达到预设阈值时，模型训练完成。</a:t>
            </a:r>
            <a:endParaRPr lang="en-US" sz="1300" b="0" i="0" u="none" strike="noStrike">
              <a:solidFill>
                <a:srgbClr val="525A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563E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3175000" cy="3175000"/>
          </a:xfrm>
          <a:prstGeom prst="ellipse">
            <a:avLst/>
          </a:prstGeom>
          <a:solidFill>
            <a:srgbClr val="F59E0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508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前向传播 vs 反向传播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508000" y="1651000"/>
            <a:ext cx="5397500" cy="4253230"/>
          </a:xfrm>
          <a:prstGeom prst="roundRect">
            <a:avLst>
              <a:gd name="adj" fmla="val 0"/>
            </a:avLst>
          </a:prstGeom>
          <a:solidFill>
            <a:srgbClr val="2563EB">
              <a:alpha val="7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698500" y="18415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前向传播 Forward</a:t>
            </a:r>
            <a:endParaRPr lang="en-US" sz="1100"/>
          </a:p>
        </p:txBody>
      </p:sp>
      <p:cxnSp>
        <p:nvCxnSpPr>
          <p:cNvPr id="7" name="Connector 7"/>
          <p:cNvCxnSpPr/>
          <p:nvPr>
            <p:custDataLst>
              <p:tags r:id="rId3"/>
            </p:custDataLst>
          </p:nvPr>
        </p:nvCxnSpPr>
        <p:spPr>
          <a:xfrm rot="-8814">
            <a:off x="698508" y="2406650"/>
            <a:ext cx="4953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500" y="26670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1079500" y="2641600"/>
            <a:ext cx="476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数据流向：输入层 → 隐藏层 → 输出层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信息单向流动，每一层的输出作为下一层的输入。</a:t>
            </a:r>
            <a:endParaRPr lang="en-US" sz="1300" b="0" i="0" u="none" strike="noStrike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500" y="35560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1079500" y="3530600"/>
            <a:ext cx="476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核心目标：计算预测值 (y_pred)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基于当前的权重和偏置，对输入数据进行线性变换和激活函数处理，最终得到模型的预测结果。</a:t>
            </a:r>
            <a:endParaRPr lang="en-US" sz="1300" b="0" i="0" u="none" strike="noStrike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6286500" y="1651000"/>
            <a:ext cx="5397500" cy="4253230"/>
          </a:xfrm>
          <a:prstGeom prst="roundRect">
            <a:avLst>
              <a:gd name="adj" fmla="val 0"/>
            </a:avLst>
          </a:prstGeom>
          <a:solidFill>
            <a:srgbClr val="F59E0B">
              <a:alpha val="7000"/>
            </a:srgbClr>
          </a:solidFill>
          <a:ln w="12700" cap="flat" cmpd="sng">
            <a:solidFill>
              <a:srgbClr val="F59E0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3"/>
            </p:custDataLst>
          </p:nvPr>
        </p:nvSpPr>
        <p:spPr>
          <a:xfrm>
            <a:off x="6477000" y="18415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反向传播 Backward</a:t>
            </a:r>
            <a:endParaRPr lang="en-US" sz="1100"/>
          </a:p>
        </p:txBody>
      </p:sp>
      <p:cxnSp>
        <p:nvCxnSpPr>
          <p:cNvPr id="16" name="Connector 16"/>
          <p:cNvCxnSpPr/>
          <p:nvPr>
            <p:custDataLst>
              <p:tags r:id="rId14"/>
            </p:custDataLst>
          </p:nvPr>
        </p:nvCxnSpPr>
        <p:spPr>
          <a:xfrm rot="-8814">
            <a:off x="6477008" y="2406650"/>
            <a:ext cx="4953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9E0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" name="Picture 17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77000" y="26670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18"/>
            </p:custDataLst>
          </p:nvPr>
        </p:nvSpPr>
        <p:spPr>
          <a:xfrm>
            <a:off x="6858000" y="2641600"/>
            <a:ext cx="476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误差流向：输出层 → 隐藏层 → 输入层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从结果的误差出发，逆向计算每一个参数对错误的“贡献度”。</a:t>
            </a:r>
            <a:endParaRPr lang="en-US" sz="1300" b="0" i="0" u="none" strike="noStrike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477000" y="35560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22"/>
            </p:custDataLst>
          </p:nvPr>
        </p:nvSpPr>
        <p:spPr>
          <a:xfrm>
            <a:off x="6858000" y="3530600"/>
            <a:ext cx="476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核心目标：更新参数 (求梯度)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利用链式法则求导，计算损失函数对每个权重和偏置的偏导数，确定参数调整的方向和幅度。</a:t>
            </a:r>
            <a:endParaRPr lang="en-US" sz="1300" b="0" i="0" u="none" strike="noStrike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43447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5080000"/>
            <a:ext cx="2286000" cy="2286000"/>
          </a:xfrm>
          <a:prstGeom prst="ellipse">
            <a:avLst/>
          </a:prstGeom>
          <a:solidFill>
            <a:srgbClr val="2F6F9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762000" cy="6858000"/>
          </a:xfrm>
          <a:prstGeom prst="roundRect">
            <a:avLst>
              <a:gd name="adj" fmla="val 0"/>
            </a:avLst>
          </a:prstGeom>
          <a:solidFill>
            <a:srgbClr val="193B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524000" y="2413000"/>
            <a:ext cx="1016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Part 3 浅层神经网络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270000"/>
            <a:ext cx="3810000" cy="381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F59E0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508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什么是两层神经网络？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778000"/>
            <a:ext cx="539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网络结构：基础的层级构成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2667000"/>
            <a:ext cx="1397000" cy="889000"/>
          </a:xfrm>
          <a:prstGeom prst="roundRect">
            <a:avLst>
              <a:gd name="adj" fmla="val 0"/>
            </a:avLst>
          </a:prstGeom>
          <a:solidFill>
            <a:srgbClr val="2F6F9F">
              <a:alpha val="10000"/>
            </a:srgbClr>
          </a:solidFill>
          <a:ln w="12700" cap="flat" cmpd="sng">
            <a:solidFill>
              <a:srgbClr val="2F6F9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输入层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Input Layer</a:t>
            </a:r>
            <a:endParaRPr lang="en-US" sz="12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032000" y="2984500"/>
            <a:ext cx="381000" cy="254000"/>
          </a:xfrm>
          <a:prstGeom prst="rightArrow">
            <a:avLst/>
          </a:prstGeom>
          <a:solidFill>
            <a:srgbClr val="C8C8C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2540000" y="2667000"/>
            <a:ext cx="1397000" cy="889000"/>
          </a:xfrm>
          <a:prstGeom prst="roundRect">
            <a:avLst>
              <a:gd name="adj" fmla="val 0"/>
            </a:avLst>
          </a:prstGeom>
          <a:solidFill>
            <a:srgbClr val="F59E0B">
              <a:alpha val="10000"/>
            </a:srgbClr>
          </a:solidFill>
          <a:ln w="12700" cap="flat" cmpd="sng">
            <a:solidFill>
              <a:srgbClr val="F59E0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隐藏层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Hidden (L1)</a:t>
            </a:r>
            <a:endParaRPr lang="en-US" sz="12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064000" y="2984500"/>
            <a:ext cx="381000" cy="254000"/>
          </a:xfrm>
          <a:prstGeom prst="rightArrow">
            <a:avLst/>
          </a:prstGeom>
          <a:solidFill>
            <a:srgbClr val="C8C8C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572000" y="2667000"/>
            <a:ext cx="1397000" cy="889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输出层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Output (L2)</a:t>
            </a:r>
            <a:endParaRPr lang="en-US" sz="12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08000" y="4064000"/>
            <a:ext cx="5397500" cy="1905000"/>
          </a:xfrm>
          <a:prstGeom prst="roundRect">
            <a:avLst>
              <a:gd name="adj" fmla="val 0"/>
            </a:avLst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190500" rIns="19050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定义解析：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两层神经网络指包含</a:t>
            </a:r>
            <a:r>
              <a:rPr lang="en-US" sz="14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一个隐藏层 + 一个输出层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的结构，数学上通常记为 L=2。需要特别注意的是，负责接收外部数据的</a:t>
            </a:r>
            <a:r>
              <a:rPr lang="en-US" sz="14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输入层不计入网络层数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。这是深度学习中最基础的“深度”结构，也是连接浅层模型与深层网络的桥梁。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86500" y="1778000"/>
            <a:ext cx="539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直观理解：以“识别猫咪”为例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86500" y="2603500"/>
            <a:ext cx="5397500" cy="9525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77000" y="28702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85000" y="2667000"/>
            <a:ext cx="463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输入层：图像的“像素原材料”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将猫咪图片转化为机器能理解的数字信号（如像素矩阵），是网络的“眼睛”，负责输送原始数据。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86500" y="3683000"/>
            <a:ext cx="5397500" cy="952500"/>
          </a:xfrm>
          <a:prstGeom prst="roundRect">
            <a:avLst>
              <a:gd name="adj" fmla="val 0"/>
            </a:avLst>
          </a:prstGeom>
          <a:solidFill>
            <a:srgbClr val="F59E0B">
              <a:alpha val="8000"/>
            </a:srgbClr>
          </a:solidFill>
          <a:ln w="12700" cap="flat" cmpd="sng">
            <a:solidFill>
              <a:srgbClr val="F59E0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39497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3746500"/>
            <a:ext cx="463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隐藏层：特征的“加工工厂”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网络的核心大脑，自动学习并提取图片中的边缘、纹理、形状等关键特征。隐藏层神经元越多，能捕捉的特征越复杂。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86500" y="4762500"/>
            <a:ext cx="53975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50292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4826000"/>
            <a:ext cx="463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输出层：结果的“最终判决”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汇总特征信息，通过计算输出最终判断结果，例如“这是一只猫（概率95%）”或“这不是猫（概率5%）”。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81000" y="508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隐藏层神经元的计算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397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单个隐藏神经元的线性加权计算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968500"/>
            <a:ext cx="11176000" cy="8255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08000" y="1968500"/>
            <a:ext cx="1117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z</a:t>
            </a:r>
            <a:r>
              <a:rPr lang="en-US" sz="2200" b="1" i="0" u="none" strike="noStrike" baseline="-2500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en-US" sz="2200" b="1" i="0" u="none" strike="noStrike" baseline="3000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[1]</a:t>
            </a:r>
            <a:r>
              <a:rPr lang="en-US" sz="2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= w</a:t>
            </a:r>
            <a:r>
              <a:rPr lang="en-US" sz="2200" b="1" i="0" u="none" strike="noStrike" baseline="-2500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en-US" sz="2200" b="1" i="0" u="none" strike="noStrike" baseline="3000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[1]</a:t>
            </a:r>
            <a:r>
              <a:rPr lang="en-US" sz="2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ᵀ · x + b</a:t>
            </a:r>
            <a:r>
              <a:rPr lang="en-US" sz="2200" b="1" i="0" u="none" strike="noStrike" baseline="-2500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en-US" sz="2200" b="1" i="0" u="none" strike="noStrike" baseline="3000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[1]</a:t>
            </a:r>
            <a:r>
              <a:rPr lang="en-US" sz="2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（</a:t>
            </a:r>
            <a:r>
              <a:rPr lang="en-US" sz="2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线性加权求和核心公式）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" y="2921000"/>
            <a:ext cx="2667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C8C8C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400" y="3048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016000" y="2984500"/>
            <a:ext cx="20066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上标 [1]：层级标识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F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代表网络的第 1 层（隐藏层），用于区分输入层与输出层，多层网络中会依次递增。</a:t>
            </a:r>
            <a:endParaRPr lang="en-US" sz="1200" b="0" i="0" u="none" strike="noStrike">
              <a:solidFill>
                <a:srgbClr val="555F6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302000" y="2921000"/>
            <a:ext cx="2667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C8C8C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4400" y="3048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810000" y="2984500"/>
            <a:ext cx="2031365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下标 1：神经元编号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F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表示该隐藏层内的第 1 个神经元，是层内神经元的唯一 ID，用于区分同层不同单元。</a:t>
            </a:r>
            <a:endParaRPr lang="en-US" sz="1200" b="0" i="0" u="none" strike="noStrike">
              <a:solidFill>
                <a:srgbClr val="555F6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096000" y="2921000"/>
            <a:ext cx="2667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C8C8C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8400" y="3048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604000" y="2984500"/>
            <a:ext cx="204724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权重 w：连接强度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F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输入特征到该神经元的连接权重，数值大小决定了对应输入对神经元输出的影响程度。</a:t>
            </a:r>
            <a:endParaRPr lang="en-US" sz="1200" b="0" i="0" u="none" strike="noStrike">
              <a:solidFill>
                <a:srgbClr val="555F6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890000" y="2921000"/>
            <a:ext cx="2667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C8C8C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42400" y="3048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398000" y="2984500"/>
            <a:ext cx="2030095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偏置 b：激活阈值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55F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神经元的基础偏置项，相当于线性方程的截距，用于调整神经元被激活的难易程度。</a:t>
            </a:r>
            <a:endParaRPr lang="en-US" sz="1200" b="0" i="0" u="none" strike="noStrike">
              <a:solidFill>
                <a:srgbClr val="555F6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0" name="Connector 20"/>
          <p:cNvCxnSpPr/>
          <p:nvPr/>
        </p:nvCxnSpPr>
        <p:spPr>
          <a:xfrm rot="-3906">
            <a:off x="508004" y="43751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508000" y="4572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非线性激活：产生输出的关键步骤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08000" y="5080000"/>
            <a:ext cx="5461000" cy="14605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w="12700" cap="flat" cmpd="sng">
            <a:solidFill>
              <a:srgbClr val="2F6F9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35000" y="5143500"/>
            <a:ext cx="520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输出公式：a₁</a:t>
            </a:r>
            <a:r>
              <a:rPr lang="en-US" sz="1600" b="1" i="0" u="none" strike="noStrike" baseline="30000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[1]</a:t>
            </a:r>
            <a:r>
              <a:rPr lang="en-US" sz="16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= g(z₁</a:t>
            </a:r>
            <a:r>
              <a:rPr lang="en-US" sz="1600" b="1" i="0" u="none" strike="noStrike" baseline="30000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[1]</a:t>
            </a:r>
            <a:r>
              <a:rPr lang="en-US" sz="16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C46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每个神经元先完成线性加权求和得到 z，再通过激活函数 g(·) 进行非线性映射。这一步是神经网络能够拟合复杂特征的核心，若缺失激活函数，多层网络将退化为简单的线性模型，无法学习复杂模式。</a:t>
            </a:r>
            <a:endParaRPr lang="en-US" sz="1300" b="0" i="0" u="none" strike="noStrike">
              <a:solidFill>
                <a:srgbClr val="3C46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223000" y="5080000"/>
            <a:ext cx="5461000" cy="14605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w="12700" cap="flat" cmpd="sng">
            <a:solidFill>
              <a:srgbClr val="2F6F9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350000" y="5143500"/>
            <a:ext cx="520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多神经元并行计算逻辑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C46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若隐藏层包含 4 个神经元，则需并行执行 4 组完全独立的「加权求和 + 激活」计算。每个神经元独立输出一个特征值，最终形成一个 4 维的特征向量，作为下一层网络的输入，实现特征的升维与抽象。</a:t>
            </a:r>
            <a:endParaRPr lang="en-US" sz="1300" b="0" i="0" u="none" strike="noStrike">
              <a:solidFill>
                <a:srgbClr val="3C46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为什么必须要有激活函数？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524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如果没有激活函数，会发生什么？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508000" y="2159000"/>
            <a:ext cx="3505200" cy="17145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635000" y="2286000"/>
            <a:ext cx="32512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Step 1：第一层线性运算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05A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z</a:t>
            </a:r>
            <a:r>
              <a:rPr lang="en-US" sz="1400" b="0" i="0" u="none" strike="noStrike" baseline="30000">
                <a:solidFill>
                  <a:srgbClr val="505A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[1]</a:t>
            </a:r>
            <a:r>
              <a:rPr lang="en-US" sz="1400" b="0" i="0" u="none" strike="noStrike">
                <a:solidFill>
                  <a:srgbClr val="505A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= W</a:t>
            </a:r>
            <a:r>
              <a:rPr lang="en-US" sz="1400" b="0" i="0" u="none" strike="noStrike" baseline="30000">
                <a:solidFill>
                  <a:srgbClr val="505A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[1]</a:t>
            </a:r>
            <a:r>
              <a:rPr lang="en-US" sz="1400" b="0" i="0" u="none" strike="noStrike">
                <a:solidFill>
                  <a:srgbClr val="505A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X + b</a:t>
            </a:r>
            <a:r>
              <a:rPr lang="en-US" sz="1400" b="0" i="0" u="none" strike="noStrike" baseline="30000">
                <a:solidFill>
                  <a:srgbClr val="505A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[1]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400" b="0" i="0" u="none" strike="noStrike">
                <a:solidFill>
                  <a:srgbClr val="505A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输入数据经过权重 W 和偏置 b 的线性加权，得到第一层的原始输出。</a:t>
            </a:r>
            <a:endParaRPr lang="en-US" sz="1400" b="0" i="0" u="none" strike="noStrike">
              <a:solidFill>
                <a:srgbClr val="505A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AutoShape 8"/>
          <p:cNvSpPr/>
          <p:nvPr>
            <p:custDataLst>
              <p:tags r:id="rId3"/>
            </p:custDataLst>
          </p:nvPr>
        </p:nvSpPr>
        <p:spPr>
          <a:xfrm>
            <a:off x="4343400" y="2159000"/>
            <a:ext cx="3505200" cy="17145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4"/>
            </p:custDataLst>
          </p:nvPr>
        </p:nvSpPr>
        <p:spPr>
          <a:xfrm>
            <a:off x="4470400" y="2286000"/>
            <a:ext cx="32512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Step 2：第二层继续线性运算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05A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z</a:t>
            </a:r>
            <a:r>
              <a:rPr lang="en-US" sz="1400" b="0" i="0" u="none" strike="noStrike" baseline="30000">
                <a:solidFill>
                  <a:srgbClr val="505A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[2]</a:t>
            </a:r>
            <a:r>
              <a:rPr lang="en-US" sz="1400" b="0" i="0" u="none" strike="noStrike">
                <a:solidFill>
                  <a:srgbClr val="505A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= W</a:t>
            </a:r>
            <a:r>
              <a:rPr lang="en-US" sz="1400" b="0" i="0" u="none" strike="noStrike" baseline="30000">
                <a:solidFill>
                  <a:srgbClr val="505A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[2]</a:t>
            </a:r>
            <a:r>
              <a:rPr lang="en-US" sz="1400" b="0" i="0" u="none" strike="noStrike">
                <a:solidFill>
                  <a:srgbClr val="505A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· z</a:t>
            </a:r>
            <a:r>
              <a:rPr lang="en-US" sz="1400" b="0" i="0" u="none" strike="noStrike" baseline="30000">
                <a:solidFill>
                  <a:srgbClr val="505A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[1]</a:t>
            </a:r>
            <a:r>
              <a:rPr lang="en-US" sz="1400" b="0" i="0" u="none" strike="noStrike">
                <a:solidFill>
                  <a:srgbClr val="505A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+ b</a:t>
            </a:r>
            <a:r>
              <a:rPr lang="en-US" sz="1400" b="0" i="0" u="none" strike="noStrike" baseline="30000">
                <a:solidFill>
                  <a:srgbClr val="505A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[2]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400" b="0" i="0" u="none" strike="noStrike">
                <a:solidFill>
                  <a:srgbClr val="505A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将第一层的输出直接作为输入，再次进行相同的线性加权求和。</a:t>
            </a:r>
            <a:endParaRPr lang="en-US" sz="1400" b="0" i="0" u="none" strike="noStrike">
              <a:solidFill>
                <a:srgbClr val="505A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5"/>
            </p:custDataLst>
          </p:nvPr>
        </p:nvSpPr>
        <p:spPr>
          <a:xfrm>
            <a:off x="8178800" y="2159000"/>
            <a:ext cx="3505200" cy="1714500"/>
          </a:xfrm>
          <a:prstGeom prst="roundRect">
            <a:avLst>
              <a:gd name="adj" fmla="val 0"/>
            </a:avLst>
          </a:prstGeom>
          <a:solidFill>
            <a:srgbClr val="EB5757">
              <a:alpha val="8000"/>
            </a:srgbClr>
          </a:solidFill>
          <a:ln w="12700" cap="flat" cmpd="sng">
            <a:solidFill>
              <a:srgbClr val="EB575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6"/>
            </p:custDataLst>
          </p:nvPr>
        </p:nvSpPr>
        <p:spPr>
          <a:xfrm>
            <a:off x="8305800" y="2286000"/>
            <a:ext cx="32512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Step 3：化简后的“真相”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05A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合并后：z = W · X + b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400" b="0" i="0" u="none" strike="noStrike">
                <a:solidFill>
                  <a:srgbClr val="505A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多层线性变换的叠加，本质上等价于</a:t>
            </a:r>
            <a:r>
              <a:rPr lang="en-US" sz="1400" b="0" i="0" u="none" strike="noStrike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一个单层线性模型</a:t>
            </a:r>
            <a:r>
              <a:rPr lang="en-US" sz="1400" b="0" i="0" u="none" strike="noStrike">
                <a:solidFill>
                  <a:srgbClr val="505A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，网络深度毫无意义！</a:t>
            </a:r>
            <a:endParaRPr lang="en-US" sz="1400" b="0" i="0" u="none" strike="noStrike">
              <a:solidFill>
                <a:srgbClr val="505A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 rot="-3906">
            <a:off x="508004" y="41211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6F9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508000" y="42545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结论：激活函数是神经网络的灵魂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08000" y="4826000"/>
            <a:ext cx="5461000" cy="1587500"/>
          </a:xfrm>
          <a:prstGeom prst="roundRect">
            <a:avLst>
              <a:gd name="adj" fmla="val 0"/>
            </a:avLst>
          </a:prstGeom>
          <a:solidFill>
            <a:srgbClr val="F0F2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500" y="5016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143000" y="4978400"/>
            <a:ext cx="4699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线性模型的局限：无法拟合复杂世界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05A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如果没有非线性激活，网络只能学习简单的直线关系，就像用直尺去画圆。它无法捕捉图像、语音等现实世界中复杂的非线性特征，无论堆叠多少层，性能都和单层逻辑回归一样。</a:t>
            </a:r>
            <a:endParaRPr lang="en-US" sz="1400" b="0" i="0" u="none" strike="noStrike">
              <a:solidFill>
                <a:srgbClr val="505A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3000" y="4826000"/>
            <a:ext cx="5461000" cy="1587500"/>
          </a:xfrm>
          <a:prstGeom prst="roundRect">
            <a:avLst>
              <a:gd name="adj" fmla="val 0"/>
            </a:avLst>
          </a:prstGeom>
          <a:solidFill>
            <a:srgbClr val="F0F2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3500" y="5016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858000" y="4978400"/>
            <a:ext cx="4699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激活函数的价值：解锁深层网络潜力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05A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引入非线性激活函数（如ReLU、Sigmoid）后，神经网络获得了“万能逼近”能力。它打破了线性叠加的限制，让深层网络能够学习复杂的特征模式，这是深度学习解决复杂问题的根本前提。</a:t>
            </a:r>
            <a:endParaRPr lang="en-US" sz="1400" b="0" i="0" u="none" strike="noStrike">
              <a:solidFill>
                <a:srgbClr val="505A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激活函数怎么选？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524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隐藏层：神经网络的“默认引擎”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2095500"/>
            <a:ext cx="5461000" cy="14605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98500" y="2222500"/>
            <a:ext cx="520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首选：ReLU (Rectified Linear Unit)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05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✅ 训练速度极快，计算成本最低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400" b="0" i="0" u="none" strike="noStrike">
                <a:solidFill>
                  <a:srgbClr val="505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✅ 有效解决深层网络的“梯度消失”问题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400" b="0" i="0" u="none" strike="noStrike">
                <a:solidFill>
                  <a:srgbClr val="505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✅ 深度学习领域的工业界标准，90%场景的最优解</a:t>
            </a:r>
            <a:endParaRPr lang="en-US" sz="1400" b="0" i="0" u="none" strike="noStrike">
              <a:solidFill>
                <a:srgbClr val="505A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2095500"/>
            <a:ext cx="5461000" cy="1460500"/>
          </a:xfrm>
          <a:prstGeom prst="roundRect">
            <a:avLst>
              <a:gd name="adj" fmla="val 0"/>
            </a:avLst>
          </a:prstGeom>
          <a:solidFill>
            <a:srgbClr val="E6A23C">
              <a:alpha val="8000"/>
            </a:srgbClr>
          </a:solidFill>
          <a:ln w="12700" cap="flat" cmpd="sng">
            <a:solidFill>
              <a:srgbClr val="E6A23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13500" y="2222500"/>
            <a:ext cx="520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备选：ReLU 进阶变体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05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⚡ 遇到“神经元死亡”时试 Leaky ReLU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400" b="0" i="0" u="none" strike="noStrike">
                <a:solidFill>
                  <a:srgbClr val="505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🧠 追求更高精度时试 GELU (Transformer常用)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400" b="0" i="0" u="none" strike="noStrike">
                <a:solidFill>
                  <a:srgbClr val="505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💡 除非特殊情况，否则默认ReLU已足够</a:t>
            </a:r>
            <a:endParaRPr lang="en-US" sz="1400" b="0" i="0" u="none" strike="noStrike">
              <a:solidFill>
                <a:srgbClr val="505A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3906">
            <a:off x="508004" y="3803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4344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508000" y="40005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输出层：按任务“量体裁衣”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08000" y="4572000"/>
            <a:ext cx="5461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F6F9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4762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206500" y="4699000"/>
            <a:ext cx="463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二分类任务 (是 / 否)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505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使用</a:t>
            </a:r>
            <a:r>
              <a:rPr lang="en-US" sz="1400" b="1" i="0" u="none" strike="noStrike">
                <a:solidFill>
                  <a:srgbClr val="505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Sigmoid 函数</a:t>
            </a:r>
            <a:r>
              <a:rPr lang="en-US" sz="1400" b="0" i="0" u="none" strike="noStrike">
                <a:solidFill>
                  <a:srgbClr val="505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，输出 0~1 的概率值。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400" b="0" i="0" u="none" strike="noStrike">
                <a:solidFill>
                  <a:srgbClr val="505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典型场景：垃圾邮件检测、用户点击预测、疾病诊断。</a:t>
            </a:r>
            <a:endParaRPr lang="en-US" sz="1400" b="0" i="0" u="none" strike="noStrike">
              <a:solidFill>
                <a:srgbClr val="505A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572000"/>
            <a:ext cx="5461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F6F9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500" y="4762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21500" y="4699000"/>
            <a:ext cx="463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多分类任务 (类别识别)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505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使用</a:t>
            </a:r>
            <a:r>
              <a:rPr lang="en-US" sz="1400" b="1" i="0" u="none" strike="noStrike">
                <a:solidFill>
                  <a:srgbClr val="505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Softmax 函数</a:t>
            </a:r>
            <a:r>
              <a:rPr lang="en-US" sz="1400" b="0" i="0" u="none" strike="noStrike">
                <a:solidFill>
                  <a:srgbClr val="505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，输出所有类别概率且总和为 1。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400" b="0" i="0" u="none" strike="noStrike">
                <a:solidFill>
                  <a:srgbClr val="505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典型场景：图像分类（猫狗识别）、手写数字识别(0-9)。</a:t>
            </a:r>
            <a:endParaRPr lang="en-US" sz="1400" b="0" i="0" u="none" strike="noStrike">
              <a:solidFill>
                <a:srgbClr val="505A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508000" y="6121400"/>
            <a:ext cx="11176000" cy="457200"/>
          </a:xfrm>
          <a:prstGeom prst="roundRect">
            <a:avLst>
              <a:gd name="adj" fmla="val 0"/>
            </a:avLst>
          </a:prstGeom>
          <a:solidFill>
            <a:srgbClr val="2434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35000" y="6197600"/>
            <a:ext cx="1092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💡 新手黄金法则：隐藏层无脑选 ReLU 即可；输出层看任务——二分类用 Sigmoid，多分类用 Softmax。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270000"/>
            <a:ext cx="3810000" cy="381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508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两层神经网络完整公式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" y="1651000"/>
            <a:ext cx="10922000" cy="17780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8415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第一层（隐藏层） Hidden Layer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349500"/>
            <a:ext cx="50165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24130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878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线性加权求和：将输入特征与权重矩阵相乘并加偏置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8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Z</a:t>
            </a:r>
            <a:r>
              <a:rPr lang="en-US" sz="1800" b="1" baseline="3000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[1]</a:t>
            </a:r>
            <a:r>
              <a:rPr lang="en-US" sz="18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= W</a:t>
            </a:r>
            <a:r>
              <a:rPr lang="en-US" sz="1800" b="1" baseline="3000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[1]</a:t>
            </a:r>
            <a:r>
              <a:rPr lang="en-US" sz="18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X + b</a:t>
            </a:r>
            <a:r>
              <a:rPr lang="en-US" sz="1800" b="1" baseline="3000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[1]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59500" y="2349500"/>
            <a:ext cx="50165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86500" y="24130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878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非线性映射：引入非线性表达能力 (常用 ReLU/Sigmoid)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8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</a:t>
            </a:r>
            <a:r>
              <a:rPr lang="en-US" sz="1800" b="1" baseline="3000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[1]</a:t>
            </a:r>
            <a:r>
              <a:rPr lang="en-US" sz="18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= g(Z</a:t>
            </a:r>
            <a:r>
              <a:rPr lang="en-US" sz="1800" b="1" baseline="3000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[1]</a:t>
            </a:r>
            <a:r>
              <a:rPr lang="en-US" sz="18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" y="3683000"/>
            <a:ext cx="10922000" cy="17780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89000" y="38735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第二层（输出层） Output Layer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89000" y="4381500"/>
            <a:ext cx="34671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52500" y="4445000"/>
            <a:ext cx="33401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7878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基于隐藏层的线性变换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7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Z</a:t>
            </a:r>
            <a:r>
              <a:rPr lang="en-US" sz="1700" b="1" baseline="3000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[2]</a:t>
            </a:r>
            <a:r>
              <a:rPr lang="en-US" sz="17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= W</a:t>
            </a:r>
            <a:r>
              <a:rPr lang="en-US" sz="1700" b="1" baseline="3000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[2]</a:t>
            </a:r>
            <a:r>
              <a:rPr lang="en-US" sz="17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A</a:t>
            </a:r>
            <a:r>
              <a:rPr lang="en-US" sz="1700" b="1" baseline="3000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[1]</a:t>
            </a:r>
            <a:r>
              <a:rPr lang="en-US" sz="17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+ b</a:t>
            </a:r>
            <a:r>
              <a:rPr lang="en-US" sz="1700" b="1" baseline="3000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[2]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483100" y="4381500"/>
            <a:ext cx="34671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546600" y="4445000"/>
            <a:ext cx="33401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7878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输出概率分布 (常用 Softmax)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7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</a:t>
            </a:r>
            <a:r>
              <a:rPr lang="en-US" sz="1700" b="1" baseline="3000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[2]</a:t>
            </a:r>
            <a:r>
              <a:rPr lang="en-US" sz="17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= g(Z</a:t>
            </a:r>
            <a:r>
              <a:rPr lang="en-US" sz="1700" b="1" baseline="3000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[2]</a:t>
            </a:r>
            <a:r>
              <a:rPr lang="en-US" sz="17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77200" y="4381500"/>
            <a:ext cx="3467100" cy="952500"/>
          </a:xfrm>
          <a:prstGeom prst="roundRect">
            <a:avLst>
              <a:gd name="adj" fmla="val 0"/>
            </a:avLst>
          </a:prstGeom>
          <a:solidFill>
            <a:srgbClr val="2F6F9F">
              <a:alpha val="15000"/>
            </a:srgbClr>
          </a:solidFill>
          <a:ln w="12700" cap="flat" cmpd="sng">
            <a:solidFill>
              <a:srgbClr val="2F6F9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140700" y="4445000"/>
            <a:ext cx="33401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7878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模型最终输出预测值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700" b="1" i="0" u="none" strike="noStrike">
                <a:solidFill>
                  <a:srgbClr val="C25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Ŷ = A</a:t>
            </a:r>
            <a:r>
              <a:rPr lang="en-US" sz="1700" b="1" i="0" u="none" strike="noStrike" baseline="30000">
                <a:solidFill>
                  <a:srgbClr val="C25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[2]</a:t>
            </a:r>
            <a:endParaRPr lang="en-US" sz="1100" baseline="30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270000"/>
            <a:ext cx="3810000" cy="381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5080000"/>
            <a:ext cx="3175000" cy="3175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81000" y="508000"/>
            <a:ext cx="1143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参数为什么要随机初始化？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778000"/>
            <a:ext cx="5397500" cy="387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F6F9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反例：初始化为0的致命缺陷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929">
            <a:off x="762008" y="25971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2819400"/>
            <a:ext cx="279400" cy="279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43000" y="2794000"/>
            <a:ext cx="4508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特征提取同质化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所有神经元的输入输出完全一致，无法学习到不同的特征，网络失去多样性。</a:t>
            </a:r>
            <a:endParaRPr lang="en-US" sz="130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3708400"/>
            <a:ext cx="279400" cy="279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143000" y="3683000"/>
            <a:ext cx="4508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梯度更新完全同步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反向传播时，所有神经元的梯度值相同，导致权重更新的幅度和方向始终一致。</a:t>
            </a:r>
            <a:endParaRPr lang="en-US" sz="130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4597400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143000" y="4572000"/>
            <a:ext cx="4508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网络退化为“单神经元”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无论训练多少轮，权重始终保持一致，隐藏层等价于只有一个神经元在工作，深度网络的优势完全丧失。</a:t>
            </a:r>
            <a:endParaRPr lang="en-US" sz="130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86500" y="1778000"/>
            <a:ext cx="5397500" cy="387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F6F9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540500" y="20320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正解：小范围随机初始化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8929">
            <a:off x="6540508" y="25971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2819400"/>
            <a:ext cx="279400" cy="279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21500" y="2794000"/>
            <a:ext cx="4508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权重 W：打破对称性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使用极小的随机数（如正态分布 N(0, 0.01)）初始化，赋予每个神经元独特的初始状态。</a:t>
            </a:r>
            <a:endParaRPr lang="en-US" sz="130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40500" y="3708400"/>
            <a:ext cx="279400" cy="279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21500" y="3683000"/>
            <a:ext cx="4508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偏置 b：安全置零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偏置项不参与权重的对称竞争，设为0不会影响梯度的多样性，可直接初始化为0。</a:t>
            </a:r>
            <a:endParaRPr lang="en-US" sz="130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40500" y="4597400"/>
            <a:ext cx="279400" cy="279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21500" y="4572000"/>
            <a:ext cx="4508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训练的必要前提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这是网络能够开始有效学习的“启动开关”，错误的初始化会导致Loss无法下降或模型不收敛。</a:t>
            </a:r>
            <a:endParaRPr lang="en-US" sz="130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508000" y="5905500"/>
            <a:ext cx="11176000" cy="635000"/>
          </a:xfrm>
          <a:prstGeom prst="roundRect">
            <a:avLst>
              <a:gd name="adj" fmla="val 0"/>
            </a:avLst>
          </a:prstGeom>
          <a:solidFill>
            <a:srgbClr val="2434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98500" y="6032500"/>
            <a:ext cx="1079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核心总结：随机初始化的本质是打破“权重对称性”，让每个神经元各司其职，这是深度学习模型训练的第一步。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43447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243447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50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神经网络完整训练步骤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397000"/>
            <a:ext cx="5334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434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1397000"/>
            <a:ext cx="762000" cy="1270000"/>
          </a:xfrm>
          <a:prstGeom prst="roundRect">
            <a:avLst>
              <a:gd name="adj" fmla="val 0"/>
            </a:avLst>
          </a:prstGeom>
          <a:solidFill>
            <a:srgbClr val="2434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08000" y="1397000"/>
            <a:ext cx="76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397000" y="1397000"/>
            <a:ext cx="438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参数初始化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随机初始化权重 W 和偏置 b，打破对称权重，为模型提供学习的初始起点，是网络训练的基础准备。</a:t>
            </a:r>
            <a:endParaRPr lang="en-US" sz="1300" b="0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08000" y="2857500"/>
            <a:ext cx="5334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434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08000" y="2857500"/>
            <a:ext cx="762000" cy="1270000"/>
          </a:xfrm>
          <a:prstGeom prst="roundRect">
            <a:avLst>
              <a:gd name="adj" fmla="val 0"/>
            </a:avLst>
          </a:prstGeom>
          <a:solidFill>
            <a:srgbClr val="2434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08000" y="2857500"/>
            <a:ext cx="76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397000" y="2857500"/>
            <a:ext cx="438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前向传播计算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将输入数据喂入网络，逐层计算线性变换与激活函数输出，最终得到预测结果 A⁽²⁾，完成信号的正向传递。</a:t>
            </a:r>
            <a:endParaRPr lang="en-US" sz="1300" b="0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08000" y="4254500"/>
            <a:ext cx="5334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434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08000" y="4254500"/>
            <a:ext cx="762000" cy="1270000"/>
          </a:xfrm>
          <a:prstGeom prst="roundRect">
            <a:avLst>
              <a:gd name="adj" fmla="val 0"/>
            </a:avLst>
          </a:prstGeom>
          <a:solidFill>
            <a:srgbClr val="2434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08000" y="4254500"/>
            <a:ext cx="76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397000" y="4254500"/>
            <a:ext cx="438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损失函数评估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利用交叉熵或MSE等损失函数，量化预测值与真实标签的差异，计算出损失值 J，衡量模型当前的预测误差。</a:t>
            </a:r>
            <a:endParaRPr lang="en-US" sz="1300" b="0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350000" y="1397000"/>
            <a:ext cx="5334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434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350000" y="1397000"/>
            <a:ext cx="762000" cy="1270000"/>
          </a:xfrm>
          <a:prstGeom prst="roundRect">
            <a:avLst>
              <a:gd name="adj" fmla="val 0"/>
            </a:avLst>
          </a:prstGeom>
          <a:solidFill>
            <a:srgbClr val="2434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350000" y="1397000"/>
            <a:ext cx="76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239000" y="1397000"/>
            <a:ext cx="438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反向传播求导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基于链式法则从输出层反向推导，计算损失对各参数的梯度 dW 和 db，明确参数需要调整的方向和幅度。</a:t>
            </a:r>
            <a:endParaRPr lang="en-US" sz="1300" b="0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350000" y="2857500"/>
            <a:ext cx="5334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434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350000" y="2857500"/>
            <a:ext cx="762000" cy="1270000"/>
          </a:xfrm>
          <a:prstGeom prst="roundRect">
            <a:avLst>
              <a:gd name="adj" fmla="val 0"/>
            </a:avLst>
          </a:prstGeom>
          <a:solidFill>
            <a:srgbClr val="2434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350000" y="2857500"/>
            <a:ext cx="76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05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239000" y="2857500"/>
            <a:ext cx="438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梯度下降更新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执行梯度下降算法，按公式 W = W - α·dW 更新权重，逐步降低损失值，让模型参数向最优解逼近。</a:t>
            </a:r>
            <a:endParaRPr lang="en-US" sz="1300" b="0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350000" y="4254500"/>
            <a:ext cx="5334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434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350000" y="4254500"/>
            <a:ext cx="762000" cy="1270000"/>
          </a:xfrm>
          <a:prstGeom prst="roundRect">
            <a:avLst>
              <a:gd name="adj" fmla="val 0"/>
            </a:avLst>
          </a:prstGeom>
          <a:solidFill>
            <a:srgbClr val="2434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350000" y="4254500"/>
            <a:ext cx="76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06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239000" y="4254500"/>
            <a:ext cx="438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迭代循环优化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重复执行前向传播到参数更新的流程，直至损失收敛至极小值或达到预设迭代次数，完成模型训练。</a:t>
            </a:r>
            <a:endParaRPr lang="en-US" sz="1300" b="0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0" y="4064000"/>
            <a:ext cx="3810000" cy="3810000"/>
          </a:xfrm>
          <a:prstGeom prst="ellipse">
            <a:avLst/>
          </a:prstGeom>
          <a:solidFill>
            <a:srgbClr val="2F6F9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-635000"/>
            <a:ext cx="1905000" cy="1905000"/>
          </a:xfrm>
          <a:prstGeom prst="ellipse">
            <a:avLst/>
          </a:prstGeom>
          <a:solidFill>
            <a:srgbClr val="193B5A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016000" cy="6858000"/>
          </a:xfrm>
          <a:prstGeom prst="roundRect">
            <a:avLst>
              <a:gd name="adj" fmla="val 0"/>
            </a:avLst>
          </a:prstGeom>
          <a:solidFill>
            <a:srgbClr val="193B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144000" y="1270000"/>
            <a:ext cx="2540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243447">
                    <a:alpha val="5882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78000" y="2540000"/>
            <a:ext cx="889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Part 4 深层神经网络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243447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什么是深层神经网络？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651000"/>
            <a:ext cx="539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从浅层到深层的架构演进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2413000"/>
            <a:ext cx="1079500" cy="635000"/>
          </a:xfrm>
          <a:prstGeom prst="roundRect">
            <a:avLst>
              <a:gd name="adj" fmla="val 0"/>
            </a:avLst>
          </a:prstGeom>
          <a:solidFill>
            <a:srgbClr val="2F6F9F">
              <a:alpha val="15000"/>
            </a:srgbClr>
          </a:solidFill>
          <a:ln w="12700" cap="flat" cmpd="sng">
            <a:solidFill>
              <a:srgbClr val="2F6F9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25600" y="25781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968500" y="2413000"/>
            <a:ext cx="1079500" cy="635000"/>
          </a:xfrm>
          <a:prstGeom prst="roundRect">
            <a:avLst>
              <a:gd name="adj" fmla="val 0"/>
            </a:avLst>
          </a:prstGeom>
          <a:solidFill>
            <a:srgbClr val="2F6F9F">
              <a:alpha val="15000"/>
            </a:srgbClr>
          </a:solidFill>
          <a:ln w="12700" cap="flat" cmpd="sng">
            <a:solidFill>
              <a:srgbClr val="2F6F9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隐层 1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86100" y="25781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429000" y="2413000"/>
            <a:ext cx="1079500" cy="635000"/>
          </a:xfrm>
          <a:prstGeom prst="roundRect">
            <a:avLst>
              <a:gd name="adj" fmla="val 0"/>
            </a:avLst>
          </a:prstGeom>
          <a:solidFill>
            <a:srgbClr val="2F6F9F">
              <a:alpha val="15000"/>
            </a:srgbClr>
          </a:solidFill>
          <a:ln w="12700" cap="flat" cmpd="sng">
            <a:solidFill>
              <a:srgbClr val="2F6F9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隐层 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08000" y="3429000"/>
            <a:ext cx="1079500" cy="635000"/>
          </a:xfrm>
          <a:prstGeom prst="roundRect">
            <a:avLst>
              <a:gd name="adj" fmla="val 0"/>
            </a:avLst>
          </a:prstGeom>
          <a:solidFill>
            <a:srgbClr val="2F6F9F">
              <a:alpha val="15000"/>
            </a:srgbClr>
          </a:solidFill>
          <a:ln w="12700" cap="flat" cmpd="sng">
            <a:solidFill>
              <a:srgbClr val="2F6F9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隐层 3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25600" y="35941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968500" y="3429000"/>
            <a:ext cx="1079500" cy="635000"/>
          </a:xfrm>
          <a:prstGeom prst="roundRect">
            <a:avLst>
              <a:gd name="adj" fmla="val 0"/>
            </a:avLst>
          </a:prstGeom>
          <a:solidFill>
            <a:srgbClr val="2F6F9F">
              <a:alpha val="15000"/>
            </a:srgbClr>
          </a:solidFill>
          <a:ln w="12700" cap="flat" cmpd="sng">
            <a:solidFill>
              <a:srgbClr val="2F6F9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隐层 4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86100" y="35941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429000" y="3429000"/>
            <a:ext cx="1079500" cy="635000"/>
          </a:xfrm>
          <a:prstGeom prst="roundRect">
            <a:avLst>
              <a:gd name="adj" fmla="val 0"/>
            </a:avLst>
          </a:prstGeom>
          <a:solidFill>
            <a:srgbClr val="2F6F9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08000" y="4572000"/>
            <a:ext cx="5397500" cy="1714500"/>
          </a:xfrm>
          <a:prstGeom prst="roundRect">
            <a:avLst>
              <a:gd name="adj" fmla="val 0"/>
            </a:avLst>
          </a:prstGeom>
          <a:solidFill>
            <a:srgbClr val="243447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52400" tIns="152400" rIns="15240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深层神经网络（DNN）的核心在于拥有</a:t>
            </a:r>
            <a:r>
              <a:rPr lang="en-US" sz="1400" b="1" i="0" u="none" strike="noStrike">
                <a:solidFill>
                  <a:srgbClr val="2F6F9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多个隐藏层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。我们将网络的总层数 L 定义为“隐藏层数量 + 输出层数量”。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例如：4个隐藏层 + 1个输出层，即构成一个 5 层网络（L=5）。这种多层堆叠的结构赋予了模型强大的特征提取与非线性拟合能力。</a:t>
            </a:r>
            <a:endParaRPr lang="en-US" sz="14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86500" y="1651000"/>
            <a:ext cx="539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深度带来的“特征抽象”能力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86500" y="2413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2F6F9F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51600" y="25654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858000" y="25654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第一层：像素与边缘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51600" y="30226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识别图像的基本构成，如亮度变化、线条走向和色彩边缘，这是视觉认知的基石。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80500" y="2413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2F6F9F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45600" y="25654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652000" y="25654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第二层：纹理与形状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245600" y="30226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将边缘组合成更复杂的局部特征，如条纹纹理、圆形或方形等基础几何形状。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286500" y="3937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2F6F9F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51600" y="4089400"/>
            <a:ext cx="355600" cy="3556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858000" y="40894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第三层：部件与结构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451600" y="45466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进一步整合形状，识别出物体的关键组件，如眼睛、嘴巴、车轮或门把手等。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080500" y="3937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2F6F9F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45600" y="4089400"/>
            <a:ext cx="355600" cy="3556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9652000" y="40894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第四层：全局认知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245600" y="45466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综合所有部件信息，形成对完整物体（如“猫”、“汽车”）的最终判断与分类。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286500" y="5524500"/>
            <a:ext cx="539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F6F9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层数越深，模型对特征的抽象能力越强，越能捕捉到数据中复杂的、本质的规律，从而解决图像识别、自然语言处理等复杂的智能任务。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F6F9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2F6F9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参数矩阵尺寸规则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460500"/>
            <a:ext cx="1117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尺寸怎么算？—— 基于神经元数量的推导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2095500"/>
            <a:ext cx="5397500" cy="14605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2286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06500" y="2222500"/>
            <a:ext cx="457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权重矩阵 W</a:t>
            </a:r>
            <a:r>
              <a:rPr lang="en-US" sz="1600" b="1" i="0" u="none" strike="noStrike" baseline="3000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(i)</a:t>
            </a: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：(n</a:t>
            </a:r>
            <a:r>
              <a:rPr lang="zh-CN" altLang="en-US" sz="1600" b="1" i="0" u="none" strike="noStrike" baseline="3000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altLang="zh-CN" sz="1600" b="1" i="0" u="none" strike="noStrike" baseline="3000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</a:t>
            </a:r>
            <a:r>
              <a:rPr lang="zh-CN" altLang="en-US" sz="1600" b="1" i="0" u="none" strike="noStrike" baseline="3000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, n</a:t>
            </a:r>
            <a:r>
              <a:rPr lang="en-US" sz="1600" b="1" i="0" u="none" strike="noStrike" baseline="3000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(i-1)</a:t>
            </a: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A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逻辑：当前层神经元数量 × 上一层神经元数量。每一行代表一个输出神经元与所有输入神经元的连接权重。</a:t>
            </a:r>
            <a:endParaRPr lang="en-US" sz="1300" b="0" i="0" u="none" strike="noStrike">
              <a:solidFill>
                <a:srgbClr val="555A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86500" y="2095500"/>
            <a:ext cx="5397500" cy="1460500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w="12700" cap="flat" cmpd="sng">
            <a:solidFill>
              <a:srgbClr val="2F6F9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286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693025" y="2222500"/>
            <a:ext cx="3863975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偏置向量 b</a:t>
            </a:r>
            <a:r>
              <a:rPr lang="en-US" sz="1600" b="1" i="0" u="none" strike="noStrike" baseline="3000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(i)</a:t>
            </a: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：(n</a:t>
            </a:r>
            <a:r>
              <a:rPr lang="en-US" sz="1600" b="1" i="0" u="none" strike="noStrike" baseline="30000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(i)</a:t>
            </a: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, 1)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A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逻辑：仅与当前层神经元数量相关。每个神经元都有一个独立的偏置值，通常表现为单列向量形式。</a:t>
            </a:r>
            <a:endParaRPr lang="en-US" sz="1300" b="0" i="0" u="none" strike="noStrike">
              <a:solidFill>
                <a:srgbClr val="555A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08000" y="3873500"/>
            <a:ext cx="1117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举个例子：输入层(3个神经元) → 隐藏层(4个神经元)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08000" y="4508500"/>
            <a:ext cx="5397500" cy="1460500"/>
          </a:xfrm>
          <a:prstGeom prst="roundRect">
            <a:avLst>
              <a:gd name="adj" fmla="val 0"/>
            </a:avLst>
          </a:prstGeom>
          <a:solidFill>
            <a:srgbClr val="243447">
              <a:alpha val="6000"/>
            </a:srgbClr>
          </a:solidFill>
          <a:ln w="12700" cap="flat" cmpd="sng">
            <a:solidFill>
              <a:srgbClr val="243447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500" y="4699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206500" y="4635500"/>
            <a:ext cx="457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W 矩阵尺寸：(4, 3)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A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解释：隐藏层有4个神经元，每个神经元都要接收来自输入层3个神经元的信号，因此需要4行3列的权重参数来建立连接。</a:t>
            </a:r>
            <a:endParaRPr lang="en-US" sz="1300" b="0" i="0" u="none" strike="noStrike">
              <a:solidFill>
                <a:srgbClr val="555A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86500" y="4508500"/>
            <a:ext cx="5397500" cy="1460500"/>
          </a:xfrm>
          <a:prstGeom prst="roundRect">
            <a:avLst>
              <a:gd name="adj" fmla="val 0"/>
            </a:avLst>
          </a:prstGeom>
          <a:solidFill>
            <a:srgbClr val="243447">
              <a:alpha val="6000"/>
            </a:srgbClr>
          </a:solidFill>
          <a:ln w="12700" cap="flat" cmpd="sng">
            <a:solidFill>
              <a:srgbClr val="243447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699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4635500"/>
            <a:ext cx="457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 向量尺寸：(4, 1)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A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解释：无论输入是什么，隐藏层的4个神经元各自拥有一个独立的偏置项，用于调节激活阈值，因此是4行1列的列向量。</a:t>
            </a:r>
            <a:endParaRPr lang="en-US" sz="1300" b="0" i="0" u="none" strike="noStrike">
              <a:solidFill>
                <a:srgbClr val="555A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43447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243447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81000" y="508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深层网络完整训练流程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524000"/>
            <a:ext cx="3556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434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1200" y="17272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117600" y="17018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01. 参数初始化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11200" y="2159000"/>
            <a:ext cx="314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随机初始化所有层的权重 W⁽¹⁾~W⁽ᴸ⁾ 与偏置 b⁽¹⁾~b⁽ᴸ⁾，需打破对称性以保证各神经元学习不同特征。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18000" y="1524000"/>
            <a:ext cx="3556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434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1200" y="17272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927600" y="17018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02. 前向传播计算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21200" y="2159000"/>
            <a:ext cx="314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从输入层到输出层逐层计算，通过激活函数引入非线性变换，最终得到模型对样本的预测值 Ŷ。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524000"/>
            <a:ext cx="3556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434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31200" y="17272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737600" y="17018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03. 计算损失函数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31200" y="2159000"/>
            <a:ext cx="314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利用损失函数 J(W,b) 量化预测值 Ŷ 与真实标签 Y 的误差，数值越小代表模型预测越准确。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08000" y="3683000"/>
            <a:ext cx="3556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434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1200" y="38862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117600" y="38608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04. 反向传播求导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11200" y="4318000"/>
            <a:ext cx="314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从输出层反向遍历网络，利用链式法则计算损失对每一层参数的梯度 ∂J/∂W，指导参数优化方向。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318000" y="3683000"/>
            <a:ext cx="3556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434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21200" y="38862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4927600" y="38608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05. 梯度下降更新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521200" y="4318000"/>
            <a:ext cx="314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沿梯度负方向更新所有权重和偏置，即 W = W - α·dW，逐步降低整体损失，逼近最优解。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128000" y="3683000"/>
            <a:ext cx="3556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434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31200" y="38862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8737600" y="38608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06. 循环直至收敛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331200" y="4318000"/>
            <a:ext cx="314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重复执行上述步骤（Epoch），直到损失函数不再明显下降或达到预设的最大训练轮数为止。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43447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243447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参数更新通用公式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651000"/>
            <a:ext cx="5397500" cy="1524000"/>
          </a:xfrm>
          <a:prstGeom prst="roundRect">
            <a:avLst>
              <a:gd name="adj" fmla="val 0"/>
            </a:avLst>
          </a:prstGeom>
          <a:solidFill>
            <a:srgbClr val="243447">
              <a:alpha val="8000"/>
            </a:srgbClr>
          </a:solidFill>
          <a:ln w="12700" cap="flat" cmpd="sng">
            <a:solidFill>
              <a:srgbClr val="243447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98500" y="1841500"/>
            <a:ext cx="514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525F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01. 权重 (Weight) 更新规则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98500" y="2286000"/>
            <a:ext cx="5143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4344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W⁽ˡ⁾ := W⁽ˡ⁾ - α · dW⁽ˡ⁾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86500" y="1651000"/>
            <a:ext cx="5397500" cy="1524000"/>
          </a:xfrm>
          <a:prstGeom prst="roundRect">
            <a:avLst>
              <a:gd name="adj" fmla="val 0"/>
            </a:avLst>
          </a:prstGeom>
          <a:solidFill>
            <a:srgbClr val="243447">
              <a:alpha val="8000"/>
            </a:srgbClr>
          </a:solidFill>
          <a:ln w="12700" cap="flat" cmpd="sng">
            <a:solidFill>
              <a:srgbClr val="243447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77000" y="1841500"/>
            <a:ext cx="514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525F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02. 偏置 (Bias) 更新规则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286000"/>
            <a:ext cx="5143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4344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b⁽ˡ⁾ := b⁽ˡ⁾ - α · db⁽ˡ⁾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"/>
            </p:custDataLst>
          </p:nvPr>
        </p:nvSpPr>
        <p:spPr>
          <a:xfrm>
            <a:off x="508000" y="3683000"/>
            <a:ext cx="5397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43447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3873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5"/>
            </p:custDataLst>
          </p:nvPr>
        </p:nvSpPr>
        <p:spPr>
          <a:xfrm>
            <a:off x="1206500" y="3810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α 学习率 (Learning Rate)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25F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控制参数更新的步长幅度。α过大易导致震荡不收敛，过小则训练效率低下，需根据任务动态调整。</a:t>
            </a:r>
            <a:endParaRPr lang="en-US" sz="1300" b="0" i="0" u="none" strike="noStrike">
              <a:solidFill>
                <a:srgbClr val="525F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6"/>
            </p:custDataLst>
          </p:nvPr>
        </p:nvSpPr>
        <p:spPr>
          <a:xfrm>
            <a:off x="6286500" y="3683000"/>
            <a:ext cx="5397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43447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3873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0"/>
            </p:custDataLst>
          </p:nvPr>
        </p:nvSpPr>
        <p:spPr>
          <a:xfrm>
            <a:off x="6985000" y="3810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dW⁽ˡ⁾ 权重梯度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25F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损失函数对第 l 层权重 W 的偏导数，它指示了为降低损失，权重需要调整的方向和陡峭程度。</a:t>
            </a:r>
            <a:endParaRPr lang="en-US" sz="1300" b="0" i="0" u="none" strike="noStrike">
              <a:solidFill>
                <a:srgbClr val="525F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1"/>
            </p:custDataLst>
          </p:nvPr>
        </p:nvSpPr>
        <p:spPr>
          <a:xfrm>
            <a:off x="508000" y="4889500"/>
            <a:ext cx="5397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43447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8500" y="5080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15"/>
            </p:custDataLst>
          </p:nvPr>
        </p:nvSpPr>
        <p:spPr>
          <a:xfrm>
            <a:off x="1206500" y="50165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db⁽ˡ⁾ 偏置梯度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25F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损失函数对第 l 层偏置 b 的偏导数，与权重梯度协同工作，决定了模型偏移量的优化方向。</a:t>
            </a:r>
            <a:endParaRPr lang="en-US" sz="1300" b="0" i="0" u="none" strike="noStrike">
              <a:solidFill>
                <a:srgbClr val="525F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6"/>
            </p:custDataLst>
          </p:nvPr>
        </p:nvSpPr>
        <p:spPr>
          <a:xfrm>
            <a:off x="6286500" y="4889500"/>
            <a:ext cx="5397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43447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77000" y="50800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>
            <p:custDataLst>
              <p:tags r:id="rId20"/>
            </p:custDataLst>
          </p:nvPr>
        </p:nvSpPr>
        <p:spPr>
          <a:xfrm>
            <a:off x="6985000" y="50165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:= 赋值更新操作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25F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这是一个原地更新操作符，表示将右侧计算出的新参数值覆盖到左侧的旧参数上，完成参数迭代。</a:t>
            </a:r>
            <a:endParaRPr lang="en-US" sz="1300" b="0" i="0" u="none" strike="noStrike">
              <a:solidFill>
                <a:srgbClr val="525F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F6F9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508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识别图片是否为猫的深度学习</a:t>
            </a:r>
            <a:r>
              <a:rPr lang="zh-CN" altLang="en-US" sz="3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作业</a:t>
            </a:r>
            <a:endParaRPr lang="zh-CN" altLang="en-US" sz="3200" b="1" i="0" u="none" strike="noStrike">
              <a:solidFill>
                <a:srgbClr val="2434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59385" y="1397635"/>
            <a:ext cx="6061710" cy="4747895"/>
          </a:xfrm>
          <a:prstGeom prst="roundRect">
            <a:avLst>
              <a:gd name="adj" fmla="val 0"/>
            </a:avLst>
          </a:prstGeom>
          <a:solidFill>
            <a:srgbClr val="2F6F9F">
              <a:alpha val="8000"/>
            </a:srgbClr>
          </a:solidFill>
          <a:ln cap="flat" cmpd="sng">
            <a:gradFill>
              <a:gsLst>
                <a:gs pos="0">
                  <a:schemeClr val="bg1">
                    <a:lumMod val="95000"/>
                  </a:schemeClr>
                </a:gs>
                <a:gs pos="53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5400000" scaled="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385" y="1955165"/>
            <a:ext cx="6061075" cy="4190365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159385" y="1448435"/>
            <a:ext cx="6061710" cy="455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>
              <a:lnSpc>
                <a:spcPct val="125000"/>
              </a:lnSpc>
              <a:buSzTx/>
              <a:defRPr/>
            </a:pPr>
            <a:r>
              <a:rPr lang="en-US" sz="1800" b="1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代码图片</a:t>
            </a:r>
            <a:endParaRPr lang="en-US" sz="1800" b="1">
              <a:solidFill>
                <a:srgbClr val="2434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473190" y="1448435"/>
            <a:ext cx="5315585" cy="455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>
              <a:lnSpc>
                <a:spcPct val="125000"/>
              </a:lnSpc>
              <a:buSzTx/>
              <a:defRPr/>
            </a:pPr>
            <a:r>
              <a:rPr lang="en-US" sz="1800" b="1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</a:t>
            </a:r>
            <a:r>
              <a:rPr lang="zh-CN" altLang="en-US" sz="1800" b="1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</a:t>
            </a:r>
            <a:r>
              <a:rPr lang="en-US" sz="1800" b="1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</a:t>
            </a:r>
            <a:endParaRPr lang="en-US" sz="1800" b="1">
              <a:solidFill>
                <a:srgbClr val="2434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190" y="1955800"/>
            <a:ext cx="5315585" cy="418274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95,&quot;left&quot;:40,&quot;top&quot;:250,&quot;width&quot;:880}"/>
</p:tagLst>
</file>

<file path=ppt/tags/tag2.xml><?xml version="1.0" encoding="utf-8"?>
<p:tagLst xmlns:p="http://schemas.openxmlformats.org/presentationml/2006/main">
  <p:tag name="KSO_WM_DIAGRAM_VIRTUALLY_FRAME" val="{&quot;height&quot;:95,&quot;left&quot;:40,&quot;top&quot;:250,&quot;width&quot;:880}"/>
</p:tagLst>
</file>

<file path=ppt/tags/tag3.xml><?xml version="1.0" encoding="utf-8"?>
<p:tagLst xmlns:p="http://schemas.openxmlformats.org/presentationml/2006/main">
  <p:tag name="KSO_WM_DIAGRAM_VIRTUALLY_FRAME" val="{&quot;height&quot;:95,&quot;left&quot;:40,&quot;top&quot;:250,&quot;width&quot;:880}"/>
</p:tagLst>
</file>

<file path=ppt/tags/tag4.xml><?xml version="1.0" encoding="utf-8"?>
<p:tagLst xmlns:p="http://schemas.openxmlformats.org/presentationml/2006/main">
  <p:tag name="KSO_WM_DIAGRAM_VIRTUALLY_FRAME" val="{&quot;height&quot;:95,&quot;left&quot;:40,&quot;top&quot;:250,&quot;width&quot;:880}"/>
</p:tagLst>
</file>

<file path=ppt/tags/tag5.xml><?xml version="1.0" encoding="utf-8"?>
<p:tagLst xmlns:p="http://schemas.openxmlformats.org/presentationml/2006/main">
  <p:tag name="KSO_WM_DIAGRAM_VIRTUALLY_FRAME" val="{&quot;height&quot;:95,&quot;left&quot;:40,&quot;top&quot;:250,&quot;width&quot;:880}"/>
</p:tagLst>
</file>

<file path=ppt/tags/tag6.xml><?xml version="1.0" encoding="utf-8"?>
<p:tagLst xmlns:p="http://schemas.openxmlformats.org/presentationml/2006/main">
  <p:tag name="KSO_WM_DIAGRAM_VIRTUALLY_FRAME" val="{&quot;height&quot;:95,&quot;left&quot;:40,&quot;top&quot;:250,&quot;width&quot;:880}"/>
</p:tagLst>
</file>

<file path=ppt/tags/tag7.xml><?xml version="1.0" encoding="utf-8"?>
<p:tagLst xmlns:p="http://schemas.openxmlformats.org/presentationml/2006/main">
  <p:tag name="KSO_WM_DIAGRAM_VIRTUALLY_FRAME" val="{&quot;height&quot;:123.75,&quot;left&quot;:495,&quot;top&quot;:290,&quot;width&quot;:430}"/>
</p:tagLst>
</file>

<file path=ppt/tags/tag8.xml><?xml version="1.0" encoding="utf-8"?>
<p:tagLst xmlns:p="http://schemas.openxmlformats.org/presentationml/2006/main">
  <p:tag name="KSO_WM_DIAGRAM_VIRTUALLY_FRAME" val="{&quot;height&quot;:123.75,&quot;left&quot;:495,&quot;top&quot;:290,&quot;width&quot;:430}"/>
</p:tagLst>
</file>

<file path=ppt/tags/tag9.xml><?xml version="1.0" encoding="utf-8"?>
<p:tagLst xmlns:p="http://schemas.openxmlformats.org/presentationml/2006/main">
  <p:tag name="KSO_WM_DIAGRAM_VIRTUALLY_FRAME" val="{&quot;height&quot;:123.75,&quot;left&quot;:495,&quot;top&quot;:290,&quot;width&quot;:430}"/>
</p:tagLst>
</file>

<file path=ppt/tags/tag10.xml><?xml version="1.0" encoding="utf-8"?>
<p:tagLst xmlns:p="http://schemas.openxmlformats.org/presentationml/2006/main">
  <p:tag name="KSO_WM_DIAGRAM_VIRTUALLY_FRAME" val="{&quot;height&quot;:123.75,&quot;left&quot;:495,&quot;top&quot;:290,&quot;width&quot;:430}"/>
</p:tagLst>
</file>

<file path=ppt/tags/tag11.xml><?xml version="1.0" encoding="utf-8"?>
<p:tagLst xmlns:p="http://schemas.openxmlformats.org/presentationml/2006/main">
  <p:tag name="KSO_WM_DIAGRAM_VIRTUALLY_FRAME" val="{&quot;height&quot;:123.75,&quot;left&quot;:495,&quot;top&quot;:290,&quot;width&quot;:430}"/>
</p:tagLst>
</file>

<file path=ppt/tags/tag12.xml><?xml version="1.0" encoding="utf-8"?>
<p:tagLst xmlns:p="http://schemas.openxmlformats.org/presentationml/2006/main">
  <p:tag name="KSO_WM_DIAGRAM_VIRTUALLY_FRAME" val="{&quot;height&quot;:123.75,&quot;left&quot;:495,&quot;top&quot;:290,&quot;width&quot;:430}"/>
</p:tagLst>
</file>

<file path=ppt/tags/tag13.xml><?xml version="1.0" encoding="utf-8"?>
<p:tagLst xmlns:p="http://schemas.openxmlformats.org/presentationml/2006/main">
  <p:tag name="KSO_WM_DIAGRAM_VIRTUALLY_FRAME" val="{&quot;height&quot;:110,&quot;left&quot;:40,&quot;top&quot;:165,&quot;width&quot;:880}"/>
</p:tagLst>
</file>

<file path=ppt/tags/tag14.xml><?xml version="1.0" encoding="utf-8"?>
<p:tagLst xmlns:p="http://schemas.openxmlformats.org/presentationml/2006/main">
  <p:tag name="KSO_WM_DIAGRAM_VIRTUALLY_FRAME" val="{&quot;height&quot;:110,&quot;left&quot;:40,&quot;top&quot;:165,&quot;width&quot;:880}"/>
</p:tagLst>
</file>

<file path=ppt/tags/tag15.xml><?xml version="1.0" encoding="utf-8"?>
<p:tagLst xmlns:p="http://schemas.openxmlformats.org/presentationml/2006/main">
  <p:tag name="KSO_WM_DIAGRAM_VIRTUALLY_FRAME" val="{&quot;height&quot;:110,&quot;left&quot;:40,&quot;top&quot;:165,&quot;width&quot;:880}"/>
</p:tagLst>
</file>

<file path=ppt/tags/tag16.xml><?xml version="1.0" encoding="utf-8"?>
<p:tagLst xmlns:p="http://schemas.openxmlformats.org/presentationml/2006/main">
  <p:tag name="KSO_WM_DIAGRAM_VIRTUALLY_FRAME" val="{&quot;height&quot;:110,&quot;left&quot;:40,&quot;top&quot;:165,&quot;width&quot;:880}"/>
</p:tagLst>
</file>

<file path=ppt/tags/tag17.xml><?xml version="1.0" encoding="utf-8"?>
<p:tagLst xmlns:p="http://schemas.openxmlformats.org/presentationml/2006/main">
  <p:tag name="KSO_WM_DIAGRAM_VIRTUALLY_FRAME" val="{&quot;height&quot;:110,&quot;left&quot;:40,&quot;top&quot;:165,&quot;width&quot;:880}"/>
</p:tagLst>
</file>

<file path=ppt/tags/tag18.xml><?xml version="1.0" encoding="utf-8"?>
<p:tagLst xmlns:p="http://schemas.openxmlformats.org/presentationml/2006/main">
  <p:tag name="KSO_WM_DIAGRAM_VIRTUALLY_FRAME" val="{&quot;height&quot;:110,&quot;left&quot;:40,&quot;top&quot;:165,&quot;width&quot;:880}"/>
</p:tagLst>
</file>

<file path=ppt/tags/tag19.xml><?xml version="1.0" encoding="utf-8"?>
<p:tagLst xmlns:p="http://schemas.openxmlformats.org/presentationml/2006/main">
  <p:tag name="KSO_WM_DIAGRAM_VIRTUALLY_FRAME" val="{&quot;height&quot;:310,&quot;left&quot;:40,&quot;top&quot;:120,&quot;width&quot;:880}"/>
</p:tagLst>
</file>

<file path=ppt/tags/tag20.xml><?xml version="1.0" encoding="utf-8"?>
<p:tagLst xmlns:p="http://schemas.openxmlformats.org/presentationml/2006/main">
  <p:tag name="KSO_WM_DIAGRAM_VIRTUALLY_FRAME" val="{&quot;height&quot;:310,&quot;left&quot;:40,&quot;top&quot;:120,&quot;width&quot;:880}"/>
</p:tagLst>
</file>

<file path=ppt/tags/tag21.xml><?xml version="1.0" encoding="utf-8"?>
<p:tagLst xmlns:p="http://schemas.openxmlformats.org/presentationml/2006/main">
  <p:tag name="KSO_WM_DIAGRAM_VIRTUALLY_FRAME" val="{&quot;height&quot;:310,&quot;left&quot;:40,&quot;top&quot;:120,&quot;width&quot;:880}"/>
</p:tagLst>
</file>

<file path=ppt/tags/tag22.xml><?xml version="1.0" encoding="utf-8"?>
<p:tagLst xmlns:p="http://schemas.openxmlformats.org/presentationml/2006/main">
  <p:tag name="KSO_WM_DIAGRAM_VIRTUALLY_FRAME" val="{&quot;height&quot;:310,&quot;left&quot;:40,&quot;top&quot;:120,&quot;width&quot;:880}"/>
</p:tagLst>
</file>

<file path=ppt/tags/tag23.xml><?xml version="1.0" encoding="utf-8"?>
<p:tagLst xmlns:p="http://schemas.openxmlformats.org/presentationml/2006/main">
  <p:tag name="KSO_WM_DIAGRAM_VIRTUALLY_FRAME" val="{&quot;height&quot;:310,&quot;left&quot;:40,&quot;top&quot;:120,&quot;width&quot;:880}"/>
</p:tagLst>
</file>

<file path=ppt/tags/tag24.xml><?xml version="1.0" encoding="utf-8"?>
<p:tagLst xmlns:p="http://schemas.openxmlformats.org/presentationml/2006/main">
  <p:tag name="KSO_WM_DIAGRAM_VIRTUALLY_FRAME" val="{&quot;height&quot;:310,&quot;left&quot;:40,&quot;top&quot;:120,&quot;width&quot;:880}"/>
</p:tagLst>
</file>

<file path=ppt/tags/tag25.xml><?xml version="1.0" encoding="utf-8"?>
<p:tagLst xmlns:p="http://schemas.openxmlformats.org/presentationml/2006/main">
  <p:tag name="KSO_WM_DIAGRAM_VIRTUALLY_FRAME" val="{&quot;height&quot;:310,&quot;left&quot;:40,&quot;top&quot;:120,&quot;width&quot;:880}"/>
</p:tagLst>
</file>

<file path=ppt/tags/tag26.xml><?xml version="1.0" encoding="utf-8"?>
<p:tagLst xmlns:p="http://schemas.openxmlformats.org/presentationml/2006/main">
  <p:tag name="KSO_WM_DIAGRAM_VIRTUALLY_FRAME" val="{&quot;height&quot;:310,&quot;left&quot;:40,&quot;top&quot;:120,&quot;width&quot;:880}"/>
</p:tagLst>
</file>

<file path=ppt/tags/tag27.xml><?xml version="1.0" encoding="utf-8"?>
<p:tagLst xmlns:p="http://schemas.openxmlformats.org/presentationml/2006/main">
  <p:tag name="KSO_WM_DIAGRAM_VIRTUALLY_FRAME" val="{&quot;height&quot;:310,&quot;left&quot;:40,&quot;top&quot;:120,&quot;width&quot;:880}"/>
</p:tagLst>
</file>

<file path=ppt/tags/tag28.xml><?xml version="1.0" encoding="utf-8"?>
<p:tagLst xmlns:p="http://schemas.openxmlformats.org/presentationml/2006/main">
  <p:tag name="KSO_WM_DIAGRAM_VIRTUALLY_FRAME" val="{&quot;height&quot;:310,&quot;left&quot;:40,&quot;top&quot;:120,&quot;width&quot;:880}"/>
</p:tagLst>
</file>

<file path=ppt/tags/tag29.xml><?xml version="1.0" encoding="utf-8"?>
<p:tagLst xmlns:p="http://schemas.openxmlformats.org/presentationml/2006/main">
  <p:tag name="KSO_WM_DIAGRAM_VIRTUALLY_FRAME" val="{&quot;height&quot;:310,&quot;left&quot;:40,&quot;top&quot;:120,&quot;width&quot;:880}"/>
</p:tagLst>
</file>

<file path=ppt/tags/tag30.xml><?xml version="1.0" encoding="utf-8"?>
<p:tagLst xmlns:p="http://schemas.openxmlformats.org/presentationml/2006/main">
  <p:tag name="KSO_WM_DIAGRAM_VIRTUALLY_FRAME" val="{&quot;height&quot;:310,&quot;left&quot;:40,&quot;top&quot;:120,&quot;width&quot;:880}"/>
</p:tagLst>
</file>

<file path=ppt/tags/tag31.xml><?xml version="1.0" encoding="utf-8"?>
<p:tagLst xmlns:p="http://schemas.openxmlformats.org/presentationml/2006/main">
  <p:tag name="KSO_WM_DIAGRAM_VIRTUALLY_FRAME" val="{&quot;height&quot;:370,&quot;left&quot;:40,&quot;top&quot;:130,&quot;width&quot;:880}"/>
</p:tagLst>
</file>

<file path=ppt/tags/tag32.xml><?xml version="1.0" encoding="utf-8"?>
<p:tagLst xmlns:p="http://schemas.openxmlformats.org/presentationml/2006/main">
  <p:tag name="KSO_WM_DIAGRAM_VIRTUALLY_FRAME" val="{&quot;height&quot;:370,&quot;left&quot;:40,&quot;top&quot;:130,&quot;width&quot;:880}"/>
</p:tagLst>
</file>

<file path=ppt/tags/tag33.xml><?xml version="1.0" encoding="utf-8"?>
<p:tagLst xmlns:p="http://schemas.openxmlformats.org/presentationml/2006/main">
  <p:tag name="KSO_WM_DIAGRAM_VIRTUALLY_FRAME" val="{&quot;height&quot;:370,&quot;left&quot;:40,&quot;top&quot;:130,&quot;width&quot;:880}"/>
</p:tagLst>
</file>

<file path=ppt/tags/tag34.xml><?xml version="1.0" encoding="utf-8"?>
<p:tagLst xmlns:p="http://schemas.openxmlformats.org/presentationml/2006/main">
  <p:tag name="KSO_WM_DIAGRAM_VIRTUALLY_FRAME" val="{&quot;height&quot;:370,&quot;left&quot;:40,&quot;top&quot;:130,&quot;width&quot;:880}"/>
</p:tagLst>
</file>

<file path=ppt/tags/tag35.xml><?xml version="1.0" encoding="utf-8"?>
<p:tagLst xmlns:p="http://schemas.openxmlformats.org/presentationml/2006/main">
  <p:tag name="KSO_WM_DIAGRAM_VIRTUALLY_FRAME" val="{&quot;height&quot;:370,&quot;left&quot;:40,&quot;top&quot;:130,&quot;width&quot;:880}"/>
</p:tagLst>
</file>

<file path=ppt/tags/tag36.xml><?xml version="1.0" encoding="utf-8"?>
<p:tagLst xmlns:p="http://schemas.openxmlformats.org/presentationml/2006/main">
  <p:tag name="KSO_WM_DIAGRAM_VIRTUALLY_FRAME" val="{&quot;height&quot;:370,&quot;left&quot;:40,&quot;top&quot;:130,&quot;width&quot;:880}"/>
</p:tagLst>
</file>

<file path=ppt/tags/tag37.xml><?xml version="1.0" encoding="utf-8"?>
<p:tagLst xmlns:p="http://schemas.openxmlformats.org/presentationml/2006/main">
  <p:tag name="KSO_WM_DIAGRAM_VIRTUALLY_FRAME" val="{&quot;height&quot;:370,&quot;left&quot;:40,&quot;top&quot;:130,&quot;width&quot;:880}"/>
</p:tagLst>
</file>

<file path=ppt/tags/tag38.xml><?xml version="1.0" encoding="utf-8"?>
<p:tagLst xmlns:p="http://schemas.openxmlformats.org/presentationml/2006/main">
  <p:tag name="KSO_WM_DIAGRAM_VIRTUALLY_FRAME" val="{&quot;height&quot;:370,&quot;left&quot;:40,&quot;top&quot;:130,&quot;width&quot;:880}"/>
</p:tagLst>
</file>

<file path=ppt/tags/tag39.xml><?xml version="1.0" encoding="utf-8"?>
<p:tagLst xmlns:p="http://schemas.openxmlformats.org/presentationml/2006/main">
  <p:tag name="KSO_WM_DIAGRAM_VIRTUALLY_FRAME" val="{&quot;height&quot;:370,&quot;left&quot;:40,&quot;top&quot;:130,&quot;width&quot;:880}"/>
</p:tagLst>
</file>

<file path=ppt/tags/tag40.xml><?xml version="1.0" encoding="utf-8"?>
<p:tagLst xmlns:p="http://schemas.openxmlformats.org/presentationml/2006/main">
  <p:tag name="KSO_WM_DIAGRAM_VIRTUALLY_FRAME" val="{&quot;height&quot;:370,&quot;left&quot;:40,&quot;top&quot;:130,&quot;width&quot;:880}"/>
</p:tagLst>
</file>

<file path=ppt/tags/tag41.xml><?xml version="1.0" encoding="utf-8"?>
<p:tagLst xmlns:p="http://schemas.openxmlformats.org/presentationml/2006/main">
  <p:tag name="KSO_WM_DIAGRAM_VIRTUALLY_FRAME" val="{&quot;height&quot;:370,&quot;left&quot;:40,&quot;top&quot;:130,&quot;width&quot;:880}"/>
</p:tagLst>
</file>

<file path=ppt/tags/tag42.xml><?xml version="1.0" encoding="utf-8"?>
<p:tagLst xmlns:p="http://schemas.openxmlformats.org/presentationml/2006/main">
  <p:tag name="KSO_WM_DIAGRAM_VIRTUALLY_FRAME" val="{&quot;height&quot;:370,&quot;left&quot;:40,&quot;top&quot;:130,&quot;width&quot;:880}"/>
</p:tagLst>
</file>

<file path=ppt/tags/tag43.xml><?xml version="1.0" encoding="utf-8"?>
<p:tagLst xmlns:p="http://schemas.openxmlformats.org/presentationml/2006/main">
  <p:tag name="KSO_WM_DIAGRAM_VIRTUALLY_FRAME" val="{&quot;height&quot;:370,&quot;left&quot;:40,&quot;top&quot;:130,&quot;width&quot;:880}"/>
</p:tagLst>
</file>

<file path=ppt/tags/tag44.xml><?xml version="1.0" encoding="utf-8"?>
<p:tagLst xmlns:p="http://schemas.openxmlformats.org/presentationml/2006/main">
  <p:tag name="KSO_WM_DIAGRAM_VIRTUALLY_FRAME" val="{&quot;height&quot;:370,&quot;left&quot;:40,&quot;top&quot;:130,&quot;width&quot;:880}"/>
</p:tagLst>
</file>

<file path=ppt/tags/tag45.xml><?xml version="1.0" encoding="utf-8"?>
<p:tagLst xmlns:p="http://schemas.openxmlformats.org/presentationml/2006/main">
  <p:tag name="KSO_WM_DIAGRAM_VIRTUALLY_FRAME" val="{&quot;height&quot;:135,&quot;left&quot;:40,&quot;top&quot;:170,&quot;width&quot;:880}"/>
</p:tagLst>
</file>

<file path=ppt/tags/tag46.xml><?xml version="1.0" encoding="utf-8"?>
<p:tagLst xmlns:p="http://schemas.openxmlformats.org/presentationml/2006/main">
  <p:tag name="KSO_WM_DIAGRAM_VIRTUALLY_FRAME" val="{&quot;height&quot;:135,&quot;left&quot;:40,&quot;top&quot;:170,&quot;width&quot;:880}"/>
</p:tagLst>
</file>

<file path=ppt/tags/tag47.xml><?xml version="1.0" encoding="utf-8"?>
<p:tagLst xmlns:p="http://schemas.openxmlformats.org/presentationml/2006/main">
  <p:tag name="KSO_WM_DIAGRAM_VIRTUALLY_FRAME" val="{&quot;height&quot;:135,&quot;left&quot;:40,&quot;top&quot;:170,&quot;width&quot;:880}"/>
</p:tagLst>
</file>

<file path=ppt/tags/tag48.xml><?xml version="1.0" encoding="utf-8"?>
<p:tagLst xmlns:p="http://schemas.openxmlformats.org/presentationml/2006/main">
  <p:tag name="KSO_WM_DIAGRAM_VIRTUALLY_FRAME" val="{&quot;height&quot;:135,&quot;left&quot;:40,&quot;top&quot;:170,&quot;width&quot;:880}"/>
</p:tagLst>
</file>

<file path=ppt/tags/tag49.xml><?xml version="1.0" encoding="utf-8"?>
<p:tagLst xmlns:p="http://schemas.openxmlformats.org/presentationml/2006/main">
  <p:tag name="KSO_WM_DIAGRAM_VIRTUALLY_FRAME" val="{&quot;height&quot;:135,&quot;left&quot;:40,&quot;top&quot;:170,&quot;width&quot;:880}"/>
</p:tagLst>
</file>

<file path=ppt/tags/tag50.xml><?xml version="1.0" encoding="utf-8"?>
<p:tagLst xmlns:p="http://schemas.openxmlformats.org/presentationml/2006/main">
  <p:tag name="KSO_WM_DIAGRAM_VIRTUALLY_FRAME" val="{&quot;height&quot;:135,&quot;left&quot;:40,&quot;top&quot;:170,&quot;width&quot;:880}"/>
</p:tagLst>
</file>

<file path=ppt/tags/tag51.xml><?xml version="1.0" encoding="utf-8"?>
<p:tagLst xmlns:p="http://schemas.openxmlformats.org/presentationml/2006/main">
  <p:tag name="KSO_WM_DIAGRAM_VIRTUALLY_FRAME" val="{&quot;height&quot;:180,&quot;left&quot;:40,&quot;top&quot;:290,&quot;width&quot;:880}"/>
</p:tagLst>
</file>

<file path=ppt/tags/tag52.xml><?xml version="1.0" encoding="utf-8"?>
<p:tagLst xmlns:p="http://schemas.openxmlformats.org/presentationml/2006/main">
  <p:tag name="KSO_WM_DIAGRAM_VIRTUALLY_FRAME" val="{&quot;height&quot;:180,&quot;left&quot;:40,&quot;top&quot;:290,&quot;width&quot;:880}"/>
</p:tagLst>
</file>

<file path=ppt/tags/tag53.xml><?xml version="1.0" encoding="utf-8"?>
<p:tagLst xmlns:p="http://schemas.openxmlformats.org/presentationml/2006/main">
  <p:tag name="KSO_WM_DIAGRAM_VIRTUALLY_FRAME" val="{&quot;height&quot;:180,&quot;left&quot;:40,&quot;top&quot;:290,&quot;width&quot;:880}"/>
</p:tagLst>
</file>

<file path=ppt/tags/tag54.xml><?xml version="1.0" encoding="utf-8"?>
<p:tagLst xmlns:p="http://schemas.openxmlformats.org/presentationml/2006/main">
  <p:tag name="KSO_WM_DIAGRAM_VIRTUALLY_FRAME" val="{&quot;height&quot;:180,&quot;left&quot;:40,&quot;top&quot;:290,&quot;width&quot;:880}"/>
</p:tagLst>
</file>

<file path=ppt/tags/tag55.xml><?xml version="1.0" encoding="utf-8"?>
<p:tagLst xmlns:p="http://schemas.openxmlformats.org/presentationml/2006/main">
  <p:tag name="KSO_WM_DIAGRAM_VIRTUALLY_FRAME" val="{&quot;height&quot;:180,&quot;left&quot;:40,&quot;top&quot;:290,&quot;width&quot;:880}"/>
</p:tagLst>
</file>

<file path=ppt/tags/tag56.xml><?xml version="1.0" encoding="utf-8"?>
<p:tagLst xmlns:p="http://schemas.openxmlformats.org/presentationml/2006/main">
  <p:tag name="KSO_WM_DIAGRAM_VIRTUALLY_FRAME" val="{&quot;height&quot;:180,&quot;left&quot;:40,&quot;top&quot;:290,&quot;width&quot;:880}"/>
</p:tagLst>
</file>

<file path=ppt/tags/tag57.xml><?xml version="1.0" encoding="utf-8"?>
<p:tagLst xmlns:p="http://schemas.openxmlformats.org/presentationml/2006/main">
  <p:tag name="KSO_WM_DIAGRAM_VIRTUALLY_FRAME" val="{&quot;height&quot;:180,&quot;left&quot;:40,&quot;top&quot;:290,&quot;width&quot;:880}"/>
</p:tagLst>
</file>

<file path=ppt/tags/tag58.xml><?xml version="1.0" encoding="utf-8"?>
<p:tagLst xmlns:p="http://schemas.openxmlformats.org/presentationml/2006/main">
  <p:tag name="KSO_WM_DIAGRAM_VIRTUALLY_FRAME" val="{&quot;height&quot;:180,&quot;left&quot;:40,&quot;top&quot;:290,&quot;width&quot;:880}"/>
</p:tagLst>
</file>

<file path=ppt/tags/tag59.xml><?xml version="1.0" encoding="utf-8"?>
<p:tagLst xmlns:p="http://schemas.openxmlformats.org/presentationml/2006/main">
  <p:tag name="KSO_WM_DIAGRAM_VIRTUALLY_FRAME" val="{&quot;height&quot;:180,&quot;left&quot;:40,&quot;top&quot;:290,&quot;width&quot;:880}"/>
</p:tagLst>
</file>

<file path=ppt/tags/tag60.xml><?xml version="1.0" encoding="utf-8"?>
<p:tagLst xmlns:p="http://schemas.openxmlformats.org/presentationml/2006/main">
  <p:tag name="KSO_WM_DIAGRAM_VIRTUALLY_FRAME" val="{&quot;height&quot;:180,&quot;left&quot;:40,&quot;top&quot;:290,&quot;width&quot;:880}"/>
</p:tagLst>
</file>

<file path=ppt/tags/tag61.xml><?xml version="1.0" encoding="utf-8"?>
<p:tagLst xmlns:p="http://schemas.openxmlformats.org/presentationml/2006/main">
  <p:tag name="KSO_WM_DIAGRAM_VIRTUALLY_FRAME" val="{&quot;height&quot;:180,&quot;left&quot;:40,&quot;top&quot;:290,&quot;width&quot;:880}"/>
</p:tagLst>
</file>

<file path=ppt/tags/tag62.xml><?xml version="1.0" encoding="utf-8"?>
<p:tagLst xmlns:p="http://schemas.openxmlformats.org/presentationml/2006/main">
  <p:tag name="KSO_WM_DIAGRAM_VIRTUALLY_FRAME" val="{&quot;height&quot;:180,&quot;left&quot;:40,&quot;top&quot;:290,&quot;width&quot;:88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10966</Words>
  <Application>WPS 演示</Application>
  <PresentationFormat/>
  <Paragraphs>697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35</vt:i4>
      </vt:variant>
    </vt:vector>
  </HeadingPairs>
  <TitlesOfParts>
    <vt:vector size="46" baseType="lpstr">
      <vt:lpstr>Arial</vt:lpstr>
      <vt:lpstr>宋体</vt:lpstr>
      <vt:lpstr>Wingdings</vt:lpstr>
      <vt:lpstr>Arial</vt:lpstr>
      <vt:lpstr>微软雅黑</vt:lpstr>
      <vt:lpstr>Noto Sans SC</vt:lpstr>
      <vt:lpstr>Arial Unicode MS</vt:lpstr>
      <vt:lpstr>Consolas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WPS_1655447253</cp:lastModifiedBy>
  <cp:revision>6</cp:revision>
  <dcterms:created xsi:type="dcterms:W3CDTF">2026-07-11T13:22:00Z</dcterms:created>
  <dcterms:modified xsi:type="dcterms:W3CDTF">2026-07-16T08:43:13Z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{"Label":"1","ContentProducer":"001191110102MACQD9K64010000","ProduceID":"7661257889990986708","ReservedCode1":"","ContentPropagator":"","PropagateID":"","ReservedCode2":""}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9B1EF73392CC492FA133F57435FDCBDF_12</vt:lpwstr>
  </property>
</Properties>
</file>