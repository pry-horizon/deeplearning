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大家好，欢迎查阅这份关于吴恩达深度学习课程的环境配置记录。这份指南将详细介绍如何在Windows系统上从零开始，搭建一套完整、干净的深度学习开发环境，适用于学习、实验和项目开发。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第一步是安装Python。我们从官网下载最新的3.12.x版本，安装时最关键的一步是勾选“Add Python to PATH”，这样系统才能在命令行中找到Python。安装完成后，通过命令行验证版本号，确保安装成功。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接下来安装我们的主力编辑器VS Code。下载安装后，我们第一件事就是为它安装中文语言包，这会让后续的操作更加顺畅。通过快捷键打开扩展市场，搜索“Chinese”并安装微软官方的语言包，重启后即可生效。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为了让VS Code更好地支持Python开发，我们需要安装几个必备插件。其中最重要的是微软官方的Python插件和Jupyter插件，它们分别提供了Python代码的核心支持和Notebook的运行能力。此外，Pylance和Material Icon Theme也是非常推荐的插件，可以极大提升开发体验。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现在我们来组织工作区。首先在C盘创建一个名为DeepLearning的文件夹作为我们的项目根目录。然后，在VS Code中打开这个文件夹，并通过终端执行命令python -m venv env来创建一个独立的Python虚拟环境。这个环境将隔离我们项目的依赖包，避免版本冲突。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创建虚拟环境后，需要激活它才能使用。在VS Code的终端中，运行.\env\Scripts\Activate.ps1命令。当你看到终端提示符前面出现了(env)字样，就说明你已经成功进入了这个独立的开发环境。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环境激活后，我们开始安装深度学习所需的基础库。首先升级pip，然后通过一条命令安装NumPy、Matplotlib、Pandas等核心库。这些库是后续进行数据分析、可视化和算法实现的基础。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为了让Jupyter Notebook能够使用我们的虚拟环境，我们需要将这个环境注册为一个Jupyter内核。在激活的环境中运行指定命令，这样在Notebook中就能看到并选择我们的env环境了。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B5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413000"/>
            <a:ext cx="12192000" cy="1524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吴恩达深度学习环境完整配置记录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445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93B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D9E9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Windows 版 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Python 环境安装：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EBF2FF">
              <a:alpha val="100000"/>
            </a:srgbClr>
          </a:solidFill>
          <a:ln w="12700" cap="flat" cmpd="sng">
            <a:solidFill>
              <a:srgbClr val="BED2F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526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下载安装包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访问 Python 官网下载页面，选择最新稳定版 3.12.10，下载对应 Windows 64位的安装程序（Windows installer），适配主流操作系统环境。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F0F9F5">
              <a:alpha val="100000"/>
            </a:srgbClr>
          </a:solidFill>
          <a:ln w="12700" cap="flat" cmpd="sng">
            <a:solidFill>
              <a:srgbClr val="BEE1D2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482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3848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执行安装步骤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运行安装包后，务必勾选「Add python.exe to PATH」（关键配置，否则无法全局调用），接着点击「Install Now」，等待安装进度条完成即可。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FFF8EB">
              <a:alpha val="100000"/>
            </a:srgbClr>
          </a:solidFill>
          <a:ln w="12700" cap="flat" cmpd="sng">
            <a:solidFill>
              <a:srgbClr val="FAD2A0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2804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0170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验证安装成功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按下 Win+R 输入 cmd 打开命令提示符，输入命令 python --version，若返回「Python 3.12.10」，即代表环境安装与配置成功。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安装与配置 VS Code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413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526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下载安装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访问官网 code.visualstudio.com 获取安装包。安装时建议务必勾选「添加到 PATH」和「添加到右键菜单」选项，这将大幅提升后续在终端调用及文件操作的便捷性。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D1FAE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48200" y="2413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848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安装中文语言包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按下快捷键 Ctrl + Shift + X 打开扩展市场。在搜索框输入「Chinese」，找到由 Microsoft 官方发布的「中文（简体）语言包」，点击安装并等待下载完成。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4511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280400" y="2413000"/>
            <a:ext cx="609600" cy="6096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017000" y="2463800"/>
            <a:ext cx="2260600" cy="609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重启生效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3232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770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3492500"/>
            <a:ext cx="28702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安装完成后，VS Code 会弹出提示框。点击「重启 VS Code」按钮，编辑器重启后，界面将自动切换为中文显示，至此基础汉化配置全部完成。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 VS Code 必备插件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18010" r="18010"/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Python 核心插件 (Microsoft)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194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提供代码运行、调试、环境管理与代码格式化等核心功能，是VS Code进行Python开发的基石。它能自动识别虚拟环境，支持多版本Python切换，解决开发环境配置的核心需求。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rcRect l="18010" r="18010"/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112000" y="20320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Jupyter 交互式开发插件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8194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支持在VS Code内直接编辑和运行 .ipynb 格式的笔记本文件，完美集成代码块逐行执行、富文本注释与数据可视化输出，实现数据分析与机器学习的交互式开发体验。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 l="18010" r="18010"/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651000" y="44450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Pylance 智能代码助手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1016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2324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微软官方推出的高性能语言服务插件，基于Pyright构建。提供智能代码补全、实时类型错误检测、代码定义跳转与重构功能，大幅减少编码错误并提升开发效率。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 l="18010" r="18010"/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7112000" y="4445000"/>
            <a:ext cx="3937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Material Icon Theme 图标美化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291">
            <a:off x="6477009" y="507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77000" y="52324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为项目中的文件和文件夹替换为美观的 Material Design 风格图标。通过色彩与图形快速区分文件类型（如Python脚本、配置文件、文档等），让项目结构更清晰，提升浏览效率。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创建项目与虚拟环境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587500" y="2032000"/>
            <a:ext cx="4191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搭建标准化项目目录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3"/>
            </p:custDataLst>
          </p:nvPr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1016000" y="2730500"/>
            <a:ext cx="46990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核心路径：C:\DeepLearning（作为所有深度学习项目的根目录）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目录规划：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env：专属虚拟环境的核心存储文件夹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courses：归档课程配套代码与学习笔记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• projects：沉淀个人实战与复现项目代码</a:t>
            </a:r>
            <a:endParaRPr lang="en-US" sz="1300" b="1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23000" y="1778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9FBFC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7048500" y="2032000"/>
            <a:ext cx="4191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6F9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终端创建虚拟环境步骤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7"/>
            </p:custDataLst>
          </p:nvPr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477000" y="2730500"/>
            <a:ext cx="4699000" cy="184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操作流程：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1. 打开VS Code，将DeepLearning文件夹加入工作区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 新建终端，确认路径为 PS C:\DeepLearning&gt;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3. 执行创建命令：python -m venv env</a:t>
            </a:r>
            <a:b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300" b="1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4. 等待执行完毕，根目录自动生成env文件夹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激活虚拟环境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9648" r="9648"/>
          <a:stretch>
            <a:fillRect/>
          </a:stretch>
        </p:blipFill>
        <p:spPr>
          <a:xfrm>
            <a:off x="636905" y="2084070"/>
            <a:ext cx="3935095" cy="2646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4826000" y="2127250"/>
            <a:ext cx="6477000" cy="825500"/>
          </a:xfrm>
          <a:prstGeom prst="roundRect">
            <a:avLst>
              <a:gd name="adj" fmla="val 18461"/>
            </a:avLst>
          </a:prstGeom>
          <a:solidFill>
            <a:srgbClr val="EDF5FA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953000" y="2190750"/>
            <a:ext cx="6223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执行激活指令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在PowerShell终端输入：</a:t>
            </a:r>
            <a:r>
              <a:rPr lang="en-US" sz="1300" b="1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.\env\Scripts\Activate.ps1</a:t>
            </a:r>
            <a:r>
              <a:rPr lang="en-US" sz="1300" b="0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，按下回车即可启动专属开发环境。</a:t>
            </a:r>
            <a:endParaRPr lang="en-US" sz="1300" b="0" i="0" u="none" strike="noStrike">
              <a:solidFill>
                <a:srgbClr val="5E6B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826000" y="3079750"/>
            <a:ext cx="6477000" cy="825500"/>
          </a:xfrm>
          <a:prstGeom prst="roundRect">
            <a:avLst>
              <a:gd name="adj" fmla="val 18461"/>
            </a:avLst>
          </a:prstGeom>
          <a:solidFill>
            <a:srgbClr val="F2F7F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953000" y="3143250"/>
            <a:ext cx="6223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确认激活状态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终端提示符前出现</a:t>
            </a:r>
            <a:r>
              <a:rPr lang="en-US" sz="1300" b="1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(env)</a:t>
            </a:r>
            <a:r>
              <a:rPr lang="en-US" sz="1300" b="0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前缀（如：(env) PS C:\DeepLearning&gt;），即代表环境已成功激活。</a:t>
            </a:r>
            <a:endParaRPr lang="en-US" sz="1300" b="0" i="0" u="none" strike="noStrike">
              <a:solidFill>
                <a:srgbClr val="5E6B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826000" y="4032250"/>
            <a:ext cx="6477000" cy="825500"/>
          </a:xfrm>
          <a:prstGeom prst="roundRect">
            <a:avLst>
              <a:gd name="adj" fmla="val 18461"/>
            </a:avLst>
          </a:prstGeom>
          <a:solidFill>
            <a:srgbClr val="FBF1E5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953000" y="4032250"/>
            <a:ext cx="6223000" cy="69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4344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环境隔离价值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5E6B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激活后安装的所有Python包将被“锁定”在该环境中，不影响全局环境，确保项目依赖的纯净性与独立性。</a:t>
            </a:r>
            <a:endParaRPr lang="en-US" sz="1300" b="0" i="0" u="none" strike="noStrike">
              <a:solidFill>
                <a:srgbClr val="5E6B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安装深度学习基础库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93800" y="2413000"/>
            <a:ext cx="965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E4EA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828800" y="2413000"/>
            <a:ext cx="9017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01. 升级包管理工具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执行命令：python -m pip install --upgrade pip，确保pip为最新版本，规避安装兼容性问题。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02. 一键安装核心依赖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虚拟环境中运行：pip install numpy matplotlib pandas jupyter ipykernel scikit-learn，快速搭建数据科学基础环境。</a:t>
            </a:r>
            <a:endParaRPr lang="en-US" sz="16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核心库作用</a:t>
            </a:r>
            <a:br>
              <a:rPr lang="en-US" sz="1600" b="0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lang="en-US" sz="1600" b="0" i="0" u="none" strike="noStrike">
                <a:solidFill>
                  <a:srgbClr val="505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NumPy负责矩阵计算，Pandas处理数据分析，Matplotlib实现可视化，Scikit-learn提供经典机器学习算法，Jupyter则是交互式编程与笔记的核心载体。</a:t>
            </a:r>
            <a:endParaRPr lang="en-US" sz="1600" b="0" i="0" u="none" strike="noStrike">
              <a:solidFill>
                <a:srgbClr val="505A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7F5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9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配置 Jupyter 内核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79600"/>
            <a:ext cx="10160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Jupyter Notebook 默认使用系统全局 Python 环境，为了隔离项目依赖、避免版本冲突，我们需要将创建好的虚拟环境（如 env）注册为独立的 Jupyter 内核，让 Notebook 能够精准调用指定环境的运行环境与库资源。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048000" y="3492500"/>
            <a:ext cx="6096000" cy="812800"/>
          </a:xfrm>
          <a:prstGeom prst="roundRect">
            <a:avLst>
              <a:gd name="adj" fmla="val 18750"/>
            </a:avLst>
          </a:prstGeom>
          <a:solidFill>
            <a:srgbClr val="EDF5FA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175000" y="3644900"/>
            <a:ext cx="5842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核心目的：环境关联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建立虚拟环境与 Jupyter 的映射，确保 Notebook 可调用专属依赖包，实现开发环境的完全隔离。</a:t>
            </a:r>
            <a:endParaRPr lang="en-US" sz="12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56300" y="43688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3047365" y="4699000"/>
            <a:ext cx="6096000" cy="812800"/>
          </a:xfrm>
          <a:prstGeom prst="roundRect">
            <a:avLst>
              <a:gd name="adj" fmla="val 18750"/>
            </a:avLst>
          </a:prstGeom>
          <a:solidFill>
            <a:srgbClr val="F2F7F3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29000" y="4851400"/>
            <a:ext cx="5334000" cy="55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执行命令：内核注册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激活环境后运行：python -m ipykernel install --user --name env --display-name "env (Python 3.12)"</a:t>
            </a:r>
            <a:endParaRPr lang="en-US" sz="12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56300" y="5575300"/>
            <a:ext cx="279400" cy="27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048000" y="5905500"/>
            <a:ext cx="6096000" cy="749935"/>
          </a:xfrm>
          <a:prstGeom prst="roundRect">
            <a:avLst>
              <a:gd name="adj" fmla="val 30000"/>
            </a:avLst>
          </a:prstGeom>
          <a:solidFill>
            <a:srgbClr val="FBF1E5">
              <a:alpha val="100000"/>
            </a:srgbClr>
          </a:solidFill>
          <a:ln w="12700" cap="flat" cmpd="sng">
            <a:solidFill>
              <a:srgbClr val="D7E0E7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83000" y="6007100"/>
            <a:ext cx="4826000" cy="5473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2434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成功标识：提示反馈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E6B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终端显示「Installed kernelspec env in ...」即配置完成，可在 Notebook 中选择该内核。</a:t>
            </a:r>
            <a:endParaRPr lang="en-US" sz="1100" b="0" i="0" u="none" strike="noStrike">
              <a:solidFill>
                <a:srgbClr val="5E6B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3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2139</Words>
  <Application>WPS 演示</Application>
  <PresentationFormat/>
  <Paragraphs>91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Noto Sans SC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WPS_1655447253</cp:lastModifiedBy>
  <cp:revision>3</cp:revision>
  <dcterms:created xsi:type="dcterms:W3CDTF">2026-07-11T05:02:00Z</dcterms:created>
  <dcterms:modified xsi:type="dcterms:W3CDTF">2026-07-16T08:59:59Z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{"Label":"1","ContentProducer":"001191110102MACQD9K64010000","ProduceID":"7661130284880628916","ReservedCode1":"","ContentPropagator":"","PropagateID":"","ReservedCode2":""}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B9A6B2282C9C4B5CAFEBCC32791FB0DC_12</vt:lpwstr>
  </property>
</Properties>
</file>